
<file path=[Content_Types].xml><?xml version="1.0" encoding="utf-8"?>
<Types xmlns="http://schemas.openxmlformats.org/package/2006/content-types">
  <Override PartName="/_rels/.rels" ContentType="application/vnd.openxmlformats-package.relationships+xml"/>
  <Override PartName="/docProps/app.xml" ContentType="application/vnd.openxmlformats-officedocument.extended-properties+xml"/>
  <Override PartName="/docProps/core.xml" ContentType="application/vnd.openxmlformats-package.core-properties+xml"/>
  <Override PartName="/ppt/_rels/presentation.xml.rels" ContentType="application/vnd.openxmlformats-package.relationships+xml"/>
  <Override PartName="/ppt/media/image17.gif" ContentType="image/gif"/>
  <Override PartName="/ppt/media/image6.png" ContentType="image/png"/>
  <Override PartName="/ppt/media/image5.png" ContentType="image/png"/>
  <Override PartName="/ppt/media/image4.png" ContentType="image/png"/>
  <Override PartName="/ppt/media/image3.png" ContentType="image/png"/>
  <Override PartName="/ppt/media/image1.png" ContentType="image/png"/>
  <Override PartName="/ppt/media/image2.png" ContentType="image/png"/>
  <Override PartName="/ppt/media/image7.png" ContentType="image/png"/>
  <Override PartName="/ppt/media/image8.png" ContentType="image/png"/>
  <Override PartName="/ppt/media/image9.png" ContentType="image/png"/>
  <Override PartName="/ppt/media/image18.png" ContentType="image/png"/>
  <Override PartName="/ppt/media/image15.png" ContentType="image/png"/>
  <Override PartName="/ppt/media/image16.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slideMasters/slideMaster5.xml" ContentType="application/vnd.openxmlformats-officedocument.presentationml.slideMaster+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slideLayouts/slideLayout60.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15.xml" ContentType="application/vnd.openxmlformats-officedocument.presentationml.slideLayout+xml"/>
  <Override PartName="/ppt/slideLayouts/slideLayout39.xml" ContentType="application/vnd.openxmlformats-officedocument.presentationml.slideLayout+xml"/>
  <Override PartName="/ppt/slideLayouts/slideLayout14.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12.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_rels/slideLayout57.xml.rels" ContentType="application/vnd.openxmlformats-package.relationships+xml"/>
  <Override PartName="/ppt/slideLayouts/_rels/slideLayout56.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53.xml.rels" ContentType="application/vnd.openxmlformats-package.relationships+xml"/>
  <Override PartName="/ppt/slideLayouts/_rels/slideLayout52.xml.rels" ContentType="application/vnd.openxmlformats-package.relationships+xml"/>
  <Override PartName="/ppt/slideLayouts/_rels/slideLayout51.xml.rels" ContentType="application/vnd.openxmlformats-package.relationships+xml"/>
  <Override PartName="/ppt/slideLayouts/_rels/slideLayout50.xml.rels" ContentType="application/vnd.openxmlformats-package.relationships+xml"/>
  <Override PartName="/ppt/slideLayouts/_rels/slideLayout45.xml.rels" ContentType="application/vnd.openxmlformats-package.relationships+xml"/>
  <Override PartName="/ppt/slideLayouts/_rels/slideLayout44.xml.rels" ContentType="application/vnd.openxmlformats-package.relationships+xml"/>
  <Override PartName="/ppt/slideLayouts/_rels/slideLayout43.xml.rels" ContentType="application/vnd.openxmlformats-package.relationships+xml"/>
  <Override PartName="/ppt/slideLayouts/_rels/slideLayout42.xml.rels" ContentType="application/vnd.openxmlformats-package.relationships+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58.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59.xml.rels" ContentType="application/vnd.openxmlformats-package.relationships+xml"/>
  <Override PartName="/ppt/slideLayouts/_rels/slideLayout12.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19.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30.xml.rels" ContentType="application/vnd.openxmlformats-package.relationships+xml"/>
  <Override PartName="/ppt/slideLayouts/_rels/slideLayout25.xml.rels" ContentType="application/vnd.openxmlformats-package.relationships+xml"/>
  <Override PartName="/ppt/slideLayouts/_rels/slideLayout31.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60.xml.rels" ContentType="application/vnd.openxmlformats-package.relationships+xml"/>
  <Override PartName="/ppt/slideLayouts/_rels/slideLayout32.xml.rels" ContentType="application/vnd.openxmlformats-package.relationships+xml"/>
  <Override PartName="/ppt/slideLayouts/_rels/slideLayout28.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8.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slideLayouts/slideLayout56.xml" ContentType="application/vnd.openxmlformats-officedocument.presentationml.slideLayout+xml"/>
  <Override PartName="/ppt/slideLayouts/slideLayout31.xml" ContentType="application/vnd.openxmlformats-officedocument.presentationml.slideLayout+xml"/>
  <Override PartName="/ppt/slideLayouts/slideLayout57.xml" ContentType="application/vnd.openxmlformats-officedocument.presentationml.slideLayout+xml"/>
  <Override PartName="/ppt/slideLayouts/slideLayout32.xml" ContentType="application/vnd.openxmlformats-officedocument.presentationml.slideLayout+xml"/>
  <Override PartName="/ppt/slideLayouts/slideLayout58.xml" ContentType="application/vnd.openxmlformats-officedocument.presentationml.slideLayout+xml"/>
  <Override PartName="/ppt/slideLayouts/slideLayout33.xml" ContentType="application/vnd.openxmlformats-officedocument.presentationml.slideLayout+xml"/>
  <Override PartName="/ppt/slideLayouts/slideLayout59.xml" ContentType="application/vnd.openxmlformats-officedocument.presentationml.slideLayout+xml"/>
  <Override PartName="/ppt/slideLayouts/slideLayout34.xml" ContentType="application/vnd.openxmlformats-officedocument.presentationml.slideLayout+xml"/>
  <Override PartName="/ppt/slideLayouts/slideLayout10.xml" ContentType="application/vnd.openxmlformats-officedocument.presentationml.slideLayout+xml"/>
  <Override PartName="/ppt/slideLayouts/slideLayout35.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44.xml" ContentType="application/vnd.openxmlformats-officedocument.presentationml.slideLayout+xml"/>
  <Override PartName="/ppt/slideLayouts/slideLayout8.xml" ContentType="application/vnd.openxmlformats-officedocument.presentationml.slideLayout+xml"/>
  <Override PartName="/ppt/slideLayouts/slideLayout4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6.xml" ContentType="application/vnd.openxmlformats-officedocument.presentationml.slideLayout+xml"/>
  <Override PartName="/ppt/slides/slide105.xml" ContentType="application/vnd.openxmlformats-officedocument.presentationml.slide+xml"/>
  <Override PartName="/ppt/slides/slide104.xml" ContentType="application/vnd.openxmlformats-officedocument.presentationml.slide+xml"/>
  <Override PartName="/ppt/slides/slide103.xml" ContentType="application/vnd.openxmlformats-officedocument.presentationml.slide+xml"/>
  <Override PartName="/ppt/slides/slide102.xml" ContentType="application/vnd.openxmlformats-officedocument.presentationml.slide+xml"/>
  <Override PartName="/ppt/slides/slide99.xml" ContentType="application/vnd.openxmlformats-officedocument.presentationml.slide+xml"/>
  <Override PartName="/ppt/slides/slide98.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94.xml" ContentType="application/vnd.openxmlformats-officedocument.presentationml.slide+xml"/>
  <Override PartName="/ppt/slides/slide93.xml" ContentType="application/vnd.openxmlformats-officedocument.presentationml.slide+xml"/>
  <Override PartName="/ppt/slides/slide92.xml" ContentType="application/vnd.openxmlformats-officedocument.presentationml.slide+xml"/>
  <Override PartName="/ppt/slides/slide91.xml" ContentType="application/vnd.openxmlformats-officedocument.presentationml.slide+xml"/>
  <Override PartName="/ppt/slides/slide90.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86.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39.xml" ContentType="application/vnd.openxmlformats-officedocument.presentationml.slide+xml"/>
  <Override PartName="/ppt/slides/slide2.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36.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101.xml" ContentType="application/vnd.openxmlformats-officedocument.presentationml.slide+xml"/>
  <Override PartName="/ppt/slides/slide59.xml" ContentType="application/vnd.openxmlformats-officedocument.presentationml.slide+xml"/>
  <Override PartName="/ppt/slides/slide33.xml" ContentType="application/vnd.openxmlformats-officedocument.presentationml.slide+xml"/>
  <Override PartName="/ppt/slides/slide100.xml" ContentType="application/vnd.openxmlformats-officedocument.presentationml.slide+xml"/>
  <Override PartName="/ppt/slides/slide58.xml" ContentType="application/vnd.openxmlformats-officedocument.presentationml.slide+xml"/>
  <Override PartName="/ppt/slides/slide32.xml" ContentType="application/vnd.openxmlformats-officedocument.presentationml.slide+xml"/>
  <Override PartName="/ppt/slides/slide57.xml" ContentType="application/vnd.openxmlformats-officedocument.presentationml.slide+xml"/>
  <Override PartName="/ppt/slides/slide31.xml" ContentType="application/vnd.openxmlformats-officedocument.presentationml.slide+xml"/>
  <Override PartName="/ppt/slides/slide56.xml" ContentType="application/vnd.openxmlformats-officedocument.presentationml.slide+xml"/>
  <Override PartName="/ppt/slides/slide30.xml" ContentType="application/vnd.openxmlformats-officedocument.presentationml.slide+xml"/>
  <Override PartName="/ppt/slides/slide5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49.xml" ContentType="application/vnd.openxmlformats-officedocument.presentationml.slide+xml"/>
  <Override PartName="/ppt/slides/slide23.xml" ContentType="application/vnd.openxmlformats-officedocument.presentationml.slide+xml"/>
  <Override PartName="/ppt/slides/slide48.xml" ContentType="application/vnd.openxmlformats-officedocument.presentationml.slide+xml"/>
  <Override PartName="/ppt/slides/slide22.xml" ContentType="application/vnd.openxmlformats-officedocument.presentationml.slide+xml"/>
  <Override PartName="/ppt/slides/slide47.xml" ContentType="application/vnd.openxmlformats-officedocument.presentationml.slide+xml"/>
  <Override PartName="/ppt/slides/slide21.xml" ContentType="application/vnd.openxmlformats-officedocument.presentationml.slide+xml"/>
  <Override PartName="/ppt/slides/_rels/slide99.xml.rels" ContentType="application/vnd.openxmlformats-package.relationships+xml"/>
  <Override PartName="/ppt/slides/_rels/slide95.xml.rels" ContentType="application/vnd.openxmlformats-package.relationships+xml"/>
  <Override PartName="/ppt/slides/_rels/slide89.xml.rels" ContentType="application/vnd.openxmlformats-package.relationships+xml"/>
  <Override PartName="/ppt/slides/_rels/slide82.xml.rels" ContentType="application/vnd.openxmlformats-package.relationships+xml"/>
  <Override PartName="/ppt/slides/_rels/slide79.xml.rels" ContentType="application/vnd.openxmlformats-package.relationships+xml"/>
  <Override PartName="/ppt/slides/_rels/slide10.xml.rels" ContentType="application/vnd.openxmlformats-package.relationships+xml"/>
  <Override PartName="/ppt/slides/_rels/slide81.xml.rels" ContentType="application/vnd.openxmlformats-package.relationships+xml"/>
  <Override PartName="/ppt/slides/_rels/slide32.xml.rels" ContentType="application/vnd.openxmlformats-package.relationships+xml"/>
  <Override PartName="/ppt/slides/_rels/slide27.xml.rels" ContentType="application/vnd.openxmlformats-package.relationships+xml"/>
  <Override PartName="/ppt/slides/_rels/slide80.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78.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77.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96.xml.rels" ContentType="application/vnd.openxmlformats-package.relationships+xml"/>
  <Override PartName="/ppt/slides/_rels/slide47.xml.rels" ContentType="application/vnd.openxmlformats-package.relationships+xml"/>
  <Override PartName="/ppt/slides/_rels/slide46.xml.rels" ContentType="application/vnd.openxmlformats-package.relationships+xml"/>
  <Override PartName="/ppt/slides/_rels/slide102.xml.rels" ContentType="application/vnd.openxmlformats-package.relationships+xml"/>
  <Override PartName="/ppt/slides/_rels/slide26.xml.rels" ContentType="application/vnd.openxmlformats-package.relationships+xml"/>
  <Override PartName="/ppt/slides/_rels/slide75.xml.rels" ContentType="application/vnd.openxmlformats-package.relationships+xml"/>
  <Override PartName="/ppt/slides/_rels/slide85.xml.rels" ContentType="application/vnd.openxmlformats-package.relationships+xml"/>
  <Override PartName="/ppt/slides/_rels/slide36.xml.rels" ContentType="application/vnd.openxmlformats-package.relationships+xml"/>
  <Override PartName="/ppt/slides/_rels/slide5.xml.rels" ContentType="application/vnd.openxmlformats-package.relationships+xml"/>
  <Override PartName="/ppt/slides/_rels/slide101.xml.rels" ContentType="application/vnd.openxmlformats-package.relationships+xml"/>
  <Override PartName="/ppt/slides/_rels/slide25.xml.rels" ContentType="application/vnd.openxmlformats-package.relationships+xml"/>
  <Override PartName="/ppt/slides/_rels/slide74.xml.rels" ContentType="application/vnd.openxmlformats-package.relationships+xml"/>
  <Override PartName="/ppt/slides/_rels/slide84.xml.rels" ContentType="application/vnd.openxmlformats-package.relationships+xml"/>
  <Override PartName="/ppt/slides/_rels/slide35.xml.rels" ContentType="application/vnd.openxmlformats-package.relationships+xml"/>
  <Override PartName="/ppt/slides/_rels/slide70.xml.rels" ContentType="application/vnd.openxmlformats-package.relationships+xml"/>
  <Override PartName="/ppt/slides/_rels/slide4.xml.rels" ContentType="application/vnd.openxmlformats-package.relationships+xml"/>
  <Override PartName="/ppt/slides/_rels/slide94.xml.rels" ContentType="application/vnd.openxmlformats-package.relationships+xml"/>
  <Override PartName="/ppt/slides/_rels/slide45.xml.rels" ContentType="application/vnd.openxmlformats-package.relationships+xml"/>
  <Override PartName="/ppt/slides/_rels/slide100.xml.rels" ContentType="application/vnd.openxmlformats-package.relationships+xml"/>
  <Override PartName="/ppt/slides/_rels/slide24.xml.rels" ContentType="application/vnd.openxmlformats-package.relationships+xml"/>
  <Override PartName="/ppt/slides/_rels/slide73.xml.rels" ContentType="application/vnd.openxmlformats-package.relationships+xml"/>
  <Override PartName="/ppt/slides/_rels/slide3.xml.rels" ContentType="application/vnd.openxmlformats-package.relationships+xml"/>
  <Override PartName="/ppt/slides/_rels/slide33.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83.xml.rels" ContentType="application/vnd.openxmlformats-package.relationships+xml"/>
  <Override PartName="/ppt/slides/_rels/slide34.xml.rels" ContentType="application/vnd.openxmlformats-package.relationships+xml"/>
  <Override PartName="/ppt/slides/_rels/slide2.xml.rels" ContentType="application/vnd.openxmlformats-package.relationships+xml"/>
  <Override PartName="/ppt/slides/_rels/slide103.xml.rels" ContentType="application/vnd.openxmlformats-package.relationships+xml"/>
  <Override PartName="/ppt/slides/_rels/slide76.xml.rels" ContentType="application/vnd.openxmlformats-package.relationships+xml"/>
  <Override PartName="/ppt/slides/_rels/slide8.xml.rels" ContentType="application/vnd.openxmlformats-package.relationships+xml"/>
  <Override PartName="/ppt/slides/_rels/slide60.xml.rels" ContentType="application/vnd.openxmlformats-package.relationships+xml"/>
  <Override PartName="/ppt/slides/_rels/slide11.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86.xml.rels" ContentType="application/vnd.openxmlformats-package.relationships+xml"/>
  <Override PartName="/ppt/slides/_rels/slide37.xml.rels" ContentType="application/vnd.openxmlformats-package.relationships+xml"/>
  <Override PartName="/ppt/slides/_rels/slide87.xml.rels" ContentType="application/vnd.openxmlformats-package.relationships+xml"/>
  <Override PartName="/ppt/slides/_rels/slide38.xml.rels" ContentType="application/vnd.openxmlformats-package.relationships+xml"/>
  <Override PartName="/ppt/slides/_rels/slide88.xml.rels" ContentType="application/vnd.openxmlformats-package.relationships+xml"/>
  <Override PartName="/ppt/slides/_rels/slide39.xml.rels" ContentType="application/vnd.openxmlformats-package.relationships+xml"/>
  <Override PartName="/ppt/slides/_rels/slide40.xml.rels" ContentType="application/vnd.openxmlformats-package.relationships+xml"/>
  <Override PartName="/ppt/slides/_rels/slide90.xml.rels" ContentType="application/vnd.openxmlformats-package.relationships+xml"/>
  <Override PartName="/ppt/slides/_rels/slide41.xml.rels" ContentType="application/vnd.openxmlformats-package.relationships+xml"/>
  <Override PartName="/ppt/slides/_rels/slide91.xml.rels" ContentType="application/vnd.openxmlformats-package.relationships+xml"/>
  <Override PartName="/ppt/slides/_rels/slide42.xml.rels" ContentType="application/vnd.openxmlformats-package.relationships+xml"/>
  <Override PartName="/ppt/slides/_rels/slide92.xml.rels" ContentType="application/vnd.openxmlformats-package.relationships+xml"/>
  <Override PartName="/ppt/slides/_rels/slide43.xml.rels" ContentType="application/vnd.openxmlformats-package.relationships+xml"/>
  <Override PartName="/ppt/slides/_rels/slide22.xml.rels" ContentType="application/vnd.openxmlformats-package.relationships+xml"/>
  <Override PartName="/ppt/slides/_rels/slide71.xml.rels" ContentType="application/vnd.openxmlformats-package.relationships+xml"/>
  <Override PartName="/ppt/slides/_rels/slide93.xml.rels" ContentType="application/vnd.openxmlformats-package.relationships+xml"/>
  <Override PartName="/ppt/slides/_rels/slide44.xml.rels" ContentType="application/vnd.openxmlformats-package.relationships+xml"/>
  <Override PartName="/ppt/slides/_rels/slide23.xml.rels" ContentType="application/vnd.openxmlformats-package.relationships+xml"/>
  <Override PartName="/ppt/slides/_rels/slide72.xml.rels" ContentType="application/vnd.openxmlformats-package.relationships+xml"/>
  <Override PartName="/ppt/slides/_rels/slide97.xml.rels" ContentType="application/vnd.openxmlformats-package.relationships+xml"/>
  <Override PartName="/ppt/slides/_rels/slide48.xml.rels" ContentType="application/vnd.openxmlformats-package.relationships+xml"/>
  <Override PartName="/ppt/slides/_rels/slide98.xml.rels" ContentType="application/vnd.openxmlformats-package.relationships+xml"/>
  <Override PartName="/ppt/slides/_rels/slide4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69.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52.xml.rels" ContentType="application/vnd.openxmlformats-package.relationships+xml"/>
  <Override PartName="/ppt/slides/_rels/slide53.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104.xml.rels" ContentType="application/vnd.openxmlformats-package.relationships+xml"/>
  <Override PartName="/ppt/slides/_rels/slide56.xml.rels" ContentType="application/vnd.openxmlformats-package.relationships+xml"/>
  <Override PartName="/ppt/slides/_rels/slide105.xml.rels" ContentType="application/vnd.openxmlformats-package.relationships+xml"/>
  <Override PartName="/ppt/slides/_rels/slide57.xml.rels" ContentType="application/vnd.openxmlformats-package.relationships+xml"/>
  <Override PartName="/ppt/slides/_rels/slide12.xml.rels" ContentType="application/vnd.openxmlformats-package.relationships+xml"/>
  <Override PartName="/ppt/slides/_rels/slide61.xml.rels" ContentType="application/vnd.openxmlformats-package.relationships+xml"/>
  <Override PartName="/ppt/slides/_rels/slide13.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16.xml.rels" ContentType="application/vnd.openxmlformats-package.relationships+xml"/>
  <Override PartName="/ppt/slides/_rels/slide65.xml.rels" ContentType="application/vnd.openxmlformats-package.relationships+xml"/>
  <Override PartName="/ppt/slides/_rels/slide17.xml.rels" ContentType="application/vnd.openxmlformats-package.relationships+xml"/>
  <Override PartName="/ppt/slides/_rels/slide66.xml.rels" ContentType="application/vnd.openxmlformats-package.relationships+xml"/>
  <Override PartName="/ppt/slides/_rels/slide18.xml.rels" ContentType="application/vnd.openxmlformats-package.relationships+xml"/>
  <Override PartName="/ppt/slides/_rels/slide67.xml.rels" ContentType="application/vnd.openxmlformats-package.relationships+xml"/>
  <Override PartName="/ppt/slides/_rels/slide19.xml.rels" ContentType="application/vnd.openxmlformats-package.relationships+xml"/>
  <Override PartName="/ppt/slides/_rels/slide68.xml.rels" ContentType="application/vnd.openxmlformats-package.relationships+xml"/>
  <Override PartName="/ppt/slides/slide46.xml" ContentType="application/vnd.openxmlformats-officedocument.presentationml.slide+xml"/>
  <Override PartName="/ppt/slides/slide20.xml" ContentType="application/vnd.openxmlformats-officedocument.presentationml.slide+xml"/>
  <Override PartName="/ppt/slides/slide45.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7.xml" ContentType="application/vnd.openxmlformats-officedocument.presentationml.slide+xml"/>
  <Override PartName="/ppt/slides/slide13.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65.xml" ContentType="application/vnd.openxmlformats-officedocument.presentationml.slide+xml"/>
  <Override PartName="/ppt/slides/slide41.xml" ContentType="application/vnd.openxmlformats-officedocument.presentationml.slide+xml"/>
  <Override PartName="/ppt/slides/slide66.xml" ContentType="application/vnd.openxmlformats-officedocument.presentationml.slide+xml"/>
  <Override PartName="/ppt/slides/slide42.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68.xml" ContentType="application/vnd.openxmlformats-officedocument.presentationml.slide+xml"/>
  <Override PartName="/ppt/slides/slide44.xml" ContentType="application/vnd.openxmlformats-officedocument.presentationml.slide+xml"/>
  <Override PartName="/ppt/slides/slide69.xml" ContentType="application/vnd.openxmlformats-officedocument.presentationml.slide+xml"/>
  <Override PartName="/ppt/slides/slide50.xml" ContentType="application/vnd.openxmlformats-officedocument.presentationml.slide+xml"/>
  <Override PartName="/ppt/slides/slide75.xml" ContentType="application/vnd.openxmlformats-officedocument.presentationml.slide+xml"/>
  <Override PartName="/ppt/slides/slide51.xml" ContentType="application/vnd.openxmlformats-officedocument.presentationml.slide+xml"/>
  <Override PartName="/ppt/slides/slide76.xml" ContentType="application/vnd.openxmlformats-officedocument.presentationml.slide+xml"/>
  <Override PartName="/ppt/slides/slide52.xml" ContentType="application/vnd.openxmlformats-officedocument.presentationml.slide+xml"/>
  <Override PartName="/ppt/slides/slide77.xml" ContentType="application/vnd.openxmlformats-officedocument.presentationml.slide+xml"/>
  <Override PartName="/ppt/slides/slide53.xml" ContentType="application/vnd.openxmlformats-officedocument.presentationml.slide+xml"/>
  <Override PartName="/ppt/slides/slide78.xml" ContentType="application/vnd.openxmlformats-officedocument.presentationml.slide+xml"/>
  <Override PartName="/ppt/slides/slide5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Lst>
  <p:sldSz cx="10080625" cy="7559675"/>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3" name="PlaceHolder 2"/>
          <p:cNvSpPr>
            <a:spLocks noGrp="1"/>
          </p:cNvSpPr>
          <p:nvPr>
            <p:ph type="subTitle"/>
          </p:nvPr>
        </p:nvSpPr>
        <p:spPr>
          <a:xfrm>
            <a:off x="503640" y="78120"/>
            <a:ext cx="360" cy="77482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5"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7"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8"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300240"/>
            <a:ext cx="9055080" cy="577836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2"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3"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
        <p:nvSpPr>
          <p:cNvPr id="14"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6"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20"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24"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27"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28"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29"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30" name="PlaceHolder 5"/>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32"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33"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34" name="PlaceHolder 4"/>
          <p:cNvSpPr>
            <a:spLocks noGrp="1"/>
          </p:cNvSpPr>
          <p:nvPr>
            <p:ph type="body"/>
          </p:nvPr>
        </p:nvSpPr>
        <p:spPr>
          <a:xfrm>
            <a:off x="504360" y="1767960"/>
            <a:ext cx="360" cy="2083680"/>
          </a:xfrm>
          <a:prstGeom prst="rect">
            <a:avLst/>
          </a:prstGeom>
        </p:spPr>
        <p:txBody>
          <a:bodyPr lIns="0" rIns="0" tIns="0" bIns="0">
            <a:normAutofit/>
          </a:bodyPr>
          <a:p>
            <a:endParaRPr b="0" lang="en-IN" sz="3200" spc="-1" strike="noStrike">
              <a:latin typeface="Arial"/>
            </a:endParaRPr>
          </a:p>
        </p:txBody>
      </p:sp>
      <p:sp>
        <p:nvSpPr>
          <p:cNvPr id="35" name="PlaceHolder 5"/>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36" name="PlaceHolder 6"/>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
        <p:nvSpPr>
          <p:cNvPr id="37" name="PlaceHolder 7"/>
          <p:cNvSpPr>
            <a:spLocks noGrp="1"/>
          </p:cNvSpPr>
          <p:nvPr>
            <p:ph type="body"/>
          </p:nvPr>
        </p:nvSpPr>
        <p:spPr>
          <a:xfrm>
            <a:off x="50436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41" name="PlaceHolder 2"/>
          <p:cNvSpPr>
            <a:spLocks noGrp="1"/>
          </p:cNvSpPr>
          <p:nvPr>
            <p:ph type="subTitle"/>
          </p:nvPr>
        </p:nvSpPr>
        <p:spPr>
          <a:xfrm>
            <a:off x="503640" y="78120"/>
            <a:ext cx="360" cy="77482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43"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45"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46"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503640" y="300240"/>
            <a:ext cx="9055080" cy="577836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50"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51"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
        <p:nvSpPr>
          <p:cNvPr id="52"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54"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55"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56" name="PlaceHolder 4"/>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58"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59"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60"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62"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63" name="PlaceHolder 3"/>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65"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66"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67"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68" name="PlaceHolder 5"/>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70"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71"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72" name="PlaceHolder 4"/>
          <p:cNvSpPr>
            <a:spLocks noGrp="1"/>
          </p:cNvSpPr>
          <p:nvPr>
            <p:ph type="body"/>
          </p:nvPr>
        </p:nvSpPr>
        <p:spPr>
          <a:xfrm>
            <a:off x="504360" y="1767960"/>
            <a:ext cx="360" cy="2083680"/>
          </a:xfrm>
          <a:prstGeom prst="rect">
            <a:avLst/>
          </a:prstGeom>
        </p:spPr>
        <p:txBody>
          <a:bodyPr lIns="0" rIns="0" tIns="0" bIns="0">
            <a:normAutofit/>
          </a:bodyPr>
          <a:p>
            <a:endParaRPr b="0" lang="en-IN" sz="3200" spc="-1" strike="noStrike">
              <a:latin typeface="Arial"/>
            </a:endParaRPr>
          </a:p>
        </p:txBody>
      </p:sp>
      <p:sp>
        <p:nvSpPr>
          <p:cNvPr id="73" name="PlaceHolder 5"/>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74" name="PlaceHolder 6"/>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
        <p:nvSpPr>
          <p:cNvPr id="75" name="PlaceHolder 7"/>
          <p:cNvSpPr>
            <a:spLocks noGrp="1"/>
          </p:cNvSpPr>
          <p:nvPr>
            <p:ph type="body"/>
          </p:nvPr>
        </p:nvSpPr>
        <p:spPr>
          <a:xfrm>
            <a:off x="50436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80" name="PlaceHolder 2"/>
          <p:cNvSpPr>
            <a:spLocks noGrp="1"/>
          </p:cNvSpPr>
          <p:nvPr>
            <p:ph type="subTitle"/>
          </p:nvPr>
        </p:nvSpPr>
        <p:spPr>
          <a:xfrm>
            <a:off x="503640" y="78120"/>
            <a:ext cx="360" cy="77482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82"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84"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85"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7" name="PlaceHolder 1"/>
          <p:cNvSpPr>
            <a:spLocks noGrp="1"/>
          </p:cNvSpPr>
          <p:nvPr>
            <p:ph type="subTitle"/>
          </p:nvPr>
        </p:nvSpPr>
        <p:spPr>
          <a:xfrm>
            <a:off x="503640" y="300240"/>
            <a:ext cx="9055080" cy="577836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89"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90"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
        <p:nvSpPr>
          <p:cNvPr id="91"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93"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94"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95" name="PlaceHolder 4"/>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97"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98"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99"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01"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02" name="PlaceHolder 3"/>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04"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05"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06"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07" name="PlaceHolder 5"/>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09"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10"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11" name="PlaceHolder 4"/>
          <p:cNvSpPr>
            <a:spLocks noGrp="1"/>
          </p:cNvSpPr>
          <p:nvPr>
            <p:ph type="body"/>
          </p:nvPr>
        </p:nvSpPr>
        <p:spPr>
          <a:xfrm>
            <a:off x="504360" y="1767960"/>
            <a:ext cx="360" cy="2083680"/>
          </a:xfrm>
          <a:prstGeom prst="rect">
            <a:avLst/>
          </a:prstGeom>
        </p:spPr>
        <p:txBody>
          <a:bodyPr lIns="0" rIns="0" tIns="0" bIns="0">
            <a:normAutofit/>
          </a:bodyPr>
          <a:p>
            <a:endParaRPr b="0" lang="en-IN" sz="3200" spc="-1" strike="noStrike">
              <a:latin typeface="Arial"/>
            </a:endParaRPr>
          </a:p>
        </p:txBody>
      </p:sp>
      <p:sp>
        <p:nvSpPr>
          <p:cNvPr id="112" name="PlaceHolder 5"/>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13" name="PlaceHolder 6"/>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
        <p:nvSpPr>
          <p:cNvPr id="114" name="PlaceHolder 7"/>
          <p:cNvSpPr>
            <a:spLocks noGrp="1"/>
          </p:cNvSpPr>
          <p:nvPr>
            <p:ph type="body"/>
          </p:nvPr>
        </p:nvSpPr>
        <p:spPr>
          <a:xfrm>
            <a:off x="50436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7"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18" name="PlaceHolder 2"/>
          <p:cNvSpPr>
            <a:spLocks noGrp="1"/>
          </p:cNvSpPr>
          <p:nvPr>
            <p:ph type="subTitle"/>
          </p:nvPr>
        </p:nvSpPr>
        <p:spPr>
          <a:xfrm>
            <a:off x="503640" y="78120"/>
            <a:ext cx="360" cy="77482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20"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22"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123"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5" name="PlaceHolder 1"/>
          <p:cNvSpPr>
            <a:spLocks noGrp="1"/>
          </p:cNvSpPr>
          <p:nvPr>
            <p:ph type="subTitle"/>
          </p:nvPr>
        </p:nvSpPr>
        <p:spPr>
          <a:xfrm>
            <a:off x="503640" y="300240"/>
            <a:ext cx="9055080" cy="577836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27"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28"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
        <p:nvSpPr>
          <p:cNvPr id="129"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31"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132"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33" name="PlaceHolder 4"/>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35"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36"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37"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39"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40" name="PlaceHolder 3"/>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42"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43"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44"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45" name="PlaceHolder 5"/>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47"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48"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49" name="PlaceHolder 4"/>
          <p:cNvSpPr>
            <a:spLocks noGrp="1"/>
          </p:cNvSpPr>
          <p:nvPr>
            <p:ph type="body"/>
          </p:nvPr>
        </p:nvSpPr>
        <p:spPr>
          <a:xfrm>
            <a:off x="504360" y="1767960"/>
            <a:ext cx="360" cy="2083680"/>
          </a:xfrm>
          <a:prstGeom prst="rect">
            <a:avLst/>
          </a:prstGeom>
        </p:spPr>
        <p:txBody>
          <a:bodyPr lIns="0" rIns="0" tIns="0" bIns="0">
            <a:normAutofit/>
          </a:bodyPr>
          <a:p>
            <a:endParaRPr b="0" lang="en-IN" sz="3200" spc="-1" strike="noStrike">
              <a:latin typeface="Arial"/>
            </a:endParaRPr>
          </a:p>
        </p:txBody>
      </p:sp>
      <p:sp>
        <p:nvSpPr>
          <p:cNvPr id="150" name="PlaceHolder 5"/>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51" name="PlaceHolder 6"/>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
        <p:nvSpPr>
          <p:cNvPr id="152" name="PlaceHolder 7"/>
          <p:cNvSpPr>
            <a:spLocks noGrp="1"/>
          </p:cNvSpPr>
          <p:nvPr>
            <p:ph type="body"/>
          </p:nvPr>
        </p:nvSpPr>
        <p:spPr>
          <a:xfrm>
            <a:off x="50436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5"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56" name="PlaceHolder 2"/>
          <p:cNvSpPr>
            <a:spLocks noGrp="1"/>
          </p:cNvSpPr>
          <p:nvPr>
            <p:ph type="subTitle"/>
          </p:nvPr>
        </p:nvSpPr>
        <p:spPr>
          <a:xfrm>
            <a:off x="503640" y="78120"/>
            <a:ext cx="360" cy="774828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58"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60"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161"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2"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3" name="PlaceHolder 1"/>
          <p:cNvSpPr>
            <a:spLocks noGrp="1"/>
          </p:cNvSpPr>
          <p:nvPr>
            <p:ph type="subTitle"/>
          </p:nvPr>
        </p:nvSpPr>
        <p:spPr>
          <a:xfrm>
            <a:off x="503640" y="300240"/>
            <a:ext cx="9055080" cy="577836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65"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66" name="PlaceHolder 3"/>
          <p:cNvSpPr>
            <a:spLocks noGrp="1"/>
          </p:cNvSpPr>
          <p:nvPr>
            <p:ph type="body"/>
          </p:nvPr>
        </p:nvSpPr>
        <p:spPr>
          <a:xfrm>
            <a:off x="504000" y="1767960"/>
            <a:ext cx="360" cy="4368600"/>
          </a:xfrm>
          <a:prstGeom prst="rect">
            <a:avLst/>
          </a:prstGeom>
        </p:spPr>
        <p:txBody>
          <a:bodyPr lIns="0" rIns="0" tIns="0" bIns="0">
            <a:normAutofit/>
          </a:bodyPr>
          <a:p>
            <a:endParaRPr b="0" lang="en-IN" sz="3200" spc="-1" strike="noStrike">
              <a:latin typeface="Arial"/>
            </a:endParaRPr>
          </a:p>
        </p:txBody>
      </p:sp>
      <p:sp>
        <p:nvSpPr>
          <p:cNvPr id="167"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69" name="PlaceHolder 2"/>
          <p:cNvSpPr>
            <a:spLocks noGrp="1"/>
          </p:cNvSpPr>
          <p:nvPr>
            <p:ph type="body"/>
          </p:nvPr>
        </p:nvSpPr>
        <p:spPr>
          <a:xfrm>
            <a:off x="503640" y="1767960"/>
            <a:ext cx="360" cy="4368600"/>
          </a:xfrm>
          <a:prstGeom prst="rect">
            <a:avLst/>
          </a:prstGeom>
        </p:spPr>
        <p:txBody>
          <a:bodyPr lIns="0" rIns="0" tIns="0" bIns="0">
            <a:normAutofit/>
          </a:bodyPr>
          <a:p>
            <a:endParaRPr b="0" lang="en-IN" sz="3200" spc="-1" strike="noStrike">
              <a:latin typeface="Arial"/>
            </a:endParaRPr>
          </a:p>
        </p:txBody>
      </p:sp>
      <p:sp>
        <p:nvSpPr>
          <p:cNvPr id="170"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71" name="PlaceHolder 4"/>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73"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74"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75"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77"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78" name="PlaceHolder 3"/>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80"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81"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82" name="PlaceHolder 4"/>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83" name="PlaceHolder 5"/>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503640" y="300240"/>
            <a:ext cx="9055080" cy="1246320"/>
          </a:xfrm>
          <a:prstGeom prst="rect">
            <a:avLst/>
          </a:prstGeom>
        </p:spPr>
        <p:txBody>
          <a:bodyPr lIns="0" rIns="0" tIns="0" bIns="0" anchor="ctr"/>
          <a:p>
            <a:pPr algn="ctr"/>
            <a:endParaRPr b="0" lang="en-IN" sz="4400" spc="-1" strike="noStrike">
              <a:latin typeface="Arial"/>
            </a:endParaRPr>
          </a:p>
        </p:txBody>
      </p:sp>
      <p:sp>
        <p:nvSpPr>
          <p:cNvPr id="185" name="PlaceHolder 2"/>
          <p:cNvSpPr>
            <a:spLocks noGrp="1"/>
          </p:cNvSpPr>
          <p:nvPr>
            <p:ph type="body"/>
          </p:nvPr>
        </p:nvSpPr>
        <p:spPr>
          <a:xfrm>
            <a:off x="503640" y="1767960"/>
            <a:ext cx="360" cy="2083680"/>
          </a:xfrm>
          <a:prstGeom prst="rect">
            <a:avLst/>
          </a:prstGeom>
        </p:spPr>
        <p:txBody>
          <a:bodyPr lIns="0" rIns="0" tIns="0" bIns="0">
            <a:normAutofit/>
          </a:bodyPr>
          <a:p>
            <a:endParaRPr b="0" lang="en-IN" sz="3200" spc="-1" strike="noStrike">
              <a:latin typeface="Arial"/>
            </a:endParaRPr>
          </a:p>
        </p:txBody>
      </p:sp>
      <p:sp>
        <p:nvSpPr>
          <p:cNvPr id="186" name="PlaceHolder 3"/>
          <p:cNvSpPr>
            <a:spLocks noGrp="1"/>
          </p:cNvSpPr>
          <p:nvPr>
            <p:ph type="body"/>
          </p:nvPr>
        </p:nvSpPr>
        <p:spPr>
          <a:xfrm>
            <a:off x="504000" y="1767960"/>
            <a:ext cx="360" cy="2083680"/>
          </a:xfrm>
          <a:prstGeom prst="rect">
            <a:avLst/>
          </a:prstGeom>
        </p:spPr>
        <p:txBody>
          <a:bodyPr lIns="0" rIns="0" tIns="0" bIns="0">
            <a:normAutofit/>
          </a:bodyPr>
          <a:p>
            <a:endParaRPr b="0" lang="en-IN" sz="3200" spc="-1" strike="noStrike">
              <a:latin typeface="Arial"/>
            </a:endParaRPr>
          </a:p>
        </p:txBody>
      </p:sp>
      <p:sp>
        <p:nvSpPr>
          <p:cNvPr id="187" name="PlaceHolder 4"/>
          <p:cNvSpPr>
            <a:spLocks noGrp="1"/>
          </p:cNvSpPr>
          <p:nvPr>
            <p:ph type="body"/>
          </p:nvPr>
        </p:nvSpPr>
        <p:spPr>
          <a:xfrm>
            <a:off x="504360" y="1767960"/>
            <a:ext cx="360" cy="2083680"/>
          </a:xfrm>
          <a:prstGeom prst="rect">
            <a:avLst/>
          </a:prstGeom>
        </p:spPr>
        <p:txBody>
          <a:bodyPr lIns="0" rIns="0" tIns="0" bIns="0">
            <a:normAutofit/>
          </a:bodyPr>
          <a:p>
            <a:endParaRPr b="0" lang="en-IN" sz="3200" spc="-1" strike="noStrike">
              <a:latin typeface="Arial"/>
            </a:endParaRPr>
          </a:p>
        </p:txBody>
      </p:sp>
      <p:sp>
        <p:nvSpPr>
          <p:cNvPr id="188" name="PlaceHolder 5"/>
          <p:cNvSpPr>
            <a:spLocks noGrp="1"/>
          </p:cNvSpPr>
          <p:nvPr>
            <p:ph type="body"/>
          </p:nvPr>
        </p:nvSpPr>
        <p:spPr>
          <a:xfrm>
            <a:off x="503640" y="4050000"/>
            <a:ext cx="360" cy="2083680"/>
          </a:xfrm>
          <a:prstGeom prst="rect">
            <a:avLst/>
          </a:prstGeom>
        </p:spPr>
        <p:txBody>
          <a:bodyPr lIns="0" rIns="0" tIns="0" bIns="0">
            <a:normAutofit/>
          </a:bodyPr>
          <a:p>
            <a:endParaRPr b="0" lang="en-IN" sz="3200" spc="-1" strike="noStrike">
              <a:latin typeface="Arial"/>
            </a:endParaRPr>
          </a:p>
        </p:txBody>
      </p:sp>
      <p:sp>
        <p:nvSpPr>
          <p:cNvPr id="189" name="PlaceHolder 6"/>
          <p:cNvSpPr>
            <a:spLocks noGrp="1"/>
          </p:cNvSpPr>
          <p:nvPr>
            <p:ph type="body"/>
          </p:nvPr>
        </p:nvSpPr>
        <p:spPr>
          <a:xfrm>
            <a:off x="504000" y="4050000"/>
            <a:ext cx="360" cy="2083680"/>
          </a:xfrm>
          <a:prstGeom prst="rect">
            <a:avLst/>
          </a:prstGeom>
        </p:spPr>
        <p:txBody>
          <a:bodyPr lIns="0" rIns="0" tIns="0" bIns="0">
            <a:normAutofit/>
          </a:bodyPr>
          <a:p>
            <a:endParaRPr b="0" lang="en-IN" sz="3200" spc="-1" strike="noStrike">
              <a:latin typeface="Arial"/>
            </a:endParaRPr>
          </a:p>
        </p:txBody>
      </p:sp>
      <p:sp>
        <p:nvSpPr>
          <p:cNvPr id="190" name="PlaceHolder 7"/>
          <p:cNvSpPr>
            <a:spLocks noGrp="1"/>
          </p:cNvSpPr>
          <p:nvPr>
            <p:ph type="body"/>
          </p:nvPr>
        </p:nvSpPr>
        <p:spPr>
          <a:xfrm>
            <a:off x="504360" y="4050000"/>
            <a:ext cx="360" cy="208368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301320"/>
            <a:ext cx="9072000" cy="1261800"/>
          </a:xfrm>
          <a:prstGeom prst="rect">
            <a:avLst/>
          </a:prstGeom>
        </p:spPr>
        <p:txBody>
          <a:bodyPr lIns="0" rIns="0" tIns="0" bIns="0" anchor="ctr"/>
          <a:p>
            <a:pPr algn="ctr"/>
            <a:r>
              <a:rPr b="0" lang="en-IN" sz="4400" spc="-1" strike="noStrike">
                <a:latin typeface="Arial"/>
              </a:rPr>
              <a:t>Click to edit the title text </a:t>
            </a:r>
            <a:r>
              <a:rPr b="0" lang="en-IN" sz="4400" spc="-1" strike="noStrike">
                <a:latin typeface="Arial"/>
              </a:rPr>
              <a:t>format</a:t>
            </a:r>
            <a:endParaRPr b="0" lang="en-IN" sz="4400" spc="-1" strike="noStrike">
              <a:latin typeface="Arial"/>
            </a:endParaRPr>
          </a:p>
        </p:txBody>
      </p:sp>
      <p:sp>
        <p:nvSpPr>
          <p:cNvPr id="1" name="PlaceHolder 2"/>
          <p:cNvSpPr>
            <a:spLocks noGrp="1"/>
          </p:cNvSpPr>
          <p:nvPr>
            <p:ph type="body"/>
          </p:nvPr>
        </p:nvSpPr>
        <p:spPr>
          <a:xfrm>
            <a:off x="504000" y="1768680"/>
            <a:ext cx="907200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301320"/>
            <a:ext cx="9072000" cy="126180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39" name="PlaceHolder 2"/>
          <p:cNvSpPr>
            <a:spLocks noGrp="1"/>
          </p:cNvSpPr>
          <p:nvPr>
            <p:ph type="body"/>
          </p:nvPr>
        </p:nvSpPr>
        <p:spPr>
          <a:xfrm>
            <a:off x="504000" y="1768680"/>
            <a:ext cx="907200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503640" y="300240"/>
            <a:ext cx="9055080" cy="1246320"/>
          </a:xfrm>
          <a:prstGeom prst="rect">
            <a:avLst/>
          </a:prstGeom>
        </p:spPr>
        <p:txBody>
          <a:bodyPr lIns="0" rIns="0" tIns="0" bIns="0" anchor="ctr"/>
          <a:p>
            <a:r>
              <a:rPr b="0" lang="en-IN" sz="1800" spc="-1" strike="noStrike">
                <a:latin typeface="Arial"/>
              </a:rPr>
              <a:t>Click to edit the title text format</a:t>
            </a:r>
            <a:endParaRPr b="0" lang="en-IN" sz="1800" spc="-1" strike="noStrike">
              <a:latin typeface="Arial"/>
            </a:endParaRPr>
          </a:p>
        </p:txBody>
      </p:sp>
      <p:sp>
        <p:nvSpPr>
          <p:cNvPr id="77" name="PlaceHolder 2"/>
          <p:cNvSpPr>
            <a:spLocks noGrp="1"/>
          </p:cNvSpPr>
          <p:nvPr>
            <p:ph type="body"/>
          </p:nvPr>
        </p:nvSpPr>
        <p:spPr>
          <a:xfrm>
            <a:off x="503640" y="1767960"/>
            <a:ext cx="360" cy="436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
        <p:nvSpPr>
          <p:cNvPr id="78" name="PlaceHolder 3"/>
          <p:cNvSpPr>
            <a:spLocks noGrp="1"/>
          </p:cNvSpPr>
          <p:nvPr>
            <p:ph type="body"/>
          </p:nvPr>
        </p:nvSpPr>
        <p:spPr>
          <a:xfrm>
            <a:off x="504000" y="1767960"/>
            <a:ext cx="360" cy="436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2000" cy="126180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116" name="PlaceHolder 2"/>
          <p:cNvSpPr>
            <a:spLocks noGrp="1"/>
          </p:cNvSpPr>
          <p:nvPr>
            <p:ph type="body"/>
          </p:nvPr>
        </p:nvSpPr>
        <p:spPr>
          <a:xfrm>
            <a:off x="504000" y="1768680"/>
            <a:ext cx="907200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504000" y="301320"/>
            <a:ext cx="9072000" cy="1261800"/>
          </a:xfrm>
          <a:prstGeom prst="rect">
            <a:avLst/>
          </a:prstGeom>
        </p:spPr>
        <p:txBody>
          <a:bodyPr lIns="0" rIns="0" tIns="0" bIns="0" anchor="ctr"/>
          <a:p>
            <a:pPr algn="ctr"/>
            <a:r>
              <a:rPr b="0" lang="en-IN" sz="4400" spc="-1" strike="noStrike">
                <a:latin typeface="Arial"/>
              </a:rPr>
              <a:t>Click to edit the title text format</a:t>
            </a:r>
            <a:endParaRPr b="0" lang="en-IN" sz="4400" spc="-1" strike="noStrike">
              <a:latin typeface="Arial"/>
            </a:endParaRPr>
          </a:p>
        </p:txBody>
      </p:sp>
      <p:sp>
        <p:nvSpPr>
          <p:cNvPr id="154" name="PlaceHolder 2"/>
          <p:cNvSpPr>
            <a:spLocks noGrp="1"/>
          </p:cNvSpPr>
          <p:nvPr>
            <p:ph type="body"/>
          </p:nvPr>
        </p:nvSpPr>
        <p:spPr>
          <a:xfrm>
            <a:off x="504000" y="1768680"/>
            <a:ext cx="9072000" cy="43840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17.gif"/><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9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CustomShape 1"/>
          <p:cNvSpPr/>
          <p:nvPr/>
        </p:nvSpPr>
        <p:spPr>
          <a:xfrm>
            <a:off x="503640" y="2808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OS Concepts (LINUX)</a:t>
            </a:r>
            <a:endParaRPr b="0" lang="en-IN" sz="4000" spc="-1" strike="noStrike">
              <a:latin typeface="Arial"/>
            </a:endParaRPr>
          </a:p>
        </p:txBody>
      </p:sp>
      <p:sp>
        <p:nvSpPr>
          <p:cNvPr id="192" name="CustomShape 2"/>
          <p:cNvSpPr/>
          <p:nvPr/>
        </p:nvSpPr>
        <p:spPr>
          <a:xfrm>
            <a:off x="407880" y="646920"/>
            <a:ext cx="9150840" cy="6536520"/>
          </a:xfrm>
          <a:prstGeom prst="rect">
            <a:avLst/>
          </a:prstGeom>
          <a:noFill/>
          <a:ln>
            <a:noFill/>
          </a:ln>
        </p:spPr>
        <p:style>
          <a:lnRef idx="0"/>
          <a:fillRef idx="0"/>
          <a:effectRef idx="0"/>
          <a:fontRef idx="minor"/>
        </p:style>
        <p:txBody>
          <a:bodyPr lIns="0" rIns="0" tIns="0" bIns="0"/>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Process Management.</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Signal Handling</a:t>
            </a:r>
            <a:r>
              <a:rPr b="0" lang="en-IN" sz="2400" spc="-1" strike="noStrike">
                <a:solidFill>
                  <a:srgbClr val="0066b3"/>
                </a:solidFill>
                <a:latin typeface="Arial"/>
                <a:ea typeface="DejaVu Sans"/>
              </a:rPr>
              <a:t>.</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Resource Management.</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File Management.</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772953"/>
                </a:solidFill>
                <a:latin typeface="Arial"/>
                <a:ea typeface="DejaVu Sans"/>
              </a:rPr>
              <a:t>.</a:t>
            </a:r>
            <a:endParaRPr b="0" lang="en-IN" sz="2400" spc="-1" strike="noStrike">
              <a:latin typeface="Arial"/>
            </a:endParaRPr>
          </a:p>
        </p:txBody>
      </p:sp>
      <p:sp>
        <p:nvSpPr>
          <p:cNvPr id="193" name="CustomShape 3"/>
          <p:cNvSpPr/>
          <p:nvPr/>
        </p:nvSpPr>
        <p:spPr>
          <a:xfrm>
            <a:off x="503640" y="4385160"/>
            <a:ext cx="1136160" cy="279360"/>
          </a:xfrm>
          <a:prstGeom prst="rect">
            <a:avLst/>
          </a:prstGeom>
          <a:noFill/>
          <a:ln>
            <a:noFill/>
          </a:ln>
        </p:spPr>
        <p:style>
          <a:lnRef idx="0"/>
          <a:fillRef idx="0"/>
          <a:effectRef idx="0"/>
          <a:fontRef idx="minor"/>
        </p:style>
        <p:txBody>
          <a:bodyPr lIns="0" rIns="0" tIns="0" bIns="0" anchor="ctr"/>
          <a:p>
            <a:pPr algn="ctr">
              <a:lnSpc>
                <a:spcPct val="100000"/>
              </a:lnSpc>
            </a:pPr>
            <a:r>
              <a:rPr b="0" lang="en-IN" sz="2000" spc="-1" strike="noStrike">
                <a:solidFill>
                  <a:srgbClr val="000000"/>
                </a:solidFill>
                <a:latin typeface="Arial"/>
                <a:ea typeface="DejaVu Sans"/>
              </a:rPr>
              <a:t>pipes</a:t>
            </a:r>
            <a:endParaRPr b="0" lang="en-IN" sz="2000" spc="-1" strike="noStrike">
              <a:latin typeface="Arial"/>
            </a:endParaRPr>
          </a:p>
        </p:txBody>
      </p:sp>
      <p:sp>
        <p:nvSpPr>
          <p:cNvPr id="194" name="CustomShape 4"/>
          <p:cNvSpPr/>
          <p:nvPr/>
        </p:nvSpPr>
        <p:spPr>
          <a:xfrm>
            <a:off x="1887840" y="4319280"/>
            <a:ext cx="1136160" cy="551160"/>
          </a:xfrm>
          <a:prstGeom prst="rect">
            <a:avLst/>
          </a:prstGeom>
          <a:noFill/>
          <a:ln>
            <a:noFill/>
          </a:ln>
        </p:spPr>
        <p:style>
          <a:lnRef idx="0"/>
          <a:fillRef idx="0"/>
          <a:effectRef idx="0"/>
          <a:fontRef idx="minor"/>
        </p:style>
        <p:txBody>
          <a:bodyPr lIns="0" rIns="0" tIns="0" bIns="0" anchor="ctr"/>
          <a:p>
            <a:pPr algn="ctr">
              <a:lnSpc>
                <a:spcPct val="100000"/>
              </a:lnSpc>
            </a:pPr>
            <a:r>
              <a:rPr b="0" lang="en-IN" sz="2000" spc="-1" strike="noStrike">
                <a:solidFill>
                  <a:srgbClr val="000000"/>
                </a:solidFill>
                <a:latin typeface="Arial"/>
                <a:ea typeface="DejaVu Sans"/>
              </a:rPr>
              <a:t>Named</a:t>
            </a:r>
            <a:br/>
            <a:r>
              <a:rPr b="0" lang="en-IN" sz="2000" spc="-1" strike="noStrike">
                <a:solidFill>
                  <a:srgbClr val="000000"/>
                </a:solidFill>
                <a:latin typeface="Arial"/>
                <a:ea typeface="DejaVu Sans"/>
              </a:rPr>
              <a:t>pipes</a:t>
            </a:r>
            <a:endParaRPr b="0" lang="en-IN" sz="2000" spc="-1" strike="noStrike">
              <a:latin typeface="Arial"/>
            </a:endParaRPr>
          </a:p>
        </p:txBody>
      </p:sp>
      <p:sp>
        <p:nvSpPr>
          <p:cNvPr id="195" name="CustomShape 5"/>
          <p:cNvSpPr/>
          <p:nvPr/>
        </p:nvSpPr>
        <p:spPr>
          <a:xfrm>
            <a:off x="2951640" y="4400640"/>
            <a:ext cx="1496160" cy="551160"/>
          </a:xfrm>
          <a:prstGeom prst="rect">
            <a:avLst/>
          </a:prstGeom>
          <a:noFill/>
          <a:ln>
            <a:noFill/>
          </a:ln>
        </p:spPr>
        <p:style>
          <a:lnRef idx="0"/>
          <a:fillRef idx="0"/>
          <a:effectRef idx="0"/>
          <a:fontRef idx="minor"/>
        </p:style>
        <p:txBody>
          <a:bodyPr lIns="0" rIns="0" tIns="0" bIns="0" anchor="ctr"/>
          <a:p>
            <a:pPr algn="ctr">
              <a:lnSpc>
                <a:spcPct val="100000"/>
              </a:lnSpc>
            </a:pPr>
            <a:r>
              <a:rPr b="0" lang="en-IN" sz="2000" spc="-1" strike="noStrike">
                <a:solidFill>
                  <a:srgbClr val="000000"/>
                </a:solidFill>
                <a:latin typeface="Arial"/>
                <a:ea typeface="DejaVu Sans"/>
              </a:rPr>
              <a:t>Shared memory</a:t>
            </a:r>
            <a:endParaRPr b="0" lang="en-IN" sz="2000" spc="-1" strike="noStrike">
              <a:latin typeface="Arial"/>
            </a:endParaRPr>
          </a:p>
        </p:txBody>
      </p:sp>
      <p:sp>
        <p:nvSpPr>
          <p:cNvPr id="196" name="CustomShape 6"/>
          <p:cNvSpPr/>
          <p:nvPr/>
        </p:nvSpPr>
        <p:spPr>
          <a:xfrm>
            <a:off x="4751640" y="4328280"/>
            <a:ext cx="1136160" cy="551160"/>
          </a:xfrm>
          <a:prstGeom prst="rect">
            <a:avLst/>
          </a:prstGeom>
          <a:noFill/>
          <a:ln>
            <a:noFill/>
          </a:ln>
        </p:spPr>
        <p:style>
          <a:lnRef idx="0"/>
          <a:fillRef idx="0"/>
          <a:effectRef idx="0"/>
          <a:fontRef idx="minor"/>
        </p:style>
        <p:txBody>
          <a:bodyPr lIns="0" rIns="0" tIns="0" bIns="0" anchor="ctr"/>
          <a:p>
            <a:pPr algn="ctr">
              <a:lnSpc>
                <a:spcPct val="100000"/>
              </a:lnSpc>
            </a:pPr>
            <a:r>
              <a:rPr b="0" lang="en-IN" sz="2000" spc="-1" strike="noStrike">
                <a:solidFill>
                  <a:srgbClr val="000000"/>
                </a:solidFill>
                <a:latin typeface="Arial"/>
                <a:ea typeface="DejaVu Sans"/>
              </a:rPr>
              <a:t>Message Queues</a:t>
            </a:r>
            <a:endParaRPr b="0" lang="en-IN" sz="2000" spc="-1" strike="noStrike">
              <a:latin typeface="Arial"/>
            </a:endParaRPr>
          </a:p>
        </p:txBody>
      </p:sp>
      <p:sp>
        <p:nvSpPr>
          <p:cNvPr id="197" name="CustomShape 7"/>
          <p:cNvSpPr/>
          <p:nvPr/>
        </p:nvSpPr>
        <p:spPr>
          <a:xfrm>
            <a:off x="1079640" y="3599280"/>
            <a:ext cx="1568520" cy="776880"/>
          </a:xfrm>
          <a:custGeom>
            <a:avLst/>
            <a:gdLst/>
            <a:ahLst/>
            <a:rect l="l" t="t" r="r" b="b"/>
            <a:pathLst>
              <a:path w="4401" h="2201">
                <a:moveTo>
                  <a:pt x="4400" y="0"/>
                </a:moveTo>
                <a:lnTo>
                  <a:pt x="0" y="2200"/>
                </a:lnTo>
              </a:path>
            </a:pathLst>
          </a:custGeom>
          <a:noFill/>
          <a:ln>
            <a:solidFill>
              <a:srgbClr val="000000"/>
            </a:solidFill>
            <a:tailEnd len="med" type="triangle" w="med"/>
          </a:ln>
        </p:spPr>
        <p:style>
          <a:lnRef idx="0"/>
          <a:fillRef idx="0"/>
          <a:effectRef idx="0"/>
          <a:fontRef idx="minor"/>
        </p:style>
      </p:sp>
      <p:sp>
        <p:nvSpPr>
          <p:cNvPr id="198" name="CustomShape 8"/>
          <p:cNvSpPr/>
          <p:nvPr/>
        </p:nvSpPr>
        <p:spPr>
          <a:xfrm>
            <a:off x="2447640" y="3599280"/>
            <a:ext cx="200520" cy="713160"/>
          </a:xfrm>
          <a:custGeom>
            <a:avLst/>
            <a:gdLst/>
            <a:ahLst/>
            <a:rect l="l" t="t" r="r" b="b"/>
            <a:pathLst>
              <a:path w="601" h="2026">
                <a:moveTo>
                  <a:pt x="600" y="0"/>
                </a:moveTo>
                <a:lnTo>
                  <a:pt x="0" y="2025"/>
                </a:lnTo>
              </a:path>
            </a:pathLst>
          </a:custGeom>
          <a:noFill/>
          <a:ln>
            <a:solidFill>
              <a:srgbClr val="000000"/>
            </a:solidFill>
            <a:tailEnd len="med" type="triangle" w="med"/>
          </a:ln>
        </p:spPr>
        <p:style>
          <a:lnRef idx="0"/>
          <a:fillRef idx="0"/>
          <a:effectRef idx="0"/>
          <a:fontRef idx="minor"/>
        </p:style>
      </p:sp>
      <p:sp>
        <p:nvSpPr>
          <p:cNvPr id="199" name="CustomShape 9"/>
          <p:cNvSpPr/>
          <p:nvPr/>
        </p:nvSpPr>
        <p:spPr>
          <a:xfrm>
            <a:off x="2663640" y="3599280"/>
            <a:ext cx="992520" cy="776880"/>
          </a:xfrm>
          <a:custGeom>
            <a:avLst/>
            <a:gdLst/>
            <a:ahLst/>
            <a:rect l="l" t="t" r="r" b="b"/>
            <a:pathLst>
              <a:path w="2801" h="2201">
                <a:moveTo>
                  <a:pt x="0" y="0"/>
                </a:moveTo>
                <a:lnTo>
                  <a:pt x="2800" y="2200"/>
                </a:lnTo>
              </a:path>
            </a:pathLst>
          </a:custGeom>
          <a:noFill/>
          <a:ln>
            <a:solidFill>
              <a:srgbClr val="000000"/>
            </a:solidFill>
            <a:tailEnd len="med" type="triangle" w="med"/>
          </a:ln>
        </p:spPr>
        <p:style>
          <a:lnRef idx="0"/>
          <a:fillRef idx="0"/>
          <a:effectRef idx="0"/>
          <a:fontRef idx="minor"/>
        </p:style>
      </p:sp>
      <p:sp>
        <p:nvSpPr>
          <p:cNvPr id="200" name="CustomShape 10"/>
          <p:cNvSpPr/>
          <p:nvPr/>
        </p:nvSpPr>
        <p:spPr>
          <a:xfrm>
            <a:off x="2663640" y="3599280"/>
            <a:ext cx="2360520" cy="713160"/>
          </a:xfrm>
          <a:custGeom>
            <a:avLst/>
            <a:gdLst/>
            <a:ahLst/>
            <a:rect l="l" t="t" r="r" b="b"/>
            <a:pathLst>
              <a:path w="6601" h="2026">
                <a:moveTo>
                  <a:pt x="0" y="0"/>
                </a:moveTo>
                <a:lnTo>
                  <a:pt x="6600" y="2025"/>
                </a:lnTo>
              </a:path>
            </a:pathLst>
          </a:custGeom>
          <a:noFill/>
          <a:ln>
            <a:solidFill>
              <a:srgbClr val="000000"/>
            </a:solidFill>
            <a:tailEnd len="med" type="triangle" w="med"/>
          </a:ln>
        </p:spPr>
        <p:style>
          <a:lnRef idx="0"/>
          <a:fillRef idx="0"/>
          <a:effectRef idx="0"/>
          <a:fontRef idx="minor"/>
        </p:style>
      </p:sp>
      <p:sp>
        <p:nvSpPr>
          <p:cNvPr id="201" name="CustomShape 11"/>
          <p:cNvSpPr/>
          <p:nvPr/>
        </p:nvSpPr>
        <p:spPr>
          <a:xfrm>
            <a:off x="328680" y="3244320"/>
            <a:ext cx="8516880" cy="4502520"/>
          </a:xfrm>
          <a:prstGeom prst="rect">
            <a:avLst/>
          </a:prstGeom>
          <a:noFill/>
          <a:ln>
            <a:noFill/>
          </a:ln>
        </p:spPr>
        <p:style>
          <a:lnRef idx="0"/>
          <a:fillRef idx="0"/>
          <a:effectRef idx="0"/>
          <a:fontRef idx="minor"/>
        </p:style>
        <p:txBody>
          <a:bodyPr lIns="90000" rIns="90000" tIns="45000" bIns="45000"/>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InterProcess Communication(IPC).</a:t>
            </a:r>
            <a:endParaRPr b="0" lang="en-IN" sz="2400" spc="-1" strike="noStrike">
              <a:latin typeface="Arial"/>
            </a:endParaRPr>
          </a:p>
          <a:p>
            <a:pPr>
              <a:lnSpc>
                <a:spcPct val="100000"/>
              </a:lnSpc>
            </a:pPr>
            <a:endParaRPr b="0" lang="en-IN" sz="2400" spc="-1" strike="noStrike">
              <a:latin typeface="Arial"/>
            </a:endParaRPr>
          </a:p>
          <a:p>
            <a:pPr>
              <a:lnSpc>
                <a:spcPct val="100000"/>
              </a:lnSpc>
            </a:pPr>
            <a:endParaRPr b="0" lang="en-IN" sz="2400" spc="-1" strike="noStrike">
              <a:latin typeface="Arial"/>
            </a:endParaRPr>
          </a:p>
          <a:p>
            <a:pPr>
              <a:lnSpc>
                <a:spcPct val="100000"/>
              </a:lnSpc>
            </a:pP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process synchronization using semaphores.</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Thread creation &amp; thread synchronization using mutex.</a:t>
            </a:r>
            <a:endParaRPr b="0" lang="en-IN" sz="2400" spc="-1" strike="noStrike">
              <a:latin typeface="Arial"/>
            </a:endParaRPr>
          </a:p>
          <a:p>
            <a:pPr>
              <a:lnSpc>
                <a:spcPct val="100000"/>
              </a:lnSpc>
            </a:pPr>
            <a:endParaRPr b="0" lang="en-IN" sz="2400" spc="-1" strike="noStrike">
              <a:latin typeface="Arial"/>
            </a:endParaRPr>
          </a:p>
          <a:p>
            <a:pPr marL="216000" indent="-200160">
              <a:lnSpc>
                <a:spcPct val="100000"/>
              </a:lnSpc>
              <a:buClr>
                <a:srgbClr val="000000"/>
              </a:buClr>
              <a:buSzPct val="45000"/>
              <a:buFont typeface="Wingdings" charset="2"/>
              <a:buChar char=""/>
            </a:pPr>
            <a:r>
              <a:rPr b="0" lang="en-IN" sz="2400" spc="-1" strike="noStrike">
                <a:solidFill>
                  <a:srgbClr val="6600ff"/>
                </a:solidFill>
                <a:latin typeface="Arial"/>
                <a:ea typeface="DejaVu Sans"/>
              </a:rPr>
              <a:t>Memory Management</a:t>
            </a:r>
            <a:endParaRPr b="0" lang="en-IN" sz="2400" spc="-1" strike="noStrike">
              <a:latin typeface="Arial"/>
            </a:endParaRPr>
          </a:p>
          <a:p>
            <a:pPr>
              <a:lnSpc>
                <a:spcPct val="100000"/>
              </a:lnSpc>
            </a:pPr>
            <a:endParaRPr b="0" lang="en-IN" sz="2400" spc="-1" strike="noStrike">
              <a:latin typeface="Arial"/>
            </a:endParaRPr>
          </a:p>
        </p:txBody>
      </p:sp>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CustomShape 1"/>
          <p:cNvSpPr/>
          <p:nvPr/>
        </p:nvSpPr>
        <p:spPr>
          <a:xfrm>
            <a:off x="503640" y="8280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What is an Operating System?</a:t>
            </a:r>
            <a:endParaRPr b="0" lang="en-IN" sz="4400" spc="-1" strike="noStrike">
              <a:latin typeface="Arial"/>
            </a:endParaRPr>
          </a:p>
        </p:txBody>
      </p:sp>
      <p:sp>
        <p:nvSpPr>
          <p:cNvPr id="203" name="CustomShape 2"/>
          <p:cNvSpPr/>
          <p:nvPr/>
        </p:nvSpPr>
        <p:spPr>
          <a:xfrm>
            <a:off x="575640" y="935640"/>
            <a:ext cx="9055080" cy="62553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It is an interface between user applications and Hardware.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An operating system is a system software that manages computer H/W &amp; S/W resources and provoids services for computer programs.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All computer programs including firmware require an OS to function. </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endParaRPr b="0" lang="en-IN" sz="2800" spc="-1" strike="noStrike">
              <a:latin typeface="Arial"/>
            </a:endParaRPr>
          </a:p>
        </p:txBody>
      </p:sp>
      <p:graphicFrame>
        <p:nvGraphicFramePr>
          <p:cNvPr id="204" name="Table 3"/>
          <p:cNvGraphicFramePr/>
          <p:nvPr/>
        </p:nvGraphicFramePr>
        <p:xfrm>
          <a:off x="3888000" y="4826880"/>
          <a:ext cx="956520" cy="349200"/>
        </p:xfrm>
        <a:graphic>
          <a:graphicData uri="http://schemas.openxmlformats.org/drawingml/2006/table">
            <a:tbl>
              <a:tblPr/>
              <a:tblGrid>
                <a:gridCol w="956880"/>
              </a:tblGrid>
              <a:tr h="349560">
                <a:tc>
                  <a:txBody>
                    <a:bodyPr lIns="90000" rIns="90000"/>
                    <a:p>
                      <a:pPr algn="ctr">
                        <a:lnSpc>
                          <a:spcPct val="100000"/>
                        </a:lnSpc>
                      </a:pPr>
                      <a:r>
                        <a:rPr b="0" lang="en-IN" sz="1800" spc="-1" strike="noStrike">
                          <a:latin typeface="Arial"/>
                        </a:rPr>
                        <a:t>  </a:t>
                      </a:r>
                      <a:r>
                        <a:rPr b="0" lang="en-IN" sz="1800" spc="-1" strike="noStrike">
                          <a:latin typeface="Arial"/>
                        </a:rPr>
                        <a:t>OS</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205" name="CustomShape 4"/>
          <p:cNvSpPr/>
          <p:nvPr/>
        </p:nvSpPr>
        <p:spPr>
          <a:xfrm>
            <a:off x="3672000" y="5552640"/>
            <a:ext cx="1361520" cy="1424880"/>
          </a:xfrm>
          <a:prstGeom prst="rect">
            <a:avLst/>
          </a:prstGeom>
          <a:blipFill rotWithShape="0">
            <a:blip r:embed="rId1"/>
            <a:stretch>
              <a:fillRect/>
            </a:stretch>
          </a:blipFill>
          <a:ln>
            <a:noFill/>
          </a:ln>
        </p:spPr>
        <p:style>
          <a:lnRef idx="0"/>
          <a:fillRef idx="0"/>
          <a:effectRef idx="0"/>
          <a:fontRef idx="minor"/>
        </p:style>
        <p:txBody>
          <a:bodyPr lIns="90000" rIns="90000" tIns="45000" bIns="45000" anchor="ctr"/>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endParaRPr b="0" lang="en-IN" sz="1800" spc="-1" strike="noStrike">
              <a:latin typeface="Arial"/>
            </a:endParaRPr>
          </a:p>
          <a:p>
            <a:pPr algn="ctr">
              <a:lnSpc>
                <a:spcPct val="100000"/>
              </a:lnSpc>
            </a:pPr>
            <a:r>
              <a:rPr b="0" lang="en-IN" sz="1800" spc="-1" strike="noStrike">
                <a:solidFill>
                  <a:srgbClr val="000000"/>
                </a:solidFill>
                <a:latin typeface="Arial"/>
                <a:ea typeface="DejaVu Sans"/>
              </a:rPr>
              <a:t>Hardware</a:t>
            </a:r>
            <a:endParaRPr b="0" lang="en-IN" sz="1800" spc="-1" strike="noStrike">
              <a:latin typeface="Arial"/>
            </a:endParaRPr>
          </a:p>
        </p:txBody>
      </p:sp>
      <p:graphicFrame>
        <p:nvGraphicFramePr>
          <p:cNvPr id="206" name="Table 5"/>
          <p:cNvGraphicFramePr/>
          <p:nvPr/>
        </p:nvGraphicFramePr>
        <p:xfrm>
          <a:off x="3168000" y="3785040"/>
          <a:ext cx="2447640" cy="565560"/>
        </p:xfrm>
        <a:graphic>
          <a:graphicData uri="http://schemas.openxmlformats.org/drawingml/2006/table">
            <a:tbl>
              <a:tblPr/>
              <a:tblGrid>
                <a:gridCol w="2448000"/>
              </a:tblGrid>
              <a:tr h="565920">
                <a:tc>
                  <a:txBody>
                    <a:bodyPr lIns="90000" rIns="90000"/>
                    <a:p>
                      <a:pPr algn="ctr">
                        <a:lnSpc>
                          <a:spcPct val="100000"/>
                        </a:lnSpc>
                      </a:pPr>
                      <a:r>
                        <a:rPr b="0" lang="en-IN" sz="1800" spc="-1" strike="noStrike">
                          <a:latin typeface="Arial"/>
                        </a:rPr>
                        <a:t>Apps</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pic>
        <p:nvPicPr>
          <p:cNvPr id="207" name="" descr=""/>
          <p:cNvPicPr/>
          <p:nvPr/>
        </p:nvPicPr>
        <p:blipFill>
          <a:blip r:embed="rId2"/>
          <a:stretch/>
        </p:blipFill>
        <p:spPr>
          <a:xfrm>
            <a:off x="3600000" y="3785040"/>
            <a:ext cx="488160" cy="536760"/>
          </a:xfrm>
          <a:prstGeom prst="rect">
            <a:avLst/>
          </a:prstGeom>
          <a:ln>
            <a:noFill/>
          </a:ln>
        </p:spPr>
      </p:pic>
      <p:pic>
        <p:nvPicPr>
          <p:cNvPr id="208" name="" descr=""/>
          <p:cNvPicPr/>
          <p:nvPr/>
        </p:nvPicPr>
        <p:blipFill>
          <a:blip r:embed="rId3"/>
          <a:stretch/>
        </p:blipFill>
        <p:spPr>
          <a:xfrm>
            <a:off x="3168000" y="3785040"/>
            <a:ext cx="416160" cy="536760"/>
          </a:xfrm>
          <a:prstGeom prst="rect">
            <a:avLst/>
          </a:prstGeom>
          <a:ln>
            <a:noFill/>
          </a:ln>
        </p:spPr>
      </p:pic>
      <p:sp>
        <p:nvSpPr>
          <p:cNvPr id="209" name="Line 6"/>
          <p:cNvSpPr/>
          <p:nvPr/>
        </p:nvSpPr>
        <p:spPr>
          <a:xfrm>
            <a:off x="4379040" y="4351320"/>
            <a:ext cx="360" cy="475560"/>
          </a:xfrm>
          <a:prstGeom prst="line">
            <a:avLst/>
          </a:prstGeom>
          <a:ln>
            <a:solidFill>
              <a:srgbClr val="000000"/>
            </a:solidFill>
            <a:tailEnd len="med" type="triangle" w="med"/>
          </a:ln>
        </p:spPr>
        <p:style>
          <a:lnRef idx="0"/>
          <a:fillRef idx="0"/>
          <a:effectRef idx="0"/>
          <a:fontRef idx="minor"/>
        </p:style>
      </p:sp>
      <p:sp>
        <p:nvSpPr>
          <p:cNvPr id="210" name="Line 7"/>
          <p:cNvSpPr/>
          <p:nvPr/>
        </p:nvSpPr>
        <p:spPr>
          <a:xfrm>
            <a:off x="4379040" y="5176440"/>
            <a:ext cx="360" cy="366480"/>
          </a:xfrm>
          <a:prstGeom prst="line">
            <a:avLst/>
          </a:prstGeom>
          <a:ln>
            <a:solidFill>
              <a:srgbClr val="000000"/>
            </a:solidFill>
            <a:tailEnd len="med" type="triangle" w="med"/>
          </a:ln>
        </p:spPr>
        <p:style>
          <a:lnRef idx="0"/>
          <a:fillRef idx="0"/>
          <a:effectRef idx="0"/>
          <a:fontRef idx="minor"/>
        </p:style>
      </p:sp>
      <p:sp>
        <p:nvSpPr>
          <p:cNvPr id="211" name="CustomShape 8"/>
          <p:cNvSpPr/>
          <p:nvPr/>
        </p:nvSpPr>
        <p:spPr>
          <a:xfrm>
            <a:off x="4967640" y="4827960"/>
            <a:ext cx="5095800" cy="483840"/>
          </a:xfrm>
          <a:prstGeom prst="rect">
            <a:avLst/>
          </a:prstGeom>
          <a:noFill/>
          <a:ln>
            <a:noFill/>
          </a:ln>
        </p:spPr>
        <p:style>
          <a:lnRef idx="0"/>
          <a:fillRef idx="0"/>
          <a:effectRef idx="0"/>
          <a:fontRef idx="minor"/>
        </p:style>
        <p:txBody>
          <a:bodyPr lIns="90000" rIns="90000" tIns="45000" bIns="45000"/>
          <a:p>
            <a:pPr>
              <a:lnSpc>
                <a:spcPct val="100000"/>
              </a:lnSpc>
            </a:pPr>
            <a:r>
              <a:rPr b="1" lang="en-IN" sz="2200" spc="-1" strike="noStrike">
                <a:solidFill>
                  <a:srgbClr val="0066b3"/>
                </a:solidFill>
                <a:latin typeface="Arial"/>
                <a:ea typeface="DejaVu Sans"/>
              </a:rPr>
              <a:t>OS is also called Resource Manager</a:t>
            </a:r>
            <a:endParaRPr b="0" lang="en-IN" sz="2200" spc="-1" strike="noStrike">
              <a:latin typeface="Arial"/>
            </a:endParaRPr>
          </a:p>
        </p:txBody>
      </p:sp>
      <p:pic>
        <p:nvPicPr>
          <p:cNvPr id="212" name="" descr=""/>
          <p:cNvPicPr/>
          <p:nvPr/>
        </p:nvPicPr>
        <p:blipFill>
          <a:blip r:embed="rId4"/>
          <a:stretch/>
        </p:blipFill>
        <p:spPr>
          <a:xfrm>
            <a:off x="4697280" y="3808080"/>
            <a:ext cx="416160" cy="478080"/>
          </a:xfrm>
          <a:prstGeom prst="rect">
            <a:avLst/>
          </a:prstGeom>
          <a:ln>
            <a:noFill/>
          </a:ln>
        </p:spPr>
      </p:pic>
      <p:pic>
        <p:nvPicPr>
          <p:cNvPr id="213" name="" descr=""/>
          <p:cNvPicPr/>
          <p:nvPr/>
        </p:nvPicPr>
        <p:blipFill>
          <a:blip r:embed="rId5"/>
          <a:stretch/>
        </p:blipFill>
        <p:spPr>
          <a:xfrm>
            <a:off x="5128920" y="3814920"/>
            <a:ext cx="398880" cy="470880"/>
          </a:xfrm>
          <a:prstGeom prst="rect">
            <a:avLst/>
          </a:prstGeom>
          <a:ln>
            <a:noFill/>
          </a:ln>
        </p:spPr>
      </p:pic>
    </p:spTree>
  </p:cSld>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CustomShape 1"/>
          <p:cNvSpPr/>
          <p:nvPr/>
        </p:nvSpPr>
        <p:spPr>
          <a:xfrm>
            <a:off x="503640" y="300600"/>
            <a:ext cx="9055080" cy="907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What are the Components of OS?</a:t>
            </a:r>
            <a:endParaRPr b="0" lang="en-IN" sz="4400" spc="-1" strike="noStrike">
              <a:latin typeface="Arial"/>
            </a:endParaRPr>
          </a:p>
        </p:txBody>
      </p:sp>
      <p:sp>
        <p:nvSpPr>
          <p:cNvPr id="215" name="CustomShape 2"/>
          <p:cNvSpPr/>
          <p:nvPr/>
        </p:nvSpPr>
        <p:spPr>
          <a:xfrm>
            <a:off x="503640" y="1146960"/>
            <a:ext cx="9282240" cy="3228120"/>
          </a:xfrm>
          <a:prstGeom prst="rect">
            <a:avLst/>
          </a:prstGeom>
          <a:noFill/>
          <a:ln>
            <a:noFill/>
          </a:ln>
        </p:spPr>
        <p:style>
          <a:lnRef idx="0"/>
          <a:fillRef idx="0"/>
          <a:effectRef idx="0"/>
          <a:fontRef idx="minor"/>
        </p:style>
        <p:txBody>
          <a:bodyPr lIns="0" rIns="0" tIns="0" bIns="0"/>
          <a:p>
            <a:pPr marL="216000" indent="-200160">
              <a:lnSpc>
                <a:spcPct val="100000"/>
              </a:lnSpc>
              <a:buClr>
                <a:srgbClr val="000000"/>
              </a:buClr>
              <a:buSzPct val="45000"/>
              <a:buFont typeface="Wingdings" charset="2"/>
              <a:buChar char=""/>
            </a:pPr>
            <a:r>
              <a:rPr b="0" lang="en-IN" sz="2800" spc="-1" strike="noStrike">
                <a:solidFill>
                  <a:srgbClr val="000000"/>
                </a:solidFill>
                <a:latin typeface="Arial"/>
                <a:ea typeface="DejaVu Sans"/>
              </a:rPr>
              <a:t>      </a:t>
            </a:r>
            <a:br/>
            <a:r>
              <a:rPr b="0" lang="en-IN" sz="2800" spc="-1" strike="noStrike">
                <a:solidFill>
                  <a:srgbClr val="0000cc"/>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ff"/>
                </a:solidFill>
                <a:latin typeface="Times New Roman"/>
                <a:ea typeface="DejaVu Sans"/>
              </a:rPr>
              <a:t>Applications</a:t>
            </a:r>
            <a:b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ff"/>
                </a:solidFill>
                <a:latin typeface="Times New Roman"/>
                <a:ea typeface="DejaVu Sans"/>
              </a:rPr>
              <a:t>Services</a:t>
            </a:r>
            <a:b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For every applications, services are required.</a:t>
            </a:r>
            <a:b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Applications are optional, but services are mandatory to OS.</a:t>
            </a:r>
            <a:br/>
            <a:r>
              <a:rPr b="0" lang="en-IN" sz="2800" spc="-1" strike="noStrike">
                <a:solidFill>
                  <a:srgbClr val="0000ff"/>
                </a:solidFill>
                <a:latin typeface="Times New Roman"/>
                <a:ea typeface="DejaVu Sans"/>
              </a:rPr>
              <a:t>*</a:t>
            </a:r>
            <a:r>
              <a:rPr b="0" lang="en-IN" sz="2800" spc="-1" strike="noStrike">
                <a:solidFill>
                  <a:srgbClr val="000000"/>
                </a:solidFill>
                <a:latin typeface="Times New Roman"/>
                <a:ea typeface="DejaVu Sans"/>
              </a:rPr>
              <a:t> Services are provided by the OS</a:t>
            </a:r>
            <a:br/>
            <a:r>
              <a:rPr b="0" lang="en-IN" sz="2800" spc="-1" strike="noStrike">
                <a:solidFill>
                  <a:srgbClr val="0000ff"/>
                </a:solidFill>
                <a:latin typeface="Times New Roman"/>
                <a:ea typeface="DejaVu Sans"/>
              </a:rPr>
              <a:t>*</a:t>
            </a:r>
            <a:r>
              <a:rPr b="0" lang="en-IN" sz="2800" spc="-1" strike="noStrike">
                <a:solidFill>
                  <a:srgbClr val="000000"/>
                </a:solidFill>
                <a:latin typeface="Times New Roman"/>
                <a:ea typeface="DejaVu Sans"/>
              </a:rPr>
              <a:t> OS is required, when multi-tasking process is required.</a:t>
            </a:r>
            <a:endParaRPr b="0" lang="en-IN" sz="2800" spc="-1" strike="noStrike">
              <a:latin typeface="Arial"/>
            </a:endParaRPr>
          </a:p>
        </p:txBody>
      </p:sp>
      <p:sp>
        <p:nvSpPr>
          <p:cNvPr id="216" name="CustomShape 3"/>
          <p:cNvSpPr/>
          <p:nvPr/>
        </p:nvSpPr>
        <p:spPr>
          <a:xfrm>
            <a:off x="1035360" y="4679280"/>
            <a:ext cx="1856160" cy="48816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MS word</a:t>
            </a:r>
            <a:endParaRPr b="0" lang="en-IN" sz="1800" spc="-1" strike="noStrike">
              <a:latin typeface="Arial"/>
            </a:endParaRPr>
          </a:p>
        </p:txBody>
      </p:sp>
      <p:sp>
        <p:nvSpPr>
          <p:cNvPr id="217" name="CustomShape 4"/>
          <p:cNvSpPr/>
          <p:nvPr/>
        </p:nvSpPr>
        <p:spPr>
          <a:xfrm>
            <a:off x="1084680" y="5980320"/>
            <a:ext cx="1856160" cy="48816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File Manager</a:t>
            </a:r>
            <a:endParaRPr b="0" lang="en-IN" sz="1800" spc="-1" strike="noStrike">
              <a:latin typeface="Arial"/>
            </a:endParaRPr>
          </a:p>
        </p:txBody>
      </p:sp>
      <p:sp>
        <p:nvSpPr>
          <p:cNvPr id="218" name="CustomShape 5"/>
          <p:cNvSpPr/>
          <p:nvPr/>
        </p:nvSpPr>
        <p:spPr>
          <a:xfrm>
            <a:off x="6047280" y="4534920"/>
            <a:ext cx="2000160" cy="48816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Mozilla Firefox</a:t>
            </a:r>
            <a:endParaRPr b="0" lang="en-IN" sz="1800" spc="-1" strike="noStrike">
              <a:latin typeface="Arial"/>
            </a:endParaRPr>
          </a:p>
        </p:txBody>
      </p:sp>
      <p:sp>
        <p:nvSpPr>
          <p:cNvPr id="219" name="CustomShape 6"/>
          <p:cNvSpPr/>
          <p:nvPr/>
        </p:nvSpPr>
        <p:spPr>
          <a:xfrm>
            <a:off x="6119280" y="6047640"/>
            <a:ext cx="2000160" cy="48816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Network Manager</a:t>
            </a:r>
            <a:endParaRPr b="0" lang="en-IN" sz="1800" spc="-1" strike="noStrike">
              <a:latin typeface="Arial"/>
            </a:endParaRPr>
          </a:p>
        </p:txBody>
      </p:sp>
      <p:sp>
        <p:nvSpPr>
          <p:cNvPr id="220" name="Line 7"/>
          <p:cNvSpPr/>
          <p:nvPr/>
        </p:nvSpPr>
        <p:spPr>
          <a:xfrm>
            <a:off x="1944000" y="5173560"/>
            <a:ext cx="360" cy="801720"/>
          </a:xfrm>
          <a:prstGeom prst="line">
            <a:avLst/>
          </a:prstGeom>
          <a:ln>
            <a:solidFill>
              <a:srgbClr val="000000"/>
            </a:solidFill>
            <a:tailEnd len="med" type="triangle" w="med"/>
          </a:ln>
        </p:spPr>
        <p:style>
          <a:lnRef idx="0"/>
          <a:fillRef idx="0"/>
          <a:effectRef idx="0"/>
          <a:fontRef idx="minor"/>
        </p:style>
      </p:sp>
      <p:sp>
        <p:nvSpPr>
          <p:cNvPr id="221" name="Line 8"/>
          <p:cNvSpPr/>
          <p:nvPr/>
        </p:nvSpPr>
        <p:spPr>
          <a:xfrm>
            <a:off x="7127280" y="5039640"/>
            <a:ext cx="360" cy="1008000"/>
          </a:xfrm>
          <a:prstGeom prst="line">
            <a:avLst/>
          </a:prstGeom>
          <a:ln>
            <a:solidFill>
              <a:srgbClr val="000000"/>
            </a:solidFill>
            <a:tailEnd len="med" type="triangle" w="med"/>
          </a:ln>
        </p:spPr>
        <p:style>
          <a:lnRef idx="0"/>
          <a:fillRef idx="0"/>
          <a:effectRef idx="0"/>
          <a:fontRef idx="minor"/>
        </p:style>
      </p:sp>
      <p:sp>
        <p:nvSpPr>
          <p:cNvPr id="222" name="CustomShape 9"/>
          <p:cNvSpPr/>
          <p:nvPr/>
        </p:nvSpPr>
        <p:spPr>
          <a:xfrm>
            <a:off x="2907360" y="4626720"/>
            <a:ext cx="168948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ff"/>
                </a:solidFill>
                <a:latin typeface="Arial"/>
                <a:ea typeface="DejaVu Sans"/>
              </a:rPr>
              <a:t>( Application )</a:t>
            </a:r>
            <a:endParaRPr b="0" lang="en-IN" sz="1800" spc="-1" strike="noStrike">
              <a:latin typeface="Arial"/>
            </a:endParaRPr>
          </a:p>
        </p:txBody>
      </p:sp>
      <p:sp>
        <p:nvSpPr>
          <p:cNvPr id="223" name="CustomShape 10"/>
          <p:cNvSpPr/>
          <p:nvPr/>
        </p:nvSpPr>
        <p:spPr>
          <a:xfrm>
            <a:off x="2951640" y="6048000"/>
            <a:ext cx="142920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ff"/>
                </a:solidFill>
                <a:latin typeface="Arial"/>
                <a:ea typeface="DejaVu Sans"/>
              </a:rPr>
              <a:t>( Service )</a:t>
            </a:r>
            <a:endParaRPr b="0" lang="en-IN" sz="1800" spc="-1" strike="noStrike">
              <a:latin typeface="Arial"/>
            </a:endParaRPr>
          </a:p>
        </p:txBody>
      </p:sp>
      <p:sp>
        <p:nvSpPr>
          <p:cNvPr id="224" name="CustomShape 11"/>
          <p:cNvSpPr/>
          <p:nvPr/>
        </p:nvSpPr>
        <p:spPr>
          <a:xfrm>
            <a:off x="8091000" y="4607640"/>
            <a:ext cx="183348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ff"/>
                </a:solidFill>
                <a:latin typeface="Arial"/>
                <a:ea typeface="DejaVu Sans"/>
              </a:rPr>
              <a:t>( Application )</a:t>
            </a:r>
            <a:endParaRPr b="0" lang="en-IN" sz="1800" spc="-1" strike="noStrike">
              <a:latin typeface="Arial"/>
            </a:endParaRPr>
          </a:p>
        </p:txBody>
      </p:sp>
      <p:sp>
        <p:nvSpPr>
          <p:cNvPr id="225" name="CustomShape 12"/>
          <p:cNvSpPr/>
          <p:nvPr/>
        </p:nvSpPr>
        <p:spPr>
          <a:xfrm>
            <a:off x="8207280" y="6138720"/>
            <a:ext cx="149364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ff"/>
                </a:solidFill>
                <a:latin typeface="Arial"/>
                <a:ea typeface="DejaVu Sans"/>
              </a:rPr>
              <a:t>( Service )</a:t>
            </a:r>
            <a:endParaRPr b="0" lang="en-IN" sz="1800" spc="-1" strike="noStrike">
              <a:latin typeface="Arial"/>
            </a:endParaRPr>
          </a:p>
        </p:txBody>
      </p:sp>
    </p:spTree>
  </p:cSld>
  <p:timing>
    <p:tnLst>
      <p:par>
        <p:cTn id="5" dur="indefinite" restart="never" nodeType="tmRoot">
          <p:childTnLst>
            <p:seq>
              <p:cTn id="6" dur="indefinite"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CustomShape 1"/>
          <p:cNvSpPr/>
          <p:nvPr/>
        </p:nvSpPr>
        <p:spPr>
          <a:xfrm>
            <a:off x="503640" y="30060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Why Linux OS is in embedded?</a:t>
            </a:r>
            <a:endParaRPr b="0" lang="en-IN" sz="4400" spc="-1" strike="noStrike">
              <a:latin typeface="Arial"/>
            </a:endParaRPr>
          </a:p>
        </p:txBody>
      </p:sp>
      <p:sp>
        <p:nvSpPr>
          <p:cNvPr id="227" name="CustomShape 2"/>
          <p:cNvSpPr/>
          <p:nvPr/>
        </p:nvSpPr>
        <p:spPr>
          <a:xfrm>
            <a:off x="503640" y="1295280"/>
            <a:ext cx="9055080" cy="48420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Embedded Linux is popular because it's open-source, flexible, and cost-effective.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It has a strong community of support.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It's easy to customize for specific applications.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Embedded Linux is a Linux operating system that runs on embedded systems, which are small computers with specific functions.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Embedded Linux is used in many devices, including smartphones, smart TVs, and cars. </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7" dur="indefinite" restart="never" nodeType="tmRoot">
          <p:childTnLst>
            <p:seq>
              <p:cTn id="8" dur="indefinite"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CustomShape 1"/>
          <p:cNvSpPr/>
          <p:nvPr/>
        </p:nvSpPr>
        <p:spPr>
          <a:xfrm>
            <a:off x="503640" y="30060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Process Management</a:t>
            </a:r>
            <a:endParaRPr b="0" lang="en-IN" sz="4400" spc="-1" strike="noStrike">
              <a:latin typeface="Arial"/>
            </a:endParaRPr>
          </a:p>
        </p:txBody>
      </p:sp>
      <p:sp>
        <p:nvSpPr>
          <p:cNvPr id="229" name="CustomShape 2"/>
          <p:cNvSpPr/>
          <p:nvPr/>
        </p:nvSpPr>
        <p:spPr>
          <a:xfrm>
            <a:off x="503640" y="1223280"/>
            <a:ext cx="9330840" cy="5960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134"/>
              </a:spcBef>
              <a:buClr>
                <a:srgbClr val="000000"/>
              </a:buClr>
              <a:buSzPct val="45000"/>
              <a:buFont typeface="Wingdings" charset="2"/>
              <a:buChar char=""/>
            </a:pPr>
            <a:r>
              <a:rPr b="0" lang="en-IN" sz="2800" spc="-1" strike="noStrike">
                <a:solidFill>
                  <a:srgbClr val="000000"/>
                </a:solidFill>
                <a:latin typeface="Times New Roman"/>
                <a:ea typeface="DejaVu Sans"/>
              </a:rPr>
              <a:t>The program which is under execution is called as process.</a:t>
            </a: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marL="432000" indent="-308160">
              <a:lnSpc>
                <a:spcPct val="100000"/>
              </a:lnSpc>
              <a:spcBef>
                <a:spcPts val="1134"/>
              </a:spcBef>
              <a:buClr>
                <a:srgbClr val="000000"/>
              </a:buClr>
              <a:buSzPct val="45000"/>
              <a:buFont typeface="Wingdings" charset="2"/>
              <a:buChar char=""/>
            </a:pPr>
            <a:r>
              <a:rPr b="0" lang="en-IN" sz="2800" spc="-1" strike="noStrike">
                <a:solidFill>
                  <a:srgbClr val="000000"/>
                </a:solidFill>
                <a:latin typeface="Times New Roman"/>
                <a:ea typeface="DejaVu Sans"/>
              </a:rPr>
              <a:t>Running more than one process is possible under multiprocessing.</a:t>
            </a:r>
            <a:endParaRPr b="0" lang="en-IN" sz="2800" spc="-1" strike="noStrike">
              <a:latin typeface="Arial"/>
            </a:endParaRPr>
          </a:p>
          <a:p>
            <a:pPr marL="432000" indent="-308160">
              <a:lnSpc>
                <a:spcPct val="100000"/>
              </a:lnSpc>
              <a:spcBef>
                <a:spcPts val="1134"/>
              </a:spcBef>
              <a:buClr>
                <a:srgbClr val="000000"/>
              </a:buClr>
              <a:buSzPct val="45000"/>
              <a:buFont typeface="Wingdings" charset="2"/>
              <a:buChar char=""/>
            </a:pPr>
            <a:r>
              <a:rPr b="0" lang="en-IN" sz="2800" spc="-1" strike="noStrike">
                <a:solidFill>
                  <a:srgbClr val="000000"/>
                </a:solidFill>
                <a:latin typeface="Times New Roman"/>
                <a:ea typeface="DejaVu Sans"/>
              </a:rPr>
              <a:t>Process manager will take care about all of the processes.</a:t>
            </a: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a:p>
            <a:pPr>
              <a:lnSpc>
                <a:spcPct val="100000"/>
              </a:lnSpc>
              <a:spcBef>
                <a:spcPts val="1134"/>
              </a:spcBef>
            </a:pPr>
            <a:endParaRPr b="0" lang="en-IN" sz="2800" spc="-1" strike="noStrike">
              <a:latin typeface="Arial"/>
            </a:endParaRPr>
          </a:p>
        </p:txBody>
      </p:sp>
      <p:graphicFrame>
        <p:nvGraphicFramePr>
          <p:cNvPr id="230" name="Table 3"/>
          <p:cNvGraphicFramePr/>
          <p:nvPr/>
        </p:nvGraphicFramePr>
        <p:xfrm>
          <a:off x="3215520" y="2314080"/>
          <a:ext cx="1218960" cy="1314000"/>
        </p:xfrm>
        <a:graphic>
          <a:graphicData uri="http://schemas.openxmlformats.org/drawingml/2006/table">
            <a:tbl>
              <a:tblPr/>
              <a:tblGrid>
                <a:gridCol w="1219320"/>
              </a:tblGrid>
              <a:tr h="438120">
                <a:tc>
                  <a:txBody>
                    <a:bodyPr lIns="90000" rIns="90000"/>
                    <a:p>
                      <a:pPr algn="ctr">
                        <a:lnSpc>
                          <a:spcPct val="100000"/>
                        </a:lnSpc>
                      </a:pPr>
                      <a:r>
                        <a:rPr b="0" lang="en-IN" sz="1800" spc="-1" strike="noStrike">
                          <a:latin typeface="Arial"/>
                        </a:rPr>
                        <a:t>a.out</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438120">
                <a:tc>
                  <a:txBody>
                    <a:bodyPr lIns="90000" rIns="90000"/>
                    <a:p>
                      <a:pPr>
                        <a:lnSpc>
                          <a:spcPct val="100000"/>
                        </a:lnSpc>
                      </a:pPr>
                      <a:r>
                        <a:rPr b="0" lang="en-IN" sz="1800" spc="-1" strike="noStrike">
                          <a:latin typeface="Arial"/>
                        </a:rPr>
                        <a:t>    </a:t>
                      </a:r>
                      <a:r>
                        <a:rPr b="0" lang="en-IN" sz="1800" spc="-1" strike="noStrike">
                          <a:latin typeface="Arial"/>
                        </a:rPr>
                        <a:t>P2.exe</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38120">
                <a:tc>
                  <a:txBody>
                    <a:bodyPr lIns="90000" rIns="90000"/>
                    <a:p>
                      <a:pPr>
                        <a:lnSpc>
                          <a:spcPct val="100000"/>
                        </a:lnSpc>
                      </a:pPr>
                      <a:r>
                        <a:rPr b="0" lang="en-IN" sz="1800" spc="-1" strike="noStrike">
                          <a:latin typeface="Arial"/>
                        </a:rPr>
                        <a:t>    </a:t>
                      </a:r>
                      <a:r>
                        <a:rPr b="0" lang="en-IN" sz="1800" spc="-1" strike="noStrike">
                          <a:latin typeface="Arial"/>
                        </a:rPr>
                        <a:t>P3.exe</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graphicFrame>
        <p:nvGraphicFramePr>
          <p:cNvPr id="231" name="Table 4"/>
          <p:cNvGraphicFramePr/>
          <p:nvPr/>
        </p:nvGraphicFramePr>
        <p:xfrm>
          <a:off x="3200400" y="3601080"/>
          <a:ext cx="1263600" cy="358920"/>
        </p:xfrm>
        <a:graphic>
          <a:graphicData uri="http://schemas.openxmlformats.org/drawingml/2006/table">
            <a:tbl>
              <a:tblPr/>
              <a:tblGrid>
                <a:gridCol w="1263960"/>
              </a:tblGrid>
              <a:tr h="359280">
                <a:tc>
                  <a:txBody>
                    <a:bodyPr lIns="90000" rIns="90000"/>
                    <a:p>
                      <a:pPr algn="ctr">
                        <a:lnSpc>
                          <a:spcPct val="100000"/>
                        </a:lnSpc>
                      </a:pPr>
                      <a:r>
                        <a:rPr b="0" lang="en-IN" sz="1800" spc="-1" strike="noStrike">
                          <a:latin typeface="Arial"/>
                        </a:rPr>
                        <a:t>RAM</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009933"/>
                    </a:solidFill>
                  </a:tcPr>
                </a:tc>
              </a:tr>
            </a:tbl>
          </a:graphicData>
        </a:graphic>
      </p:graphicFrame>
      <p:graphicFrame>
        <p:nvGraphicFramePr>
          <p:cNvPr id="232" name="Table 5"/>
          <p:cNvGraphicFramePr/>
          <p:nvPr/>
        </p:nvGraphicFramePr>
        <p:xfrm>
          <a:off x="952560" y="2811240"/>
          <a:ext cx="791640" cy="979560"/>
        </p:xfrm>
        <a:graphic>
          <a:graphicData uri="http://schemas.openxmlformats.org/drawingml/2006/table">
            <a:tbl>
              <a:tblPr/>
              <a:tblGrid>
                <a:gridCol w="792000"/>
              </a:tblGrid>
              <a:tr h="360720">
                <a:tc>
                  <a:txBody>
                    <a:bodyPr lIns="90000" rIns="90000"/>
                    <a:p>
                      <a:pPr>
                        <a:lnSpc>
                          <a:spcPct val="100000"/>
                        </a:lnSpc>
                      </a:pPr>
                      <a:r>
                        <a:rPr b="0" lang="en-IN" sz="1800" spc="-1" strike="noStrike">
                          <a:latin typeface="Arial"/>
                        </a:rPr>
                        <a:t>a.out</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618840">
                <a:tc>
                  <a:txBody>
                    <a:bodyPr lIns="90000" rIns="90000"/>
                    <a:p>
                      <a:pPr>
                        <a:lnSpc>
                          <a:spcPct val="100000"/>
                        </a:lnSpc>
                      </a:pPr>
                      <a:r>
                        <a:rPr b="0" lang="en-IN" sz="1800" spc="-1" strike="noStrike">
                          <a:latin typeface="Arial"/>
                        </a:rPr>
                        <a:t>S1.txt</a:t>
                      </a:r>
                      <a:endParaRPr b="0" lang="en-IN" sz="1800" spc="-1" strike="noStrike">
                        <a:latin typeface="Arial"/>
                      </a:endParaRPr>
                    </a:p>
                    <a:p>
                      <a:pPr>
                        <a:lnSpc>
                          <a:spcPct val="100000"/>
                        </a:lnSpc>
                      </a:pP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graphicFrame>
        <p:nvGraphicFramePr>
          <p:cNvPr id="233" name="Table 6"/>
          <p:cNvGraphicFramePr/>
          <p:nvPr/>
        </p:nvGraphicFramePr>
        <p:xfrm>
          <a:off x="608400" y="3860640"/>
          <a:ext cx="1670760" cy="603360"/>
        </p:xfrm>
        <a:graphic>
          <a:graphicData uri="http://schemas.openxmlformats.org/drawingml/2006/table">
            <a:tbl>
              <a:tblPr/>
              <a:tblGrid>
                <a:gridCol w="1671120"/>
              </a:tblGrid>
              <a:tr h="603720">
                <a:tc>
                  <a:txBody>
                    <a:bodyPr lIns="90000" rIns="90000"/>
                    <a:p>
                      <a:pPr algn="ctr">
                        <a:lnSpc>
                          <a:spcPct val="100000"/>
                        </a:lnSpc>
                      </a:pPr>
                      <a:r>
                        <a:rPr b="0" lang="en-IN" sz="1800" spc="-1" strike="noStrike">
                          <a:latin typeface="Arial"/>
                        </a:rPr>
                        <a:t>Secondary memory</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add58a"/>
                    </a:solidFill>
                  </a:tcPr>
                </a:tc>
              </a:tr>
            </a:tbl>
          </a:graphicData>
        </a:graphic>
      </p:graphicFrame>
      <p:graphicFrame>
        <p:nvGraphicFramePr>
          <p:cNvPr id="234" name="Table 7"/>
          <p:cNvGraphicFramePr/>
          <p:nvPr/>
        </p:nvGraphicFramePr>
        <p:xfrm>
          <a:off x="5835600" y="2291040"/>
          <a:ext cx="1256400" cy="1115280"/>
        </p:xfrm>
        <a:graphic>
          <a:graphicData uri="http://schemas.openxmlformats.org/drawingml/2006/table">
            <a:tbl>
              <a:tblPr/>
              <a:tblGrid>
                <a:gridCol w="1256760"/>
              </a:tblGrid>
              <a:tr h="1115640">
                <a:tc>
                  <a:txBody>
                    <a:bodyPr lIns="90000" rIns="90000"/>
                    <a:p>
                      <a:pPr>
                        <a:lnSpc>
                          <a:spcPct val="100000"/>
                        </a:lnSpc>
                      </a:pPr>
                      <a:r>
                        <a:rPr b="0" lang="en-IN" sz="1800" spc="-1" strike="noStrike">
                          <a:latin typeface="Arial"/>
                        </a:rPr>
                        <a:t>This the process</a:t>
                      </a:r>
                      <a:endParaRPr b="0" lang="en-IN" sz="1800" spc="-1" strike="noStrike">
                        <a:latin typeface="Arial"/>
                      </a:endParaRPr>
                    </a:p>
                    <a:p>
                      <a:pPr>
                        <a:lnSpc>
                          <a:spcPct val="100000"/>
                        </a:lnSpc>
                      </a:pPr>
                      <a:r>
                        <a:rPr b="0" lang="en-IN" sz="1800" spc="-1" strike="noStrike">
                          <a:latin typeface="Arial"/>
                        </a:rPr>
                        <a:t>(executing   program)</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pic>
        <p:nvPicPr>
          <p:cNvPr id="235" name="" descr=""/>
          <p:cNvPicPr/>
          <p:nvPr/>
        </p:nvPicPr>
        <p:blipFill>
          <a:blip r:embed="rId1"/>
          <a:stretch/>
        </p:blipFill>
        <p:spPr>
          <a:xfrm rot="20670600">
            <a:off x="1360800" y="2138760"/>
            <a:ext cx="2108520" cy="784080"/>
          </a:xfrm>
          <a:prstGeom prst="rect">
            <a:avLst/>
          </a:prstGeom>
          <a:ln>
            <a:noFill/>
          </a:ln>
        </p:spPr>
      </p:pic>
      <p:sp>
        <p:nvSpPr>
          <p:cNvPr id="236" name="CustomShape 8"/>
          <p:cNvSpPr/>
          <p:nvPr/>
        </p:nvSpPr>
        <p:spPr>
          <a:xfrm>
            <a:off x="4536000" y="2520000"/>
            <a:ext cx="1298160" cy="142560"/>
          </a:xfrm>
          <a:custGeom>
            <a:avLst/>
            <a:gdLst/>
            <a:ahLst/>
            <a:rect l="l" t="t" r="r" b="b"/>
            <a:pathLst>
              <a:path w="3612" h="402">
                <a:moveTo>
                  <a:pt x="0" y="100"/>
                </a:moveTo>
                <a:lnTo>
                  <a:pt x="2708" y="100"/>
                </a:lnTo>
                <a:lnTo>
                  <a:pt x="2708" y="0"/>
                </a:lnTo>
                <a:lnTo>
                  <a:pt x="3611" y="200"/>
                </a:lnTo>
                <a:lnTo>
                  <a:pt x="2708" y="401"/>
                </a:lnTo>
                <a:lnTo>
                  <a:pt x="2708" y="300"/>
                </a:lnTo>
                <a:lnTo>
                  <a:pt x="0" y="300"/>
                </a:lnTo>
                <a:lnTo>
                  <a:pt x="0" y="100"/>
                </a:lnTo>
              </a:path>
            </a:pathLst>
          </a:custGeom>
          <a:solidFill>
            <a:srgbClr val="729fcf"/>
          </a:solidFill>
          <a:ln>
            <a:solidFill>
              <a:srgbClr val="3465a4"/>
            </a:solidFill>
          </a:ln>
        </p:spPr>
        <p:style>
          <a:lnRef idx="0"/>
          <a:fillRef idx="0"/>
          <a:effectRef idx="0"/>
          <a:fontRef idx="minor"/>
        </p:style>
      </p:sp>
    </p:spTree>
  </p:cSld>
  <p:timing>
    <p:tnLst>
      <p:par>
        <p:cTn id="9" dur="indefinite" restart="never" nodeType="tmRoot">
          <p:childTnLst>
            <p:seq>
              <p:cTn id="10" dur="indefinite"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CustomShape 1"/>
          <p:cNvSpPr/>
          <p:nvPr/>
        </p:nvSpPr>
        <p:spPr>
          <a:xfrm>
            <a:off x="503640" y="143280"/>
            <a:ext cx="9055080" cy="10638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multiprocessing </a:t>
            </a:r>
            <a:endParaRPr b="0" lang="en-IN" sz="4400" spc="-1" strike="noStrike">
              <a:latin typeface="Arial"/>
            </a:endParaRPr>
          </a:p>
        </p:txBody>
      </p:sp>
      <p:sp>
        <p:nvSpPr>
          <p:cNvPr id="238" name="CustomShape 2"/>
          <p:cNvSpPr/>
          <p:nvPr/>
        </p:nvSpPr>
        <p:spPr>
          <a:xfrm>
            <a:off x="359640" y="1223280"/>
            <a:ext cx="9055080" cy="5672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Where there is need of handling the multiprocessing environment, then there is a need of OS.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When 1 cpu is available, but multiple processes are ready to execute, then process manager will take care.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ff"/>
                </a:solidFill>
                <a:latin typeface="Arial"/>
                <a:ea typeface="DejaVu Sans"/>
              </a:rPr>
              <a:t>multiprocessing basically 2 types.</a:t>
            </a:r>
            <a:endParaRPr b="0" lang="en-IN" sz="3200" spc="-1" strike="noStrike">
              <a:latin typeface="Arial"/>
            </a:endParaRPr>
          </a:p>
          <a:p>
            <a:pPr lvl="2" marL="1296000" indent="-272160">
              <a:lnSpc>
                <a:spcPct val="100000"/>
              </a:lnSpc>
              <a:spcBef>
                <a:spcPts val="850"/>
              </a:spcBef>
              <a:buClr>
                <a:srgbClr val="000000"/>
              </a:buClr>
              <a:buSzPct val="45000"/>
              <a:buFont typeface="Wingdings" charset="2"/>
              <a:buChar char=""/>
            </a:pPr>
            <a:r>
              <a:rPr b="0" lang="en-IN" sz="2800" spc="-1" strike="noStrike">
                <a:solidFill>
                  <a:srgbClr val="000000"/>
                </a:solidFill>
                <a:latin typeface="Times New Roman"/>
                <a:ea typeface="DejaVu Sans"/>
              </a:rPr>
              <a:t>* H/W multiprocessing.</a:t>
            </a:r>
            <a:endParaRPr b="0" lang="en-IN" sz="2800" spc="-1" strike="noStrike">
              <a:latin typeface="Arial"/>
            </a:endParaRPr>
          </a:p>
          <a:p>
            <a:pPr lvl="2" marL="1296000" indent="-272160">
              <a:lnSpc>
                <a:spcPct val="100000"/>
              </a:lnSpc>
              <a:spcBef>
                <a:spcPts val="850"/>
              </a:spcBef>
              <a:buClr>
                <a:srgbClr val="000000"/>
              </a:buClr>
              <a:buSzPct val="45000"/>
              <a:buFont typeface="Wingdings" charset="2"/>
              <a:buChar char=""/>
            </a:pPr>
            <a:r>
              <a:rPr b="0" lang="en-IN" sz="2800" spc="-1" strike="noStrike">
                <a:solidFill>
                  <a:srgbClr val="000000"/>
                </a:solidFill>
                <a:latin typeface="Times New Roman"/>
                <a:ea typeface="DejaVu Sans"/>
              </a:rPr>
              <a:t>* S/W multiprocessing.</a:t>
            </a:r>
            <a:endParaRPr b="0" lang="en-IN" sz="2800" spc="-1" strike="noStrike">
              <a:latin typeface="Arial"/>
            </a:endParaRPr>
          </a:p>
        </p:txBody>
      </p:sp>
      <p:pic>
        <p:nvPicPr>
          <p:cNvPr id="239" name="" descr=""/>
          <p:cNvPicPr/>
          <p:nvPr/>
        </p:nvPicPr>
        <p:blipFill>
          <a:blip r:embed="rId1"/>
          <a:stretch/>
        </p:blipFill>
        <p:spPr>
          <a:xfrm>
            <a:off x="7199280" y="287280"/>
            <a:ext cx="1052640" cy="847800"/>
          </a:xfrm>
          <a:prstGeom prst="rect">
            <a:avLst/>
          </a:prstGeom>
          <a:ln>
            <a:noFill/>
          </a:ln>
        </p:spPr>
      </p:pic>
    </p:spTree>
  </p:cSld>
  <p:timing>
    <p:tnLst>
      <p:par>
        <p:cTn id="11" dur="indefinite" restart="never" nodeType="tmRoot">
          <p:childTnLst>
            <p:seq>
              <p:cTn id="12" dur="indefinite"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CustomShape 1"/>
          <p:cNvSpPr/>
          <p:nvPr/>
        </p:nvSpPr>
        <p:spPr>
          <a:xfrm>
            <a:off x="431640" y="430920"/>
            <a:ext cx="9055080" cy="979200"/>
          </a:xfrm>
          <a:prstGeom prst="rect">
            <a:avLst/>
          </a:prstGeom>
          <a:noFill/>
          <a:ln>
            <a:noFill/>
          </a:ln>
        </p:spPr>
        <p:style>
          <a:lnRef idx="0"/>
          <a:fillRef idx="0"/>
          <a:effectRef idx="0"/>
          <a:fontRef idx="minor"/>
        </p:style>
        <p:txBody>
          <a:bodyPr lIns="0" rIns="0" tIns="0" bIns="0" anchor="ctr"/>
          <a:p>
            <a:pPr algn="ctr">
              <a:lnSpc>
                <a:spcPct val="100000"/>
              </a:lnSpc>
            </a:pPr>
            <a:r>
              <a:rPr b="0" lang="en-IN" sz="3200" spc="-1" strike="noStrike">
                <a:solidFill>
                  <a:srgbClr val="a3238e"/>
                </a:solidFill>
                <a:latin typeface="Arial"/>
                <a:ea typeface="DejaVu Sans"/>
              </a:rPr>
              <a:t>H/w multiprocessing        S/w multiprocessing</a:t>
            </a:r>
            <a:endParaRPr b="0" lang="en-IN" sz="3200" spc="-1" strike="noStrike">
              <a:latin typeface="Arial"/>
            </a:endParaRPr>
          </a:p>
        </p:txBody>
      </p:sp>
      <p:sp>
        <p:nvSpPr>
          <p:cNvPr id="241" name="CustomShape 2"/>
          <p:cNvSpPr/>
          <p:nvPr/>
        </p:nvSpPr>
        <p:spPr>
          <a:xfrm>
            <a:off x="503640" y="1439280"/>
            <a:ext cx="4410720" cy="30078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Cost  is High</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No role of Process manager.</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Performance is Good</a:t>
            </a:r>
            <a:endParaRPr b="0" lang="en-IN" sz="3200" spc="-1" strike="noStrike">
              <a:latin typeface="Arial"/>
            </a:endParaRPr>
          </a:p>
        </p:txBody>
      </p:sp>
      <p:sp>
        <p:nvSpPr>
          <p:cNvPr id="242" name="CustomShape 3"/>
          <p:cNvSpPr/>
          <p:nvPr/>
        </p:nvSpPr>
        <p:spPr>
          <a:xfrm>
            <a:off x="5151960" y="1439280"/>
            <a:ext cx="4410720" cy="2936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Cost is Less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Process manager is playing an important role.</a:t>
            </a:r>
            <a:endParaRPr b="0" lang="en-IN" sz="3200" spc="-1" strike="noStrike">
              <a:latin typeface="Arial"/>
            </a:endParaRPr>
          </a:p>
          <a:p>
            <a:pPr marL="432000" indent="-308160">
              <a:lnSpc>
                <a:spcPct val="100000"/>
              </a:lnSpc>
              <a:spcBef>
                <a:spcPts val="1134"/>
              </a:spcBef>
              <a:buClr>
                <a:srgbClr val="000000"/>
              </a:buClr>
              <a:buSzPct val="45000"/>
              <a:buFont typeface="Wingdings" charset="2"/>
              <a:buChar char=""/>
            </a:pPr>
            <a:r>
              <a:rPr b="0" lang="en-IN" sz="3200" spc="-1" strike="noStrike">
                <a:solidFill>
                  <a:srgbClr val="000000"/>
                </a:solidFill>
                <a:latin typeface="Times New Roman"/>
                <a:ea typeface="DejaVu Sans"/>
              </a:rPr>
              <a:t>Performance is Slow.</a:t>
            </a:r>
            <a:endParaRPr b="0" lang="en-IN" sz="3200" spc="-1" strike="noStrike">
              <a:latin typeface="Arial"/>
            </a:endParaRPr>
          </a:p>
        </p:txBody>
      </p:sp>
      <p:sp>
        <p:nvSpPr>
          <p:cNvPr id="243" name="CustomShape 4"/>
          <p:cNvSpPr/>
          <p:nvPr/>
        </p:nvSpPr>
        <p:spPr>
          <a:xfrm>
            <a:off x="35964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App1</a:t>
            </a:r>
            <a:endParaRPr b="0" lang="en-IN" sz="1800" spc="-1" strike="noStrike">
              <a:latin typeface="Arial"/>
            </a:endParaRPr>
          </a:p>
        </p:txBody>
      </p:sp>
      <p:sp>
        <p:nvSpPr>
          <p:cNvPr id="244" name="CustomShape 5"/>
          <p:cNvSpPr/>
          <p:nvPr/>
        </p:nvSpPr>
        <p:spPr>
          <a:xfrm>
            <a:off x="151164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App2</a:t>
            </a:r>
            <a:endParaRPr b="0" lang="en-IN" sz="1800" spc="-1" strike="noStrike">
              <a:latin typeface="Arial"/>
            </a:endParaRPr>
          </a:p>
        </p:txBody>
      </p:sp>
      <p:sp>
        <p:nvSpPr>
          <p:cNvPr id="245" name="CustomShape 6"/>
          <p:cNvSpPr/>
          <p:nvPr/>
        </p:nvSpPr>
        <p:spPr>
          <a:xfrm>
            <a:off x="266364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App3</a:t>
            </a:r>
            <a:endParaRPr b="0" lang="en-IN" sz="1800" spc="-1" strike="noStrike">
              <a:latin typeface="Arial"/>
            </a:endParaRPr>
          </a:p>
        </p:txBody>
      </p:sp>
      <p:sp>
        <p:nvSpPr>
          <p:cNvPr id="246" name="CustomShape 7"/>
          <p:cNvSpPr/>
          <p:nvPr/>
        </p:nvSpPr>
        <p:spPr>
          <a:xfrm>
            <a:off x="359640" y="5327640"/>
            <a:ext cx="3295800" cy="488160"/>
          </a:xfrm>
          <a:prstGeom prst="rect">
            <a:avLst/>
          </a:prstGeom>
          <a:solidFill>
            <a:srgbClr val="fff685"/>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OS</a:t>
            </a:r>
            <a:endParaRPr b="0" lang="en-IN" sz="1800" spc="-1" strike="noStrike">
              <a:latin typeface="Arial"/>
            </a:endParaRPr>
          </a:p>
        </p:txBody>
      </p:sp>
      <p:sp>
        <p:nvSpPr>
          <p:cNvPr id="247" name="CustomShape 8"/>
          <p:cNvSpPr/>
          <p:nvPr/>
        </p:nvSpPr>
        <p:spPr>
          <a:xfrm>
            <a:off x="359640" y="648036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CPU</a:t>
            </a:r>
            <a:endParaRPr b="0" lang="en-IN" sz="1800" spc="-1" strike="noStrike">
              <a:latin typeface="Arial"/>
            </a:endParaRPr>
          </a:p>
        </p:txBody>
      </p:sp>
      <p:sp>
        <p:nvSpPr>
          <p:cNvPr id="248" name="CustomShape 9"/>
          <p:cNvSpPr/>
          <p:nvPr/>
        </p:nvSpPr>
        <p:spPr>
          <a:xfrm>
            <a:off x="1511640" y="648036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CPU</a:t>
            </a:r>
            <a:endParaRPr b="0" lang="en-IN" sz="1800" spc="-1" strike="noStrike">
              <a:latin typeface="Arial"/>
            </a:endParaRPr>
          </a:p>
        </p:txBody>
      </p:sp>
      <p:sp>
        <p:nvSpPr>
          <p:cNvPr id="249" name="CustomShape 10"/>
          <p:cNvSpPr/>
          <p:nvPr/>
        </p:nvSpPr>
        <p:spPr>
          <a:xfrm>
            <a:off x="2663640" y="648036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CPU</a:t>
            </a:r>
            <a:endParaRPr b="0" lang="en-IN" sz="1800" spc="-1" strike="noStrike">
              <a:latin typeface="Arial"/>
            </a:endParaRPr>
          </a:p>
        </p:txBody>
      </p:sp>
      <p:sp>
        <p:nvSpPr>
          <p:cNvPr id="250" name="CustomShape 11"/>
          <p:cNvSpPr/>
          <p:nvPr/>
        </p:nvSpPr>
        <p:spPr>
          <a:xfrm>
            <a:off x="547128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App1</a:t>
            </a:r>
            <a:endParaRPr b="0" lang="en-IN" sz="1800" spc="-1" strike="noStrike">
              <a:latin typeface="Arial"/>
            </a:endParaRPr>
          </a:p>
        </p:txBody>
      </p:sp>
      <p:sp>
        <p:nvSpPr>
          <p:cNvPr id="251" name="CustomShape 12"/>
          <p:cNvSpPr/>
          <p:nvPr/>
        </p:nvSpPr>
        <p:spPr>
          <a:xfrm>
            <a:off x="662328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App2</a:t>
            </a:r>
            <a:endParaRPr b="0" lang="en-IN" sz="1800" spc="-1" strike="noStrike">
              <a:latin typeface="Arial"/>
            </a:endParaRPr>
          </a:p>
        </p:txBody>
      </p:sp>
      <p:sp>
        <p:nvSpPr>
          <p:cNvPr id="252" name="CustomShape 13"/>
          <p:cNvSpPr/>
          <p:nvPr/>
        </p:nvSpPr>
        <p:spPr>
          <a:xfrm>
            <a:off x="7775280" y="431892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App3</a:t>
            </a:r>
            <a:endParaRPr b="0" lang="en-IN" sz="1800" spc="-1" strike="noStrike">
              <a:latin typeface="Arial"/>
            </a:endParaRPr>
          </a:p>
        </p:txBody>
      </p:sp>
      <p:sp>
        <p:nvSpPr>
          <p:cNvPr id="253" name="CustomShape 14"/>
          <p:cNvSpPr/>
          <p:nvPr/>
        </p:nvSpPr>
        <p:spPr>
          <a:xfrm>
            <a:off x="5471280" y="5327640"/>
            <a:ext cx="3295800" cy="488160"/>
          </a:xfrm>
          <a:prstGeom prst="rect">
            <a:avLst/>
          </a:prstGeom>
          <a:solidFill>
            <a:srgbClr val="fff685"/>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OS</a:t>
            </a:r>
            <a:endParaRPr b="0" lang="en-IN" sz="1800" spc="-1" strike="noStrike">
              <a:latin typeface="Arial"/>
            </a:endParaRPr>
          </a:p>
        </p:txBody>
      </p:sp>
      <p:sp>
        <p:nvSpPr>
          <p:cNvPr id="254" name="CustomShape 15"/>
          <p:cNvSpPr/>
          <p:nvPr/>
        </p:nvSpPr>
        <p:spPr>
          <a:xfrm>
            <a:off x="6623280" y="6480360"/>
            <a:ext cx="992160" cy="416160"/>
          </a:xfrm>
          <a:prstGeom prst="rect">
            <a:avLst/>
          </a:prstGeom>
          <a:solidFill>
            <a:srgbClr val="c2e0ae"/>
          </a:solidFill>
          <a:ln>
            <a:solidFill>
              <a:srgbClr val="000000"/>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CPU</a:t>
            </a:r>
            <a:endParaRPr b="0" lang="en-IN" sz="1800" spc="-1" strike="noStrike">
              <a:latin typeface="Arial"/>
            </a:endParaRPr>
          </a:p>
        </p:txBody>
      </p:sp>
      <p:sp>
        <p:nvSpPr>
          <p:cNvPr id="255" name="Line 16"/>
          <p:cNvSpPr/>
          <p:nvPr/>
        </p:nvSpPr>
        <p:spPr>
          <a:xfrm>
            <a:off x="791640" y="4750920"/>
            <a:ext cx="432000" cy="576000"/>
          </a:xfrm>
          <a:prstGeom prst="line">
            <a:avLst/>
          </a:prstGeom>
          <a:ln>
            <a:solidFill>
              <a:srgbClr val="000000"/>
            </a:solidFill>
            <a:tailEnd len="med" type="triangle" w="med"/>
          </a:ln>
        </p:spPr>
        <p:style>
          <a:lnRef idx="0"/>
          <a:fillRef idx="0"/>
          <a:effectRef idx="0"/>
          <a:fontRef idx="minor"/>
        </p:style>
      </p:sp>
      <p:sp>
        <p:nvSpPr>
          <p:cNvPr id="256" name="Line 17"/>
          <p:cNvSpPr/>
          <p:nvPr/>
        </p:nvSpPr>
        <p:spPr>
          <a:xfrm>
            <a:off x="2015640" y="4750920"/>
            <a:ext cx="360" cy="576000"/>
          </a:xfrm>
          <a:prstGeom prst="line">
            <a:avLst/>
          </a:prstGeom>
          <a:ln>
            <a:solidFill>
              <a:srgbClr val="000000"/>
            </a:solidFill>
            <a:tailEnd len="med" type="triangle" w="med"/>
          </a:ln>
        </p:spPr>
        <p:style>
          <a:lnRef idx="0"/>
          <a:fillRef idx="0"/>
          <a:effectRef idx="0"/>
          <a:fontRef idx="minor"/>
        </p:style>
      </p:sp>
      <p:sp>
        <p:nvSpPr>
          <p:cNvPr id="257" name="Line 18"/>
          <p:cNvSpPr/>
          <p:nvPr/>
        </p:nvSpPr>
        <p:spPr>
          <a:xfrm flipH="1">
            <a:off x="2879640" y="4750920"/>
            <a:ext cx="288000" cy="576000"/>
          </a:xfrm>
          <a:prstGeom prst="line">
            <a:avLst/>
          </a:prstGeom>
          <a:ln>
            <a:solidFill>
              <a:srgbClr val="000000"/>
            </a:solidFill>
            <a:tailEnd len="med" type="triangle" w="med"/>
          </a:ln>
        </p:spPr>
        <p:style>
          <a:lnRef idx="0"/>
          <a:fillRef idx="0"/>
          <a:effectRef idx="0"/>
          <a:fontRef idx="minor"/>
        </p:style>
      </p:sp>
      <p:sp>
        <p:nvSpPr>
          <p:cNvPr id="258" name="Line 19"/>
          <p:cNvSpPr/>
          <p:nvPr/>
        </p:nvSpPr>
        <p:spPr>
          <a:xfrm>
            <a:off x="863640" y="5830920"/>
            <a:ext cx="360" cy="648000"/>
          </a:xfrm>
          <a:prstGeom prst="line">
            <a:avLst/>
          </a:prstGeom>
          <a:ln>
            <a:solidFill>
              <a:srgbClr val="000000"/>
            </a:solidFill>
            <a:tailEnd len="med" type="triangle" w="med"/>
          </a:ln>
        </p:spPr>
        <p:style>
          <a:lnRef idx="0"/>
          <a:fillRef idx="0"/>
          <a:effectRef idx="0"/>
          <a:fontRef idx="minor"/>
        </p:style>
      </p:sp>
      <p:sp>
        <p:nvSpPr>
          <p:cNvPr id="259" name="Line 20"/>
          <p:cNvSpPr/>
          <p:nvPr/>
        </p:nvSpPr>
        <p:spPr>
          <a:xfrm>
            <a:off x="2087640" y="5830920"/>
            <a:ext cx="360" cy="648000"/>
          </a:xfrm>
          <a:prstGeom prst="line">
            <a:avLst/>
          </a:prstGeom>
          <a:ln>
            <a:solidFill>
              <a:srgbClr val="000000"/>
            </a:solidFill>
            <a:tailEnd len="med" type="triangle" w="med"/>
          </a:ln>
        </p:spPr>
        <p:style>
          <a:lnRef idx="0"/>
          <a:fillRef idx="0"/>
          <a:effectRef idx="0"/>
          <a:fontRef idx="minor"/>
        </p:style>
      </p:sp>
      <p:sp>
        <p:nvSpPr>
          <p:cNvPr id="260" name="Line 21"/>
          <p:cNvSpPr/>
          <p:nvPr/>
        </p:nvSpPr>
        <p:spPr>
          <a:xfrm>
            <a:off x="3167640" y="5830920"/>
            <a:ext cx="360" cy="648000"/>
          </a:xfrm>
          <a:prstGeom prst="line">
            <a:avLst/>
          </a:prstGeom>
          <a:ln>
            <a:solidFill>
              <a:srgbClr val="000000"/>
            </a:solidFill>
            <a:tailEnd len="med" type="triangle" w="med"/>
          </a:ln>
        </p:spPr>
        <p:style>
          <a:lnRef idx="0"/>
          <a:fillRef idx="0"/>
          <a:effectRef idx="0"/>
          <a:fontRef idx="minor"/>
        </p:style>
      </p:sp>
      <p:sp>
        <p:nvSpPr>
          <p:cNvPr id="261" name="Line 22"/>
          <p:cNvSpPr/>
          <p:nvPr/>
        </p:nvSpPr>
        <p:spPr>
          <a:xfrm>
            <a:off x="5975280" y="4750920"/>
            <a:ext cx="288000" cy="576000"/>
          </a:xfrm>
          <a:prstGeom prst="line">
            <a:avLst/>
          </a:prstGeom>
          <a:ln>
            <a:solidFill>
              <a:srgbClr val="000000"/>
            </a:solidFill>
            <a:tailEnd len="med" type="triangle" w="med"/>
          </a:ln>
        </p:spPr>
        <p:style>
          <a:lnRef idx="0"/>
          <a:fillRef idx="0"/>
          <a:effectRef idx="0"/>
          <a:fontRef idx="minor"/>
        </p:style>
      </p:sp>
      <p:sp>
        <p:nvSpPr>
          <p:cNvPr id="262" name="Line 23"/>
          <p:cNvSpPr/>
          <p:nvPr/>
        </p:nvSpPr>
        <p:spPr>
          <a:xfrm>
            <a:off x="7127280" y="4750920"/>
            <a:ext cx="360" cy="576000"/>
          </a:xfrm>
          <a:prstGeom prst="line">
            <a:avLst/>
          </a:prstGeom>
          <a:ln>
            <a:solidFill>
              <a:srgbClr val="000000"/>
            </a:solidFill>
            <a:tailEnd len="med" type="triangle" w="med"/>
          </a:ln>
        </p:spPr>
        <p:style>
          <a:lnRef idx="0"/>
          <a:fillRef idx="0"/>
          <a:effectRef idx="0"/>
          <a:fontRef idx="minor"/>
        </p:style>
      </p:sp>
      <p:sp>
        <p:nvSpPr>
          <p:cNvPr id="263" name="Line 24"/>
          <p:cNvSpPr/>
          <p:nvPr/>
        </p:nvSpPr>
        <p:spPr>
          <a:xfrm flipH="1">
            <a:off x="8063280" y="4750920"/>
            <a:ext cx="216000" cy="576000"/>
          </a:xfrm>
          <a:prstGeom prst="line">
            <a:avLst/>
          </a:prstGeom>
          <a:ln>
            <a:solidFill>
              <a:srgbClr val="000000"/>
            </a:solidFill>
            <a:tailEnd len="med" type="triangle" w="med"/>
          </a:ln>
        </p:spPr>
        <p:style>
          <a:lnRef idx="0"/>
          <a:fillRef idx="0"/>
          <a:effectRef idx="0"/>
          <a:fontRef idx="minor"/>
        </p:style>
      </p:sp>
      <p:sp>
        <p:nvSpPr>
          <p:cNvPr id="264" name="Line 25"/>
          <p:cNvSpPr/>
          <p:nvPr/>
        </p:nvSpPr>
        <p:spPr>
          <a:xfrm>
            <a:off x="7127280" y="5830920"/>
            <a:ext cx="360" cy="648000"/>
          </a:xfrm>
          <a:prstGeom prst="line">
            <a:avLst/>
          </a:prstGeom>
          <a:ln>
            <a:solidFill>
              <a:srgbClr val="000000"/>
            </a:solidFill>
            <a:tailEnd len="med" type="triangle" w="med"/>
          </a:ln>
        </p:spPr>
        <p:style>
          <a:lnRef idx="0"/>
          <a:fillRef idx="0"/>
          <a:effectRef idx="0"/>
          <a:fontRef idx="minor"/>
        </p:style>
      </p:sp>
      <p:sp>
        <p:nvSpPr>
          <p:cNvPr id="265" name="CustomShape 26"/>
          <p:cNvSpPr/>
          <p:nvPr/>
        </p:nvSpPr>
        <p:spPr>
          <a:xfrm>
            <a:off x="288000" y="7055280"/>
            <a:ext cx="395388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d1f63"/>
                </a:solidFill>
                <a:latin typeface="Arial"/>
                <a:ea typeface="DejaVu Sans"/>
              </a:rPr>
              <a:t>Many cpu’s for many apps</a:t>
            </a:r>
            <a:endParaRPr b="0" lang="en-IN" sz="1800" spc="-1" strike="noStrike">
              <a:latin typeface="Arial"/>
            </a:endParaRPr>
          </a:p>
        </p:txBody>
      </p:sp>
      <p:sp>
        <p:nvSpPr>
          <p:cNvPr id="266" name="CustomShape 27"/>
          <p:cNvSpPr/>
          <p:nvPr/>
        </p:nvSpPr>
        <p:spPr>
          <a:xfrm>
            <a:off x="5725800" y="7069680"/>
            <a:ext cx="3772080" cy="33048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d1f63"/>
                </a:solidFill>
                <a:latin typeface="Arial"/>
                <a:ea typeface="DejaVu Sans"/>
              </a:rPr>
              <a:t>single cpu for many apps</a:t>
            </a:r>
            <a:endParaRPr b="0" lang="en-IN" sz="1800" spc="-1" strike="noStrike">
              <a:latin typeface="Arial"/>
            </a:endParaRPr>
          </a:p>
        </p:txBody>
      </p:sp>
    </p:spTree>
  </p:cSld>
  <p:timing>
    <p:tnLst>
      <p:par>
        <p:cTn id="13" dur="indefinite" restart="never" nodeType="tmRoot">
          <p:childTnLst>
            <p:seq>
              <p:cTn id="14" dur="indefinite"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CustomShape 1"/>
          <p:cNvSpPr/>
          <p:nvPr/>
        </p:nvSpPr>
        <p:spPr>
          <a:xfrm>
            <a:off x="71640" y="287280"/>
            <a:ext cx="9775800" cy="7041240"/>
          </a:xfrm>
          <a:prstGeom prst="rect">
            <a:avLst/>
          </a:prstGeom>
          <a:noFill/>
          <a:ln>
            <a:noFill/>
          </a:ln>
        </p:spPr>
        <p:style>
          <a:lnRef idx="0"/>
          <a:fillRef idx="0"/>
          <a:effectRef idx="0"/>
          <a:fontRef idx="minor"/>
        </p:style>
        <p:txBody>
          <a:bodyPr lIns="90000" rIns="90000" tIns="45000" bIns="45000"/>
          <a:p>
            <a:pPr>
              <a:lnSpc>
                <a:spcPct val="100000"/>
              </a:lnSpc>
            </a:pPr>
            <a:r>
              <a:rPr b="1" lang="en-IN" sz="3200" spc="-1" strike="noStrike">
                <a:solidFill>
                  <a:srgbClr val="a3238e"/>
                </a:solidFill>
                <a:latin typeface="Times New Roman"/>
                <a:ea typeface="DejaVu Sans"/>
              </a:rPr>
              <a:t>CPU-bound jobs : </a:t>
            </a:r>
            <a:endParaRPr b="0" lang="en-IN" sz="3200" spc="-1" strike="noStrike">
              <a:latin typeface="Arial"/>
            </a:endParaRPr>
          </a:p>
          <a:p>
            <a:pPr>
              <a:lnSpc>
                <a:spcPct val="100000"/>
              </a:lnSpc>
            </a:pPr>
            <a:r>
              <a:rPr b="0" lang="en-IN" sz="2800" spc="-1" strike="noStrike">
                <a:solidFill>
                  <a:srgbClr val="0000ff"/>
                </a:solidFill>
                <a:latin typeface="Times New Roman"/>
                <a:ea typeface="DejaVu Sans"/>
              </a:rPr>
              <a:t>Definition: </a:t>
            </a:r>
            <a:r>
              <a:rPr b="0" lang="en-IN" sz="2800" spc="-1" strike="noStrike">
                <a:solidFill>
                  <a:srgbClr val="000000"/>
                </a:solidFill>
                <a:latin typeface="Times New Roman"/>
                <a:ea typeface="DejaVu Sans"/>
              </a:rPr>
              <a:t>Tasks that use a lot of CPU time, or spend more time in the running state </a:t>
            </a:r>
            <a:endParaRPr b="0" lang="en-IN" sz="2800" spc="-1" strike="noStrike">
              <a:latin typeface="Arial"/>
            </a:endParaRPr>
          </a:p>
          <a:p>
            <a:pPr>
              <a:lnSpc>
                <a:spcPct val="100000"/>
              </a:lnSpc>
            </a:pPr>
            <a:r>
              <a:rPr b="0" lang="en-IN" sz="2800" spc="-1" strike="noStrike">
                <a:solidFill>
                  <a:srgbClr val="0000ff"/>
                </a:solidFill>
                <a:latin typeface="Times New Roman"/>
                <a:ea typeface="DejaVu Sans"/>
              </a:rPr>
              <a:t>Examples: </a:t>
            </a:r>
            <a:r>
              <a:rPr b="0" lang="en-IN" sz="2800" spc="-1" strike="noStrike">
                <a:solidFill>
                  <a:srgbClr val="000000"/>
                </a:solidFill>
                <a:latin typeface="Times New Roman"/>
                <a:ea typeface="DejaVu Sans"/>
              </a:rPr>
              <a:t>Image resizing, complex calculations, data processing, photo editing, gaming, and video editing </a:t>
            </a:r>
            <a:endParaRPr b="0" lang="en-IN" sz="2800" spc="-1" strike="noStrike">
              <a:latin typeface="Arial"/>
            </a:endParaRPr>
          </a:p>
          <a:p>
            <a:pPr>
              <a:lnSpc>
                <a:spcPct val="100000"/>
              </a:lnSpc>
            </a:pPr>
            <a:r>
              <a:rPr b="0" lang="en-IN" sz="2800" spc="-1" strike="noStrike">
                <a:solidFill>
                  <a:srgbClr val="0000ff"/>
                </a:solidFill>
                <a:latin typeface="Times New Roman"/>
                <a:ea typeface="DejaVu Sans"/>
              </a:rPr>
              <a:t>Characteristics: </a:t>
            </a:r>
            <a:r>
              <a:rPr b="0" lang="en-IN" sz="2800" spc="-1" strike="noStrike">
                <a:solidFill>
                  <a:srgbClr val="000000"/>
                </a:solidFill>
                <a:latin typeface="Times New Roman"/>
                <a:ea typeface="DejaVu Sans"/>
              </a:rPr>
              <a:t>Limited by the CPU's processing power </a:t>
            </a:r>
            <a:endParaRPr b="0" lang="en-IN" sz="2800" spc="-1" strike="noStrike">
              <a:latin typeface="Arial"/>
            </a:endParaRPr>
          </a:p>
          <a:p>
            <a:pPr>
              <a:lnSpc>
                <a:spcPct val="100000"/>
              </a:lnSpc>
            </a:pPr>
            <a:r>
              <a:rPr b="1" lang="en-IN" sz="3200" spc="-1" strike="noStrike">
                <a:solidFill>
                  <a:srgbClr val="a3238e"/>
                </a:solidFill>
                <a:latin typeface="Times New Roman"/>
                <a:ea typeface="DejaVu Sans"/>
              </a:rPr>
              <a:t>I/O-bound jobs :</a:t>
            </a:r>
            <a:endParaRPr b="0" lang="en-IN" sz="3200" spc="-1" strike="noStrike">
              <a:latin typeface="Arial"/>
            </a:endParaRPr>
          </a:p>
          <a:p>
            <a:pPr>
              <a:lnSpc>
                <a:spcPct val="100000"/>
              </a:lnSpc>
            </a:pPr>
            <a:r>
              <a:rPr b="0" lang="en-IN" sz="2800" spc="-1" strike="noStrike">
                <a:solidFill>
                  <a:srgbClr val="0000ff"/>
                </a:solidFill>
                <a:latin typeface="Times New Roman"/>
                <a:ea typeface="DejaVu Sans"/>
              </a:rPr>
              <a:t>Definition: </a:t>
            </a:r>
            <a:r>
              <a:rPr b="0" lang="en-IN" sz="2800" spc="-1" strike="noStrike">
                <a:solidFill>
                  <a:srgbClr val="000000"/>
                </a:solidFill>
                <a:latin typeface="Times New Roman"/>
                <a:ea typeface="DejaVu Sans"/>
              </a:rPr>
              <a:t>Tasks that use a lot of I/O time, or spend more time in the waiting state</a:t>
            </a:r>
            <a:r>
              <a:rPr b="0" lang="en-IN" sz="2800" spc="-1" strike="noStrike">
                <a:solidFill>
                  <a:srgbClr val="0000ff"/>
                </a:solidFill>
                <a:latin typeface="Times New Roman"/>
                <a:ea typeface="DejaVu Sans"/>
              </a:rPr>
              <a:t> </a:t>
            </a:r>
            <a:endParaRPr b="0" lang="en-IN" sz="2800" spc="-1" strike="noStrike">
              <a:latin typeface="Arial"/>
            </a:endParaRPr>
          </a:p>
          <a:p>
            <a:pPr>
              <a:lnSpc>
                <a:spcPct val="100000"/>
              </a:lnSpc>
            </a:pPr>
            <a:r>
              <a:rPr b="0" lang="en-IN" sz="2800" spc="-1" strike="noStrike">
                <a:solidFill>
                  <a:srgbClr val="0000ff"/>
                </a:solidFill>
                <a:latin typeface="Times New Roman"/>
                <a:ea typeface="DejaVu Sans"/>
              </a:rPr>
              <a:t>Examples:</a:t>
            </a:r>
            <a:r>
              <a:rPr b="0" lang="en-IN" sz="2800" spc="-1" strike="noStrike">
                <a:solidFill>
                  <a:srgbClr val="000000"/>
                </a:solidFill>
                <a:latin typeface="Times New Roman"/>
                <a:ea typeface="DejaVu Sans"/>
              </a:rPr>
              <a:t> Reading from a disk, network communications, file reading/writing, and network calls</a:t>
            </a:r>
            <a:r>
              <a:rPr b="0" lang="en-IN" sz="2800" spc="-1" strike="noStrike">
                <a:solidFill>
                  <a:srgbClr val="0000ff"/>
                </a:solidFill>
                <a:latin typeface="Times New Roman"/>
                <a:ea typeface="DejaVu Sans"/>
              </a:rPr>
              <a:t> </a:t>
            </a:r>
            <a:endParaRPr b="0" lang="en-IN" sz="2800" spc="-1" strike="noStrike">
              <a:latin typeface="Arial"/>
            </a:endParaRPr>
          </a:p>
          <a:p>
            <a:pPr>
              <a:lnSpc>
                <a:spcPct val="100000"/>
              </a:lnSpc>
            </a:pPr>
            <a:r>
              <a:rPr b="0" lang="en-IN" sz="2800" spc="-1" strike="noStrike">
                <a:solidFill>
                  <a:srgbClr val="0000ff"/>
                </a:solidFill>
                <a:latin typeface="Times New Roman"/>
                <a:ea typeface="DejaVu Sans"/>
              </a:rPr>
              <a:t>Characteristics: </a:t>
            </a:r>
            <a:r>
              <a:rPr b="0" lang="en-IN" sz="2800" spc="-1" strike="noStrike">
                <a:solidFill>
                  <a:srgbClr val="000000"/>
                </a:solidFill>
                <a:latin typeface="Times New Roman"/>
                <a:ea typeface="DejaVu Sans"/>
              </a:rPr>
              <a:t>Limited by the speed of input and output operations </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The best performing systems have a combination of CPU-bound and   I/O-bound processes. </a:t>
            </a:r>
            <a:endParaRPr b="0" lang="en-IN" sz="2800" spc="-1" strike="noStrike">
              <a:latin typeface="Arial"/>
            </a:endParaRPr>
          </a:p>
        </p:txBody>
      </p:sp>
    </p:spTree>
  </p:cSld>
  <p:timing>
    <p:tnLst>
      <p:par>
        <p:cTn id="15" dur="indefinite" restart="never" nodeType="tmRoot">
          <p:childTnLst>
            <p:seq>
              <p:cTn id="16" dur="indefinite"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CustomShape 1"/>
          <p:cNvSpPr/>
          <p:nvPr/>
        </p:nvSpPr>
        <p:spPr>
          <a:xfrm>
            <a:off x="143640" y="7128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about Process</a:t>
            </a:r>
            <a:endParaRPr b="0" lang="en-IN" sz="4000" spc="-1" strike="noStrike">
              <a:latin typeface="Arial"/>
            </a:endParaRPr>
          </a:p>
        </p:txBody>
      </p:sp>
      <p:sp>
        <p:nvSpPr>
          <p:cNvPr id="269" name="CustomShape 2"/>
          <p:cNvSpPr/>
          <p:nvPr/>
        </p:nvSpPr>
        <p:spPr>
          <a:xfrm>
            <a:off x="503640" y="1151640"/>
            <a:ext cx="9055080" cy="5960880"/>
          </a:xfrm>
          <a:prstGeom prst="rect">
            <a:avLst/>
          </a:prstGeom>
          <a:noFill/>
          <a:ln>
            <a:noFill/>
          </a:ln>
        </p:spPr>
        <p:style>
          <a:lnRef idx="0"/>
          <a:fillRef idx="0"/>
          <a:effectRef idx="0"/>
          <a:fontRef idx="minor"/>
        </p:style>
      </p:sp>
      <p:sp>
        <p:nvSpPr>
          <p:cNvPr id="270" name="CustomShape 3"/>
          <p:cNvSpPr/>
          <p:nvPr/>
        </p:nvSpPr>
        <p:spPr>
          <a:xfrm>
            <a:off x="215640" y="2231640"/>
            <a:ext cx="9775440" cy="5312880"/>
          </a:xfrm>
          <a:prstGeom prst="rect">
            <a:avLst/>
          </a:prstGeom>
          <a:noFill/>
          <a:ln>
            <a:noFill/>
          </a:ln>
        </p:spPr>
        <p:style>
          <a:lnRef idx="0"/>
          <a:fillRef idx="0"/>
          <a:effectRef idx="0"/>
          <a:fontRef idx="minor"/>
        </p:style>
        <p:txBody>
          <a:bodyPr lIns="0" rIns="0" tIns="0" bIns="0"/>
          <a:p>
            <a:pPr marL="216000" indent="-200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When a process is runnning, process manager will allocate a unique number called process id(</a:t>
            </a:r>
            <a:r>
              <a:rPr b="0" lang="en-IN" sz="2800" spc="-1" strike="noStrike">
                <a:solidFill>
                  <a:srgbClr val="0000ff"/>
                </a:solidFill>
                <a:latin typeface="Times New Roman"/>
                <a:ea typeface="DejaVu Sans"/>
              </a:rPr>
              <a:t>pid).</a:t>
            </a:r>
            <a:br/>
            <a:br/>
            <a:r>
              <a:rPr b="0" lang="en-IN" sz="2800" spc="-1" strike="noStrike">
                <a:solidFill>
                  <a:srgbClr val="000000"/>
                </a:solidFill>
                <a:latin typeface="Times New Roman"/>
                <a:ea typeface="DejaVu Sans"/>
              </a:rPr>
              <a:t>The same id for 2 proceses can’t be allocated, new process always takes new id but never use previous used id.</a:t>
            </a:r>
            <a:br/>
            <a:br/>
            <a:r>
              <a:rPr b="0" lang="en-IN" sz="2800" spc="-1" strike="noStrike">
                <a:solidFill>
                  <a:srgbClr val="000000"/>
                </a:solidFill>
                <a:latin typeface="Times New Roman"/>
                <a:ea typeface="DejaVu Sans"/>
              </a:rPr>
              <a:t>The ps command, which is used to display information about running processes on a system, is generally considered I/O bound rather than CPU bound. This is because it primarily involves reading system data (such as process information) from memory or disk rather than performing complex computations.</a:t>
            </a:r>
            <a:br/>
            <a:br/>
            <a:r>
              <a:rPr b="0" lang="en-IN" sz="2800" spc="-1" strike="noStrike">
                <a:solidFill>
                  <a:srgbClr val="0000ff"/>
                </a:solidFill>
                <a:latin typeface="Arial"/>
                <a:ea typeface="DejaVu Sans"/>
              </a:rPr>
              <a:t> </a:t>
            </a:r>
            <a:endParaRPr b="0" lang="en-IN" sz="2800" spc="-1" strike="noStrike">
              <a:latin typeface="Arial"/>
            </a:endParaRPr>
          </a:p>
        </p:txBody>
      </p:sp>
      <p:sp>
        <p:nvSpPr>
          <p:cNvPr id="271" name="CustomShape 4"/>
          <p:cNvSpPr/>
          <p:nvPr/>
        </p:nvSpPr>
        <p:spPr>
          <a:xfrm>
            <a:off x="359640" y="791280"/>
            <a:ext cx="9415440" cy="99216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a3238e"/>
                </a:solidFill>
                <a:latin typeface="Times New Roman"/>
                <a:ea typeface="DejaVu Sans"/>
              </a:rPr>
              <a:t>Command : $ </a:t>
            </a:r>
            <a:r>
              <a:rPr b="1" lang="en-IN" sz="2800" spc="-1" strike="noStrike">
                <a:solidFill>
                  <a:srgbClr val="0000ff"/>
                </a:solidFill>
                <a:latin typeface="Times New Roman"/>
                <a:ea typeface="DejaVu Sans"/>
              </a:rPr>
              <a:t>ps</a:t>
            </a: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 Will display the current terminal</a:t>
            </a:r>
            <a:br/>
            <a:r>
              <a:rPr b="0" lang="en-IN" sz="2800" spc="-1" strike="noStrike">
                <a:solidFill>
                  <a:srgbClr val="000000"/>
                </a:solidFill>
                <a:latin typeface="Times New Roman"/>
                <a:ea typeface="DejaVu Sans"/>
              </a:rPr>
              <a:t>all foreground and background processes list with it’s pids.</a:t>
            </a:r>
            <a:endParaRPr b="0" lang="en-IN" sz="2800" spc="-1" strike="noStrike">
              <a:latin typeface="Arial"/>
            </a:endParaRPr>
          </a:p>
        </p:txBody>
      </p:sp>
    </p:spTree>
  </p:cSld>
  <p:timing>
    <p:tnLst>
      <p:par>
        <p:cTn id="17" dur="indefinite" restart="never" nodeType="tmRoot">
          <p:childTnLst>
            <p:seq>
              <p:cTn id="18" dur="indefinite"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CustomShape 1"/>
          <p:cNvSpPr/>
          <p:nvPr/>
        </p:nvSpPr>
        <p:spPr>
          <a:xfrm>
            <a:off x="576000" y="7128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bash (bourne again shell)</a:t>
            </a:r>
            <a:endParaRPr b="0" lang="en-IN" sz="4000" spc="-1" strike="noStrike">
              <a:latin typeface="Arial"/>
            </a:endParaRPr>
          </a:p>
        </p:txBody>
      </p:sp>
      <p:sp>
        <p:nvSpPr>
          <p:cNvPr id="273" name="CustomShape 2"/>
          <p:cNvSpPr/>
          <p:nvPr/>
        </p:nvSpPr>
        <p:spPr>
          <a:xfrm>
            <a:off x="287640" y="696240"/>
            <a:ext cx="9487440" cy="64872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ff"/>
                </a:solidFill>
                <a:latin typeface="Times New Roman"/>
                <a:ea typeface="DejaVu Sans"/>
              </a:rPr>
              <a:t>what is shell?</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600" spc="-1" strike="noStrike">
                <a:solidFill>
                  <a:srgbClr val="000000"/>
                </a:solidFill>
                <a:latin typeface="Times New Roman"/>
                <a:ea typeface="DejaVu Sans"/>
              </a:rPr>
              <a:t>Shell is a command line interpreter and it is acting as an interface between user &amp; os.</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Times New Roman"/>
                <a:ea typeface="DejaVu Sans"/>
              </a:rPr>
              <a:t>Terminal is a logical window, under which shell app is running.</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Times New Roman"/>
                <a:ea typeface="DejaVu Sans"/>
              </a:rPr>
              <a:t>Different Types of shells : bash,ksh,sh-shell.</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Times New Roman"/>
                <a:ea typeface="DejaVu Sans"/>
              </a:rPr>
              <a:t>The bash shell itself is generally considered to be CPU-bound when running scripts or commands that involve significant computation, but I/O-bound when running commands that involve waiting for input/output operations (such as reading or writing to files, or interacting with network resources).</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u="sng">
                <a:solidFill>
                  <a:srgbClr val="a3238e"/>
                </a:solidFill>
                <a:uFillTx/>
                <a:latin typeface="Times New Roman"/>
                <a:ea typeface="DejaVu Sans"/>
              </a:rPr>
              <a:t>Command</a:t>
            </a:r>
            <a:r>
              <a:rPr b="0" lang="en-IN" sz="2600" spc="-1" strike="noStrike">
                <a:solidFill>
                  <a:srgbClr val="a3238e"/>
                </a:solidFill>
                <a:latin typeface="Times New Roman"/>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a3238e"/>
                </a:solidFill>
                <a:latin typeface="Times New Roman"/>
                <a:ea typeface="DejaVu Sans"/>
              </a:rPr>
              <a:t> </a:t>
            </a:r>
            <a:r>
              <a:rPr b="0" lang="en-IN" sz="2600" spc="-1" strike="noStrike">
                <a:solidFill>
                  <a:srgbClr val="a3238e"/>
                </a:solidFill>
                <a:latin typeface="Times New Roman"/>
                <a:ea typeface="DejaVu Sans"/>
              </a:rPr>
              <a:t>$ </a:t>
            </a:r>
            <a:r>
              <a:rPr b="0" lang="en-IN" sz="2600" spc="-1" strike="noStrike">
                <a:solidFill>
                  <a:srgbClr val="0000ff"/>
                </a:solidFill>
                <a:latin typeface="Times New Roman"/>
                <a:ea typeface="DejaVu Sans"/>
              </a:rPr>
              <a:t>ps -el</a:t>
            </a:r>
            <a:r>
              <a:rPr b="0" lang="en-IN" sz="2600" spc="-1" strike="noStrike">
                <a:solidFill>
                  <a:srgbClr val="000000"/>
                </a:solidFill>
                <a:latin typeface="Times New Roman"/>
                <a:ea typeface="DejaVu Sans"/>
              </a:rPr>
              <a:t> (shows the long list of all the events).</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pid of cpu scheduler is </a:t>
            </a:r>
            <a:r>
              <a:rPr b="0" lang="en-IN" sz="2600" spc="-1" strike="noStrike">
                <a:solidFill>
                  <a:srgbClr val="0000ff"/>
                </a:solidFill>
                <a:latin typeface="Times New Roman"/>
                <a:ea typeface="DejaVu Sans"/>
              </a:rPr>
              <a:t>‘0’.</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pid of init/systemd process is </a:t>
            </a:r>
            <a:r>
              <a:rPr b="0" lang="en-IN" sz="2600" spc="-1" strike="noStrike">
                <a:solidFill>
                  <a:srgbClr val="0000ff"/>
                </a:solidFill>
                <a:latin typeface="Times New Roman"/>
                <a:ea typeface="DejaVu Sans"/>
              </a:rPr>
              <a:t>‘1‘</a:t>
            </a:r>
            <a:endParaRPr b="0" lang="en-IN" sz="2600" spc="-1" strike="noStrike">
              <a:latin typeface="Arial"/>
            </a:endParaRPr>
          </a:p>
        </p:txBody>
      </p:sp>
      <p:sp>
        <p:nvSpPr>
          <p:cNvPr id="274" name="CustomShape 3"/>
          <p:cNvSpPr/>
          <p:nvPr/>
        </p:nvSpPr>
        <p:spPr>
          <a:xfrm>
            <a:off x="7559280" y="4966920"/>
            <a:ext cx="1712160" cy="416160"/>
          </a:xfrm>
          <a:prstGeom prst="rect">
            <a:avLst/>
          </a:prstGeom>
          <a:solidFill>
            <a:srgbClr val="c2e0ae"/>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User</a:t>
            </a:r>
            <a:endParaRPr b="0" lang="en-IN" sz="1800" spc="-1" strike="noStrike">
              <a:latin typeface="Arial"/>
            </a:endParaRPr>
          </a:p>
        </p:txBody>
      </p:sp>
      <p:sp>
        <p:nvSpPr>
          <p:cNvPr id="275" name="CustomShape 4"/>
          <p:cNvSpPr/>
          <p:nvPr/>
        </p:nvSpPr>
        <p:spPr>
          <a:xfrm>
            <a:off x="7487280" y="5904000"/>
            <a:ext cx="1712160" cy="416160"/>
          </a:xfrm>
          <a:prstGeom prst="rect">
            <a:avLst/>
          </a:prstGeom>
          <a:solidFill>
            <a:srgbClr val="fffbcc"/>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Shell</a:t>
            </a:r>
            <a:endParaRPr b="0" lang="en-IN" sz="1800" spc="-1" strike="noStrike">
              <a:latin typeface="Arial"/>
            </a:endParaRPr>
          </a:p>
        </p:txBody>
      </p:sp>
      <p:sp>
        <p:nvSpPr>
          <p:cNvPr id="276" name="CustomShape 5"/>
          <p:cNvSpPr/>
          <p:nvPr/>
        </p:nvSpPr>
        <p:spPr>
          <a:xfrm>
            <a:off x="7919640" y="6695640"/>
            <a:ext cx="920160" cy="488160"/>
          </a:xfrm>
          <a:prstGeom prst="ellipse">
            <a:avLst/>
          </a:prstGeom>
          <a:solidFill>
            <a:srgbClr val="fedcc6"/>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OS</a:t>
            </a:r>
            <a:endParaRPr b="0" lang="en-IN" sz="1800" spc="-1" strike="noStrike">
              <a:latin typeface="Arial"/>
            </a:endParaRPr>
          </a:p>
        </p:txBody>
      </p:sp>
      <p:sp>
        <p:nvSpPr>
          <p:cNvPr id="277" name="Line 6"/>
          <p:cNvSpPr/>
          <p:nvPr/>
        </p:nvSpPr>
        <p:spPr>
          <a:xfrm>
            <a:off x="8351280" y="5400360"/>
            <a:ext cx="360" cy="504000"/>
          </a:xfrm>
          <a:prstGeom prst="line">
            <a:avLst/>
          </a:prstGeom>
          <a:ln>
            <a:solidFill>
              <a:srgbClr val="000000"/>
            </a:solidFill>
            <a:tailEnd len="med" type="triangle" w="med"/>
          </a:ln>
        </p:spPr>
        <p:style>
          <a:lnRef idx="0"/>
          <a:fillRef idx="0"/>
          <a:effectRef idx="0"/>
          <a:fontRef idx="minor"/>
        </p:style>
      </p:sp>
      <p:sp>
        <p:nvSpPr>
          <p:cNvPr id="278" name="Line 7"/>
          <p:cNvSpPr/>
          <p:nvPr/>
        </p:nvSpPr>
        <p:spPr>
          <a:xfrm>
            <a:off x="8351280" y="6335640"/>
            <a:ext cx="360" cy="360000"/>
          </a:xfrm>
          <a:prstGeom prst="line">
            <a:avLst/>
          </a:prstGeom>
          <a:ln>
            <a:solidFill>
              <a:srgbClr val="000000"/>
            </a:solidFill>
            <a:tailEnd len="med" type="triangle" w="med"/>
          </a:ln>
        </p:spPr>
        <p:style>
          <a:lnRef idx="0"/>
          <a:fillRef idx="0"/>
          <a:effectRef idx="0"/>
          <a:fontRef idx="minor"/>
        </p:style>
      </p:sp>
    </p:spTree>
  </p:cSld>
  <p:timing>
    <p:tnLst>
      <p:par>
        <p:cTn id="19" dur="indefinite" restart="never" nodeType="tmRoot">
          <p:childTnLst>
            <p:seq>
              <p:cTn id="20" dur="indefinite"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CustomShape 1"/>
          <p:cNvSpPr/>
          <p:nvPr/>
        </p:nvSpPr>
        <p:spPr>
          <a:xfrm>
            <a:off x="503640" y="2689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Process Types</a:t>
            </a:r>
            <a:endParaRPr b="0" lang="en-IN" sz="4400" spc="-1" strike="noStrike">
              <a:latin typeface="Arial"/>
            </a:endParaRPr>
          </a:p>
        </p:txBody>
      </p:sp>
      <p:sp>
        <p:nvSpPr>
          <p:cNvPr id="280" name="CustomShape 2"/>
          <p:cNvSpPr/>
          <p:nvPr/>
        </p:nvSpPr>
        <p:spPr>
          <a:xfrm>
            <a:off x="501480" y="894600"/>
            <a:ext cx="8841600" cy="610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0000cc"/>
                </a:solidFill>
                <a:uFillTx/>
                <a:latin typeface="Times New Roman"/>
                <a:ea typeface="DejaVu Sans"/>
              </a:rPr>
              <a:t>Process is two Types:</a:t>
            </a:r>
            <a:endParaRPr b="0" lang="en-IN" sz="3200" spc="-1" strike="noStrike">
              <a:latin typeface="Arial"/>
            </a:endParaRPr>
          </a:p>
          <a:p>
            <a:pPr lvl="1" marL="864000" indent="-308160">
              <a:lnSpc>
                <a:spcPct val="100000"/>
              </a:lnSpc>
              <a:spcBef>
                <a:spcPts val="1134"/>
              </a:spcBef>
              <a:buClr>
                <a:srgbClr val="000000"/>
              </a:buClr>
              <a:buSzPct val="75000"/>
              <a:buFont typeface="Symbol"/>
              <a:buChar char=""/>
            </a:pPr>
            <a:r>
              <a:rPr b="0" lang="en-IN" sz="2800" spc="-1" strike="noStrike">
                <a:solidFill>
                  <a:srgbClr val="0000cc"/>
                </a:solidFill>
                <a:latin typeface="Times New Roman"/>
                <a:ea typeface="DejaVu Sans"/>
              </a:rPr>
              <a:t>* </a:t>
            </a:r>
            <a:r>
              <a:rPr b="0" lang="en-IN" sz="2800" spc="-1" strike="noStrike">
                <a:solidFill>
                  <a:srgbClr val="000000"/>
                </a:solidFill>
                <a:latin typeface="Times New Roman"/>
                <a:ea typeface="DejaVu Sans"/>
              </a:rPr>
              <a:t>Background Process.</a:t>
            </a:r>
            <a:endParaRPr b="0" lang="en-IN" sz="2800" spc="-1" strike="noStrike">
              <a:latin typeface="Arial"/>
            </a:endParaRPr>
          </a:p>
          <a:p>
            <a:pPr lvl="1" marL="864000" indent="-308160">
              <a:lnSpc>
                <a:spcPct val="100000"/>
              </a:lnSpc>
              <a:spcBef>
                <a:spcPts val="1134"/>
              </a:spcBef>
              <a:buClr>
                <a:srgbClr val="000000"/>
              </a:buClr>
              <a:buSzPct val="75000"/>
              <a:buFont typeface="Symbol"/>
              <a:buChar char=""/>
            </a:pP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Foreground Process.</a:t>
            </a:r>
            <a:endParaRPr b="0" lang="en-IN" sz="2800" spc="-1" strike="noStrike">
              <a:latin typeface="Arial"/>
            </a:endParaRPr>
          </a:p>
          <a:p>
            <a:pPr lvl="1" marL="864000" indent="-308160">
              <a:lnSpc>
                <a:spcPct val="100000"/>
              </a:lnSpc>
              <a:spcBef>
                <a:spcPts val="1134"/>
              </a:spcBef>
              <a:buClr>
                <a:srgbClr val="000000"/>
              </a:buClr>
              <a:buSzPct val="75000"/>
              <a:buFont typeface="Symbol"/>
              <a:buChar char=""/>
            </a:pPr>
            <a:r>
              <a:rPr b="0" lang="en-IN" sz="2800" spc="-1" strike="noStrike" u="sng">
                <a:solidFill>
                  <a:srgbClr val="0000ff"/>
                </a:solidFill>
                <a:uFillTx/>
                <a:latin typeface="Times New Roman"/>
                <a:ea typeface="DejaVu Sans"/>
              </a:rPr>
              <a:t>Command to make background &amp; foreground jobs:</a:t>
            </a:r>
            <a:endParaRPr b="0" lang="en-IN" sz="2800" spc="-1" strike="noStrike">
              <a:latin typeface="Arial"/>
            </a:endParaRPr>
          </a:p>
          <a:p>
            <a:pPr lvl="1" marL="864000" indent="-308160">
              <a:lnSpc>
                <a:spcPct val="100000"/>
              </a:lnSpc>
              <a:spcBef>
                <a:spcPts val="1134"/>
              </a:spcBef>
              <a:buClr>
                <a:srgbClr val="000000"/>
              </a:buClr>
              <a:buSzPct val="75000"/>
              <a:buFont typeface="Symbol"/>
              <a:buChar char=""/>
            </a:pPr>
            <a:r>
              <a:rPr b="0" lang="en-IN" sz="2800" spc="-1" strike="noStrike">
                <a:solidFill>
                  <a:srgbClr val="000000"/>
                </a:solidFill>
                <a:latin typeface="Times New Roman"/>
                <a:ea typeface="DejaVu Sans"/>
              </a:rPr>
              <a:t>$ </a:t>
            </a:r>
            <a:r>
              <a:rPr b="0" lang="en-IN" sz="2800" spc="-1" strike="noStrike">
                <a:solidFill>
                  <a:srgbClr val="a3238e"/>
                </a:solidFill>
                <a:latin typeface="Times New Roman"/>
                <a:ea typeface="DejaVu Sans"/>
              </a:rPr>
              <a:t>./a.out &amp;</a:t>
            </a:r>
            <a:r>
              <a:rPr b="0" lang="en-IN" sz="2800" spc="-1" strike="noStrike">
                <a:solidFill>
                  <a:srgbClr val="dd4814"/>
                </a:solidFill>
                <a:latin typeface="Times New Roman"/>
                <a:ea typeface="DejaVu Sans"/>
              </a:rPr>
              <a:t> </a:t>
            </a:r>
            <a:r>
              <a:rPr b="0" lang="en-IN" sz="2800" spc="-1" strike="noStrike">
                <a:solidFill>
                  <a:srgbClr val="000000"/>
                </a:solidFill>
                <a:latin typeface="Times New Roman"/>
                <a:ea typeface="DejaVu Sans"/>
              </a:rPr>
              <a:t>- background job.</a:t>
            </a:r>
            <a:endParaRPr b="0" lang="en-IN" sz="2800" spc="-1" strike="noStrike">
              <a:latin typeface="Arial"/>
            </a:endParaRPr>
          </a:p>
          <a:p>
            <a:pPr lvl="1" marL="864000" indent="-308160">
              <a:lnSpc>
                <a:spcPct val="100000"/>
              </a:lnSpc>
              <a:spcBef>
                <a:spcPts val="1134"/>
              </a:spcBef>
              <a:buClr>
                <a:srgbClr val="000000"/>
              </a:buClr>
              <a:buSzPct val="75000"/>
              <a:buFont typeface="Symbol"/>
              <a:buChar char=""/>
            </a:pPr>
            <a:r>
              <a:rPr b="0" lang="en-IN" sz="2800" spc="-1" strike="noStrike">
                <a:solidFill>
                  <a:srgbClr val="000000"/>
                </a:solidFill>
                <a:latin typeface="Times New Roman"/>
                <a:ea typeface="DejaVu Sans"/>
              </a:rPr>
              <a:t>$</a:t>
            </a:r>
            <a:r>
              <a:rPr b="0" lang="en-IN" sz="2800" spc="-1" strike="noStrike">
                <a:solidFill>
                  <a:srgbClr val="a3238e"/>
                </a:solidFill>
                <a:latin typeface="Times New Roman"/>
                <a:ea typeface="DejaVu Sans"/>
              </a:rPr>
              <a:t> ./a.out</a:t>
            </a:r>
            <a:r>
              <a:rPr b="0" lang="en-IN" sz="2800" spc="-1" strike="noStrike">
                <a:solidFill>
                  <a:srgbClr val="ed1c24"/>
                </a:solidFill>
                <a:latin typeface="Times New Roman"/>
                <a:ea typeface="DejaVu Sans"/>
              </a:rPr>
              <a:t>	</a:t>
            </a:r>
            <a:r>
              <a:rPr b="0" lang="en-IN" sz="2800" spc="-1" strike="noStrike">
                <a:solidFill>
                  <a:srgbClr val="000000"/>
                </a:solidFill>
                <a:latin typeface="Times New Roman"/>
                <a:ea typeface="DejaVu Sans"/>
              </a:rPr>
              <a:t>- foreground job.</a:t>
            </a:r>
            <a:endParaRPr b="0" lang="en-IN" sz="2800" spc="-1" strike="noStrike">
              <a:latin typeface="Arial"/>
            </a:endParaRPr>
          </a:p>
          <a:p>
            <a:pPr>
              <a:lnSpc>
                <a:spcPct val="100000"/>
              </a:lnSpc>
              <a:spcBef>
                <a:spcPts val="1134"/>
              </a:spcBef>
            </a:pPr>
            <a:endParaRPr b="0" lang="en-IN" sz="2800" spc="-1" strike="noStrike">
              <a:latin typeface="Arial"/>
            </a:endParaRPr>
          </a:p>
        </p:txBody>
      </p:sp>
      <p:sp>
        <p:nvSpPr>
          <p:cNvPr id="281" name="CustomShape 3"/>
          <p:cNvSpPr/>
          <p:nvPr/>
        </p:nvSpPr>
        <p:spPr>
          <a:xfrm>
            <a:off x="6369480" y="4895280"/>
            <a:ext cx="1749960" cy="47124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000000"/>
                </a:solidFill>
                <a:latin typeface="Arial"/>
                <a:ea typeface="DejaVu Sans"/>
              </a:rPr>
              <a:t>[1]  3955</a:t>
            </a:r>
            <a:endParaRPr b="0" lang="en-IN" sz="2800" spc="-1" strike="noStrike">
              <a:latin typeface="Arial"/>
            </a:endParaRPr>
          </a:p>
        </p:txBody>
      </p:sp>
      <p:graphicFrame>
        <p:nvGraphicFramePr>
          <p:cNvPr id="282" name="Table 4"/>
          <p:cNvGraphicFramePr/>
          <p:nvPr/>
        </p:nvGraphicFramePr>
        <p:xfrm>
          <a:off x="7693920" y="5835240"/>
          <a:ext cx="1583640" cy="349200"/>
        </p:xfrm>
        <a:graphic>
          <a:graphicData uri="http://schemas.openxmlformats.org/drawingml/2006/table">
            <a:tbl>
              <a:tblPr/>
              <a:tblGrid>
                <a:gridCol w="1584000"/>
              </a:tblGrid>
              <a:tr h="349560">
                <a:tc>
                  <a:txBody>
                    <a:bodyPr lIns="90000" rIns="90000"/>
                    <a:p>
                      <a:pPr>
                        <a:lnSpc>
                          <a:spcPct val="100000"/>
                        </a:lnSpc>
                      </a:pPr>
                      <a:r>
                        <a:rPr b="0" lang="en-IN" sz="1800" spc="-1" strike="noStrike">
                          <a:latin typeface="Arial"/>
                        </a:rPr>
                        <a:t>Process Id</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283" name="Line 5"/>
          <p:cNvSpPr/>
          <p:nvPr/>
        </p:nvSpPr>
        <p:spPr>
          <a:xfrm>
            <a:off x="6695280" y="5327280"/>
            <a:ext cx="360" cy="504000"/>
          </a:xfrm>
          <a:prstGeom prst="line">
            <a:avLst/>
          </a:prstGeom>
          <a:ln>
            <a:solidFill>
              <a:srgbClr val="000000"/>
            </a:solidFill>
            <a:tailEnd len="med" type="triangle" w="med"/>
          </a:ln>
        </p:spPr>
        <p:style>
          <a:lnRef idx="0"/>
          <a:fillRef idx="0"/>
          <a:effectRef idx="0"/>
          <a:fontRef idx="minor"/>
        </p:style>
      </p:sp>
      <p:sp>
        <p:nvSpPr>
          <p:cNvPr id="284" name="Line 6"/>
          <p:cNvSpPr/>
          <p:nvPr/>
        </p:nvSpPr>
        <p:spPr>
          <a:xfrm>
            <a:off x="7631280" y="5327280"/>
            <a:ext cx="288000" cy="432000"/>
          </a:xfrm>
          <a:prstGeom prst="line">
            <a:avLst/>
          </a:prstGeom>
          <a:ln>
            <a:solidFill>
              <a:srgbClr val="000000"/>
            </a:solidFill>
            <a:tailEnd len="med" type="triangle" w="med"/>
          </a:ln>
        </p:spPr>
        <p:style>
          <a:lnRef idx="0"/>
          <a:fillRef idx="0"/>
          <a:effectRef idx="0"/>
          <a:fontRef idx="minor"/>
        </p:style>
      </p:sp>
      <p:graphicFrame>
        <p:nvGraphicFramePr>
          <p:cNvPr id="285" name="Table 7"/>
          <p:cNvGraphicFramePr/>
          <p:nvPr/>
        </p:nvGraphicFramePr>
        <p:xfrm>
          <a:off x="6265080" y="5897880"/>
          <a:ext cx="835560" cy="347400"/>
        </p:xfrm>
        <a:graphic>
          <a:graphicData uri="http://schemas.openxmlformats.org/drawingml/2006/table">
            <a:tbl>
              <a:tblPr/>
              <a:tblGrid>
                <a:gridCol w="835920"/>
              </a:tblGrid>
              <a:tr h="347760">
                <a:tc>
                  <a:txBody>
                    <a:bodyPr lIns="90000" rIns="90000"/>
                    <a:p>
                      <a:pPr>
                        <a:lnSpc>
                          <a:spcPct val="100000"/>
                        </a:lnSpc>
                      </a:pPr>
                      <a:r>
                        <a:rPr b="0" lang="en-IN" sz="1800" spc="-1" strike="noStrike">
                          <a:latin typeface="Arial"/>
                        </a:rPr>
                        <a:t>Job Id</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286" name="CustomShape 8"/>
          <p:cNvSpPr/>
          <p:nvPr/>
        </p:nvSpPr>
        <p:spPr>
          <a:xfrm>
            <a:off x="360000" y="4535280"/>
            <a:ext cx="4879800" cy="27198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2200" spc="-1" strike="noStrike">
                <a:solidFill>
                  <a:srgbClr val="62a73b"/>
                </a:solidFill>
                <a:latin typeface="Arial"/>
                <a:ea typeface="DejaVu Sans"/>
              </a:rPr>
              <a:t>vector</a:t>
            </a:r>
            <a:r>
              <a:rPr b="0" lang="en-IN" sz="2200" spc="-1" strike="noStrike">
                <a:solidFill>
                  <a:srgbClr val="000000"/>
                </a:solidFill>
                <a:latin typeface="Arial"/>
                <a:ea typeface="DejaVu Sans"/>
              </a:rPr>
              <a:t>@</a:t>
            </a:r>
            <a:r>
              <a:rPr b="0" lang="en-IN" sz="2200" spc="-1" strike="noStrike">
                <a:solidFill>
                  <a:srgbClr val="62a73b"/>
                </a:solidFill>
                <a:latin typeface="Arial"/>
                <a:ea typeface="DejaVu Sans"/>
              </a:rPr>
              <a:t>system</a:t>
            </a:r>
            <a:r>
              <a:rPr b="0" lang="en-IN" sz="2200" spc="-1" strike="noStrike">
                <a:solidFill>
                  <a:srgbClr val="000000"/>
                </a:solidFill>
                <a:latin typeface="Arial"/>
                <a:ea typeface="DejaVu Sans"/>
              </a:rPr>
              <a:t>:~/linux$ ./a.out &amp;</a:t>
            </a:r>
            <a:endParaRPr b="0" lang="en-IN" sz="2200" spc="-1" strike="noStrike">
              <a:latin typeface="Arial"/>
            </a:endParaRPr>
          </a:p>
          <a:p>
            <a:pPr>
              <a:lnSpc>
                <a:spcPct val="100000"/>
              </a:lnSpc>
            </a:pPr>
            <a:r>
              <a:rPr b="0" lang="en-IN" sz="2200" spc="-1" strike="noStrike">
                <a:solidFill>
                  <a:srgbClr val="000000"/>
                </a:solidFill>
                <a:latin typeface="Arial"/>
                <a:ea typeface="DejaVu Sans"/>
              </a:rPr>
              <a:t>[1] 3955</a:t>
            </a:r>
            <a:endParaRPr b="0" lang="en-IN" sz="2200" spc="-1" strike="noStrike">
              <a:latin typeface="Arial"/>
            </a:endParaRPr>
          </a:p>
          <a:p>
            <a:pPr>
              <a:lnSpc>
                <a:spcPct val="100000"/>
              </a:lnSpc>
            </a:pPr>
            <a:r>
              <a:rPr b="0" lang="en-IN" sz="2200" spc="-1" strike="noStrike">
                <a:solidFill>
                  <a:srgbClr val="62a73b"/>
                </a:solidFill>
                <a:latin typeface="Arial"/>
                <a:ea typeface="DejaVu Sans"/>
              </a:rPr>
              <a:t>vector</a:t>
            </a:r>
            <a:r>
              <a:rPr b="0" lang="en-IN" sz="2200" spc="-1" strike="noStrike">
                <a:solidFill>
                  <a:srgbClr val="000000"/>
                </a:solidFill>
                <a:latin typeface="Arial"/>
                <a:ea typeface="DejaVu Sans"/>
              </a:rPr>
              <a:t>@</a:t>
            </a:r>
            <a:r>
              <a:rPr b="0" lang="en-IN" sz="2200" spc="-1" strike="noStrike">
                <a:solidFill>
                  <a:srgbClr val="62a73b"/>
                </a:solidFill>
                <a:latin typeface="Arial"/>
                <a:ea typeface="DejaVu Sans"/>
              </a:rPr>
              <a:t>system</a:t>
            </a:r>
            <a:r>
              <a:rPr b="0" lang="en-IN" sz="2200" spc="-1" strike="noStrike">
                <a:solidFill>
                  <a:srgbClr val="000000"/>
                </a:solidFill>
                <a:latin typeface="Arial"/>
                <a:ea typeface="DejaVu Sans"/>
              </a:rPr>
              <a:t>:~/linux$ ps</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ff"/>
                </a:solidFill>
                <a:latin typeface="Arial"/>
                <a:ea typeface="DejaVu Sans"/>
              </a:rPr>
              <a:t>PID TTY          TIME CMD</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3927 pts/0    00:00:00 bash</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3955 pts/0    00:00:06 a.out</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3957 pts/0    00:00:00 ps</a:t>
            </a:r>
            <a:endParaRPr b="0" lang="en-IN" sz="2200" spc="-1" strike="noStrike">
              <a:latin typeface="Arial"/>
            </a:endParaRPr>
          </a:p>
          <a:p>
            <a:pPr>
              <a:lnSpc>
                <a:spcPct val="100000"/>
              </a:lnSpc>
            </a:pPr>
            <a:r>
              <a:rPr b="0" lang="en-IN" sz="2200" spc="-1" strike="noStrike">
                <a:solidFill>
                  <a:srgbClr val="62a73b"/>
                </a:solidFill>
                <a:latin typeface="Arial"/>
                <a:ea typeface="DejaVu Sans"/>
              </a:rPr>
              <a:t>vector</a:t>
            </a:r>
            <a:r>
              <a:rPr b="0" lang="en-IN" sz="2200" spc="-1" strike="noStrike">
                <a:solidFill>
                  <a:srgbClr val="000000"/>
                </a:solidFill>
                <a:latin typeface="Arial"/>
                <a:ea typeface="DejaVu Sans"/>
              </a:rPr>
              <a:t>@</a:t>
            </a:r>
            <a:r>
              <a:rPr b="0" lang="en-IN" sz="2200" spc="-1" strike="noStrike">
                <a:solidFill>
                  <a:srgbClr val="62a73b"/>
                </a:solidFill>
                <a:latin typeface="Arial"/>
                <a:ea typeface="DejaVu Sans"/>
              </a:rPr>
              <a:t>system</a:t>
            </a:r>
            <a:r>
              <a:rPr b="0" lang="en-IN" sz="2200" spc="-1" strike="noStrike">
                <a:solidFill>
                  <a:srgbClr val="000000"/>
                </a:solidFill>
                <a:latin typeface="Arial"/>
                <a:ea typeface="DejaVu Sans"/>
              </a:rPr>
              <a:t>:~/linux$ </a:t>
            </a:r>
            <a:endParaRPr b="0" lang="en-IN" sz="2200" spc="-1" strike="noStrike">
              <a:latin typeface="Arial"/>
            </a:endParaRPr>
          </a:p>
        </p:txBody>
      </p:sp>
    </p:spTree>
  </p:cSld>
  <p:timing>
    <p:tnLst>
      <p:par>
        <p:cTn id="21" dur="indefinite" restart="never" nodeType="tmRoot">
          <p:childTnLst>
            <p:seq>
              <p:cTn id="22" dur="indefinite"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CustomShape 1"/>
          <p:cNvSpPr/>
          <p:nvPr/>
        </p:nvSpPr>
        <p:spPr>
          <a:xfrm>
            <a:off x="504000" y="11880"/>
            <a:ext cx="9055080" cy="547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fg command</a:t>
            </a:r>
            <a:endParaRPr b="0" lang="en-IN" sz="3600" spc="-1" strike="noStrike">
              <a:latin typeface="Arial"/>
            </a:endParaRPr>
          </a:p>
        </p:txBody>
      </p:sp>
      <p:sp>
        <p:nvSpPr>
          <p:cNvPr id="288" name="CustomShape 2"/>
          <p:cNvSpPr/>
          <p:nvPr/>
        </p:nvSpPr>
        <p:spPr>
          <a:xfrm>
            <a:off x="144000" y="575280"/>
            <a:ext cx="9055080" cy="3080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Last process which enters into background process will come first as a foreground process when we are using </a:t>
            </a:r>
            <a:r>
              <a:rPr b="0" lang="en-IN" sz="2800" spc="-1" strike="noStrike">
                <a:solidFill>
                  <a:srgbClr val="0000ff"/>
                </a:solidFill>
                <a:latin typeface="Times New Roman"/>
                <a:ea typeface="DejaVu Sans"/>
              </a:rPr>
              <a:t>fg </a:t>
            </a:r>
            <a:r>
              <a:rPr b="0" lang="en-IN" sz="2800" spc="-1" strike="noStrike">
                <a:solidFill>
                  <a:srgbClr val="000000"/>
                </a:solidFill>
                <a:latin typeface="Times New Roman"/>
                <a:ea typeface="DejaVu Sans"/>
              </a:rPr>
              <a:t>command.</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To get a particular process out of a background process,then use fg command along with job id.</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u="sng">
                <a:solidFill>
                  <a:srgbClr val="0000ff"/>
                </a:solidFill>
                <a:uFillTx/>
                <a:latin typeface="Times New Roman"/>
                <a:ea typeface="DejaVu Sans"/>
              </a:rPr>
              <a:t>Syntax</a:t>
            </a: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a:t>
            </a:r>
            <a:r>
              <a:rPr b="0" lang="en-IN" sz="2800" spc="-1" strike="noStrike">
                <a:solidFill>
                  <a:srgbClr val="0000ff"/>
                </a:solidFill>
                <a:latin typeface="Times New Roman"/>
                <a:ea typeface="DejaVu Sans"/>
              </a:rPr>
              <a:t>fg &lt;1&gt;</a:t>
            </a:r>
            <a:endParaRPr b="0" lang="en-IN" sz="2800" spc="-1" strike="noStrike">
              <a:latin typeface="Arial"/>
            </a:endParaRPr>
          </a:p>
          <a:p>
            <a:pPr lvl="6" marL="3024000" indent="-200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job_id</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t>
            </a:r>
            <a:r>
              <a:rPr b="0" lang="en-IN" sz="2800" spc="-1" strike="noStrike">
                <a:solidFill>
                  <a:srgbClr val="0000ff"/>
                </a:solidFill>
                <a:latin typeface="Times New Roman"/>
                <a:ea typeface="DejaVu Sans"/>
              </a:rPr>
              <a:t>ps -e : </a:t>
            </a:r>
            <a:r>
              <a:rPr b="0" lang="en-IN" sz="2800" spc="-1" strike="noStrike">
                <a:solidFill>
                  <a:srgbClr val="000000"/>
                </a:solidFill>
                <a:latin typeface="Times New Roman"/>
                <a:ea typeface="DejaVu Sans"/>
              </a:rPr>
              <a:t>To see all jobs running all terminals/non-terminals</a:t>
            </a:r>
            <a:endParaRPr b="0" lang="en-IN" sz="2800" spc="-1" strike="noStrike">
              <a:latin typeface="Arial"/>
            </a:endParaRPr>
          </a:p>
          <a:p>
            <a:pPr>
              <a:lnSpc>
                <a:spcPct val="100000"/>
              </a:lnSpc>
              <a:spcBef>
                <a:spcPts val="1417"/>
              </a:spcBef>
            </a:pPr>
            <a:endParaRPr b="0" lang="en-IN" sz="2800" spc="-1" strike="noStrike">
              <a:latin typeface="Arial"/>
            </a:endParaRPr>
          </a:p>
        </p:txBody>
      </p:sp>
      <p:sp>
        <p:nvSpPr>
          <p:cNvPr id="289" name="Line 3"/>
          <p:cNvSpPr/>
          <p:nvPr/>
        </p:nvSpPr>
        <p:spPr>
          <a:xfrm>
            <a:off x="2735640" y="2663640"/>
            <a:ext cx="360000" cy="144000"/>
          </a:xfrm>
          <a:prstGeom prst="line">
            <a:avLst/>
          </a:prstGeom>
          <a:ln>
            <a:solidFill>
              <a:srgbClr val="000000"/>
            </a:solidFill>
            <a:tailEnd len="med" type="triangle" w="med"/>
          </a:ln>
        </p:spPr>
        <p:style>
          <a:lnRef idx="0"/>
          <a:fillRef idx="0"/>
          <a:effectRef idx="0"/>
          <a:fontRef idx="minor"/>
        </p:style>
      </p:sp>
      <p:sp>
        <p:nvSpPr>
          <p:cNvPr id="290" name="CustomShape 4"/>
          <p:cNvSpPr/>
          <p:nvPr/>
        </p:nvSpPr>
        <p:spPr>
          <a:xfrm>
            <a:off x="5903280" y="4103280"/>
            <a:ext cx="3727800" cy="156816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Under TTY ‘? ‘ indicates that they are not running under any terminal. They are runnning under background.</a:t>
            </a:r>
            <a:endParaRPr b="0" lang="en-IN" sz="2400" spc="-1" strike="noStrike">
              <a:latin typeface="Arial"/>
            </a:endParaRPr>
          </a:p>
        </p:txBody>
      </p:sp>
      <p:sp>
        <p:nvSpPr>
          <p:cNvPr id="291" name="CustomShape 5"/>
          <p:cNvSpPr/>
          <p:nvPr/>
        </p:nvSpPr>
        <p:spPr>
          <a:xfrm>
            <a:off x="504000" y="3816000"/>
            <a:ext cx="5239800" cy="39438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2000" spc="-1" strike="noStrike">
                <a:solidFill>
                  <a:srgbClr val="72bf44"/>
                </a:solidFill>
                <a:latin typeface="Arial"/>
                <a:ea typeface="DejaVu Sans"/>
              </a:rPr>
              <a:t>vector</a:t>
            </a:r>
            <a:r>
              <a:rPr b="0" lang="en-IN" sz="2000" spc="-1" strike="noStrike">
                <a:solidFill>
                  <a:srgbClr val="000000"/>
                </a:solidFill>
                <a:latin typeface="Arial"/>
                <a:ea typeface="DejaVu Sans"/>
              </a:rPr>
              <a:t>@</a:t>
            </a:r>
            <a:r>
              <a:rPr b="0" lang="en-IN" sz="2000" spc="-1" strike="noStrike">
                <a:solidFill>
                  <a:srgbClr val="72bf44"/>
                </a:solidFill>
                <a:latin typeface="Arial"/>
                <a:ea typeface="DejaVu Sans"/>
              </a:rPr>
              <a:t>system</a:t>
            </a:r>
            <a:r>
              <a:rPr b="0" lang="en-IN" sz="2000" spc="-1" strike="noStrike">
                <a:solidFill>
                  <a:srgbClr val="000000"/>
                </a:solidFill>
                <a:latin typeface="Arial"/>
                <a:ea typeface="DejaVu Sans"/>
              </a:rPr>
              <a:t>:~/linux$ ps -e</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ff"/>
                </a:solidFill>
                <a:latin typeface="Arial"/>
                <a:ea typeface="DejaVu Sans"/>
              </a:rPr>
              <a:t> </a:t>
            </a:r>
            <a:r>
              <a:rPr b="0" lang="en-IN" sz="2000" spc="-1" strike="noStrike">
                <a:solidFill>
                  <a:srgbClr val="0000ff"/>
                </a:solidFill>
                <a:latin typeface="Arial"/>
                <a:ea typeface="DejaVu Sans"/>
              </a:rPr>
              <a:t>PID TTY          TIME CMD</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1 ?        00:00:05 systemd</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2 ?        00:00:00 kthreadd</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3 ?        00:00:00 rcu_gp</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4 ?        00:00:00 rcu_par_gp</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6 ?        00:00:00 kworker/0:0H-kb</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8 ?        00:00:00 mm_percpu_wq</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9 ?        00:00:00 ksoftirqd/0</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10 ?        00:00:01 rcu_sched</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11 ?        00:00:00 migration/0</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12 ?        00:00:00 idle_inject/0</a:t>
            </a:r>
            <a:endParaRPr b="0" lang="en-IN" sz="2000" spc="-1" strike="noStrike">
              <a:latin typeface="Arial"/>
            </a:endParaRPr>
          </a:p>
          <a:p>
            <a:pPr>
              <a:lnSpc>
                <a:spcPct val="100000"/>
              </a:lnSpc>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13 ?        00:00:00 kworker/0:1-eve</a:t>
            </a:r>
            <a:endParaRPr b="0" lang="en-IN" sz="2000" spc="-1" strike="noStrike">
              <a:latin typeface="Arial"/>
            </a:endParaRPr>
          </a:p>
        </p:txBody>
      </p:sp>
    </p:spTree>
  </p:cSld>
  <p:timing>
    <p:tnLst>
      <p:par>
        <p:cTn id="23" dur="indefinite" restart="never" nodeType="tmRoot">
          <p:childTnLst>
            <p:seq>
              <p:cTn id="24" dur="indefinite"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CustomShape 1"/>
          <p:cNvSpPr/>
          <p:nvPr/>
        </p:nvSpPr>
        <p:spPr>
          <a:xfrm>
            <a:off x="71640" y="75960"/>
            <a:ext cx="9559440" cy="915840"/>
          </a:xfrm>
          <a:prstGeom prst="rect">
            <a:avLst/>
          </a:prstGeom>
          <a:noFill/>
          <a:ln>
            <a:noFill/>
          </a:ln>
        </p:spPr>
        <p:style>
          <a:lnRef idx="0"/>
          <a:fillRef idx="0"/>
          <a:effectRef idx="0"/>
          <a:fontRef idx="minor"/>
        </p:style>
        <p:txBody>
          <a:bodyPr lIns="0" rIns="0" tIns="0" bIns="0" anchor="ctr"/>
          <a:p>
            <a:pPr>
              <a:lnSpc>
                <a:spcPct val="100000"/>
              </a:lnSpc>
            </a:pPr>
            <a:r>
              <a:rPr b="1" lang="en-IN" sz="2800" spc="-1" strike="noStrike" u="sng">
                <a:solidFill>
                  <a:srgbClr val="ce181e"/>
                </a:solidFill>
                <a:uFillTx/>
                <a:latin typeface="Times New Roman"/>
                <a:ea typeface="Noto Sans CJK SC Regular"/>
              </a:rPr>
              <a:t>Command:</a:t>
            </a:r>
            <a:r>
              <a:rPr b="1" lang="en-IN" sz="2800" spc="-1" strike="noStrike">
                <a:solidFill>
                  <a:srgbClr val="ce181e"/>
                </a:solidFill>
                <a:latin typeface="Times New Roman"/>
                <a:ea typeface="Noto Sans CJK SC Regular"/>
              </a:rPr>
              <a:t>   </a:t>
            </a:r>
            <a:r>
              <a:rPr b="1" lang="en-IN" sz="2800" spc="-1" strike="noStrike">
                <a:solidFill>
                  <a:srgbClr val="000000"/>
                </a:solidFill>
                <a:latin typeface="Times New Roman"/>
                <a:ea typeface="Noto Sans CJK SC Regular"/>
              </a:rPr>
              <a:t>$</a:t>
            </a:r>
            <a:r>
              <a:rPr b="0" lang="en-IN" sz="2800" spc="-1" strike="noStrike">
                <a:solidFill>
                  <a:srgbClr val="0000ff"/>
                </a:solidFill>
                <a:latin typeface="Times New Roman"/>
                <a:ea typeface="Noto Sans CJK SC Regular"/>
              </a:rPr>
              <a:t>ps -el </a:t>
            </a:r>
            <a:br/>
            <a:r>
              <a:rPr b="0" lang="en-IN" sz="2800" spc="-1" strike="noStrike">
                <a:solidFill>
                  <a:srgbClr val="000000"/>
                </a:solidFill>
                <a:latin typeface="Times New Roman"/>
                <a:ea typeface="Noto Sans CJK SC Regular"/>
              </a:rPr>
              <a:t>    To see long list of all jobs running all terminals/non-terminals</a:t>
            </a:r>
            <a:endParaRPr b="0" lang="en-IN" sz="2800" spc="-1" strike="noStrike">
              <a:latin typeface="Arial"/>
            </a:endParaRPr>
          </a:p>
        </p:txBody>
      </p:sp>
      <p:sp>
        <p:nvSpPr>
          <p:cNvPr id="293" name="CustomShape 2"/>
          <p:cNvSpPr/>
          <p:nvPr/>
        </p:nvSpPr>
        <p:spPr>
          <a:xfrm>
            <a:off x="143640" y="1008000"/>
            <a:ext cx="9559440" cy="63918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2000" spc="-1" strike="noStrike">
                <a:solidFill>
                  <a:srgbClr val="0000ff"/>
                </a:solidFill>
                <a:latin typeface="Times New Roman"/>
                <a:ea typeface="DejaVu Sans"/>
              </a:rPr>
              <a:t>F S   UID   PID  PPID  C PRI  NI  ADDR    SZ   WCHAN  TTY  TIME          CMD</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4 S     0       1       0  </a:t>
            </a: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   0  80    0       -         56354    -           ?        00:00:06    systemd</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2       0        0  80    0       -             0        -           ?        00:00:00    kthreadd</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3       2        0  60  -20     -              0       -            ?       00:00:00     rcu_gp</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4       2        0  60  -20     -              0       -            ?       00:00:00     rcu_par_gp</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6       2        0  60  -20     -              0       -            ?       00:00:00  kworker/0:0H-kb</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8       2        0  60  -20     -              0       -            ?       00:00:00   mm_percpu_wq</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9       2        0  80    0      -              0        -           ?       00:00:00    ksoftirqd/0</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10       2        0  80    0      -              0        -           ?       00:00:02    rcu_sched</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11       2        0 -40    -       -              0        -          ?        00:00:00    migration/0</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5 S     0     12       2        0   9     -       -              0        -          ?        00:00:00    idle_inject/0</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13       2        0  80    0      -              0        -          ?        00:00:00    kworker/0:1-eve</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14       2        0  80    0      -              0        -          ?        00:00:00    cpuhp/0</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5 S     0     15       2        0  80    0      -              0        -          ?        00:00:00    cpuhp/1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5 S     0     16       2        0   9     -       -              0        -          ?        00:00:00    idle_inject/1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17       2        0 -40    -       -              0        -          ?       00:00:00    migration/1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18       2        0  80    0       -              0       -          ?        00:00:00    ksoftirqd/1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I      0     20       2        0  60   -20    -               0      -          ?        00:00:00    kworker/1:0H-kb</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5 S     0     21       2        0  80   0        -              0       -         ?        00:00:00    cpuhp/2</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5 S     0     22       2        0   9    -        -               0      -          ?        00:00:00    idle_inject/2</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1 S     0     23       2        0 -40   -        -               0      -          ?        00:00:00    migration/2</a:t>
            </a:r>
            <a:endParaRPr b="0" lang="en-IN" sz="2000" spc="-1" strike="noStrike">
              <a:latin typeface="Arial"/>
            </a:endParaRPr>
          </a:p>
        </p:txBody>
      </p:sp>
    </p:spTree>
  </p:cSld>
  <p:timing>
    <p:tnLst>
      <p:par>
        <p:cTn id="25" dur="indefinite" restart="never" nodeType="tmRoot">
          <p:childTnLst>
            <p:seq>
              <p:cTn id="26" dur="indefinite"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CustomShape 1"/>
          <p:cNvSpPr/>
          <p:nvPr/>
        </p:nvSpPr>
        <p:spPr>
          <a:xfrm>
            <a:off x="71640" y="75960"/>
            <a:ext cx="9559440" cy="1347840"/>
          </a:xfrm>
          <a:prstGeom prst="rect">
            <a:avLst/>
          </a:prstGeom>
          <a:noFill/>
          <a:ln>
            <a:noFill/>
          </a:ln>
        </p:spPr>
        <p:style>
          <a:lnRef idx="0"/>
          <a:fillRef idx="0"/>
          <a:effectRef idx="0"/>
          <a:fontRef idx="minor"/>
        </p:style>
        <p:txBody>
          <a:bodyPr lIns="0" rIns="0" tIns="0" bIns="0" anchor="ctr"/>
          <a:p>
            <a:pPr>
              <a:lnSpc>
                <a:spcPct val="100000"/>
              </a:lnSpc>
            </a:pPr>
            <a:r>
              <a:rPr b="1" lang="en-IN" sz="2800" spc="-1" strike="noStrike" u="sng">
                <a:solidFill>
                  <a:srgbClr val="ce181e"/>
                </a:solidFill>
                <a:uFillTx/>
                <a:latin typeface="Times New Roman"/>
                <a:ea typeface="DejaVu Sans"/>
              </a:rPr>
              <a:t>Command:</a:t>
            </a:r>
            <a:r>
              <a:rPr b="1" lang="en-IN" sz="2800" spc="-1" strike="noStrike">
                <a:solidFill>
                  <a:srgbClr val="ce181e"/>
                </a:solidFill>
                <a:latin typeface="Times New Roman"/>
                <a:ea typeface="DejaVu Sans"/>
              </a:rPr>
              <a:t>    </a:t>
            </a:r>
            <a:r>
              <a:rPr b="0" lang="en-IN" sz="2800" spc="-1" strike="noStrike">
                <a:solidFill>
                  <a:srgbClr val="0000ff"/>
                </a:solidFill>
                <a:latin typeface="Times New Roman"/>
                <a:ea typeface="DejaVu Sans"/>
              </a:rPr>
              <a:t>ps -el | grep pts/0</a:t>
            </a:r>
            <a:br/>
            <a:r>
              <a:rPr b="0" lang="en-IN" sz="2800" spc="-1" strike="noStrike">
                <a:solidFill>
                  <a:srgbClr val="000000"/>
                </a:solidFill>
                <a:latin typeface="Times New Roman"/>
                <a:ea typeface="DejaVu Sans"/>
              </a:rPr>
              <a:t>        To know the status of a foreground or background process running under a terminal using another terminal.</a:t>
            </a:r>
            <a:endParaRPr b="0" lang="en-IN" sz="2800" spc="-1" strike="noStrike">
              <a:latin typeface="Arial"/>
            </a:endParaRPr>
          </a:p>
        </p:txBody>
      </p:sp>
      <p:sp>
        <p:nvSpPr>
          <p:cNvPr id="295" name="CustomShape 2"/>
          <p:cNvSpPr/>
          <p:nvPr/>
        </p:nvSpPr>
        <p:spPr>
          <a:xfrm>
            <a:off x="143640" y="1439280"/>
            <a:ext cx="9415440" cy="27198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2200" spc="-1" strike="noStrike">
                <a:solidFill>
                  <a:srgbClr val="000000"/>
                </a:solidFill>
                <a:latin typeface="Arial"/>
                <a:ea typeface="DejaVu Sans"/>
              </a:rPr>
              <a:t>vector@system:~/linux$ ps -el|grep pts/0</a:t>
            </a:r>
            <a:endParaRPr b="0" lang="en-IN" sz="2200" spc="-1" strike="noStrike">
              <a:latin typeface="Arial"/>
            </a:endParaRPr>
          </a:p>
          <a:p>
            <a:pPr>
              <a:lnSpc>
                <a:spcPct val="100000"/>
              </a:lnSpc>
            </a:pPr>
            <a:r>
              <a:rPr b="0" lang="en-IN" sz="2200" spc="-1" strike="noStrike">
                <a:solidFill>
                  <a:srgbClr val="000000"/>
                </a:solidFill>
                <a:latin typeface="Arial"/>
                <a:ea typeface="DejaVu Sans"/>
              </a:rPr>
              <a:t>0 S  1000  3927  3917  0  80   0 -  5808 wait        pts/0    00:00:00   bash</a:t>
            </a:r>
            <a:endParaRPr b="0" lang="en-IN" sz="2200" spc="-1" strike="noStrike">
              <a:latin typeface="Arial"/>
            </a:endParaRPr>
          </a:p>
          <a:p>
            <a:pPr>
              <a:lnSpc>
                <a:spcPct val="100000"/>
              </a:lnSpc>
            </a:pPr>
            <a:r>
              <a:rPr b="0" lang="en-IN" sz="2200" spc="-1" strike="noStrike">
                <a:solidFill>
                  <a:srgbClr val="000000"/>
                </a:solidFill>
                <a:latin typeface="Arial"/>
                <a:ea typeface="DejaVu Sans"/>
              </a:rPr>
              <a:t>0 R  1000  3955  3927 99  80   0 -  1096 -            pts/0    01:03:39   a.out</a:t>
            </a:r>
            <a:endParaRPr b="0" lang="en-IN" sz="2200" spc="-1" strike="noStrike">
              <a:latin typeface="Arial"/>
            </a:endParaRPr>
          </a:p>
          <a:p>
            <a:pPr>
              <a:lnSpc>
                <a:spcPct val="100000"/>
              </a:lnSpc>
            </a:pPr>
            <a:r>
              <a:rPr b="0" lang="en-IN" sz="2200" spc="-1" strike="noStrike">
                <a:solidFill>
                  <a:srgbClr val="000000"/>
                </a:solidFill>
                <a:latin typeface="Arial"/>
                <a:ea typeface="DejaVu Sans"/>
              </a:rPr>
              <a:t>4 R  1000 13787  3927  0  80   0 -  7230 -            pts/0    00:00:00   ps</a:t>
            </a:r>
            <a:endParaRPr b="0" lang="en-IN" sz="2200" spc="-1" strike="noStrike">
              <a:latin typeface="Arial"/>
            </a:endParaRPr>
          </a:p>
          <a:p>
            <a:pPr>
              <a:lnSpc>
                <a:spcPct val="100000"/>
              </a:lnSpc>
            </a:pPr>
            <a:r>
              <a:rPr b="0" lang="en-IN" sz="2200" spc="-1" strike="noStrike">
                <a:solidFill>
                  <a:srgbClr val="000000"/>
                </a:solidFill>
                <a:latin typeface="Arial"/>
                <a:ea typeface="DejaVu Sans"/>
              </a:rPr>
              <a:t>0 S  1000 13788  3927  0  80   0 -  3608 pipe_w  pts/0    00:00:00   grep</a:t>
            </a:r>
            <a:endParaRPr b="0" lang="en-IN" sz="2200" spc="-1" strike="noStrike">
              <a:latin typeface="Arial"/>
            </a:endParaRPr>
          </a:p>
          <a:p>
            <a:pPr>
              <a:lnSpc>
                <a:spcPct val="100000"/>
              </a:lnSpc>
            </a:pPr>
            <a:r>
              <a:rPr b="0" lang="en-IN" sz="2200" spc="-1" strike="noStrike">
                <a:solidFill>
                  <a:srgbClr val="000000"/>
                </a:solidFill>
                <a:latin typeface="Arial"/>
                <a:ea typeface="DejaVu Sans"/>
              </a:rPr>
              <a:t>vector@system:~/linux$</a:t>
            </a:r>
            <a:r>
              <a:rPr b="0" lang="en-IN" sz="1800" spc="-1" strike="noStrike">
                <a:solidFill>
                  <a:srgbClr val="000000"/>
                </a:solidFill>
                <a:latin typeface="Arial"/>
                <a:ea typeface="DejaVu Sans"/>
              </a:rPr>
              <a:t> </a:t>
            </a:r>
            <a:endParaRPr b="0" lang="en-IN" sz="1800" spc="-1" strike="noStrike">
              <a:latin typeface="Arial"/>
            </a:endParaRPr>
          </a:p>
          <a:p>
            <a:pPr>
              <a:lnSpc>
                <a:spcPct val="100000"/>
              </a:lnSpc>
            </a:pPr>
            <a:endParaRPr b="0" lang="en-IN" sz="1800" spc="-1" strike="noStrike">
              <a:latin typeface="Arial"/>
            </a:endParaRPr>
          </a:p>
        </p:txBody>
      </p:sp>
    </p:spTree>
  </p:cSld>
  <p:timing>
    <p:tnLst>
      <p:par>
        <p:cTn id="27" dur="indefinite" restart="never" nodeType="tmRoot">
          <p:childTnLst>
            <p:seq>
              <p:cTn id="28" dur="indefinite"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CustomShape 1"/>
          <p:cNvSpPr/>
          <p:nvPr/>
        </p:nvSpPr>
        <p:spPr>
          <a:xfrm>
            <a:off x="504000" y="9360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Daemon Process</a:t>
            </a:r>
            <a:endParaRPr b="0" lang="en-IN" sz="3600" spc="-1" strike="noStrike">
              <a:latin typeface="Arial"/>
            </a:endParaRPr>
          </a:p>
        </p:txBody>
      </p:sp>
      <p:sp>
        <p:nvSpPr>
          <p:cNvPr id="297" name="CustomShape 2"/>
          <p:cNvSpPr/>
          <p:nvPr/>
        </p:nvSpPr>
        <p:spPr>
          <a:xfrm>
            <a:off x="287640" y="718920"/>
            <a:ext cx="9620280" cy="624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 daemon is a special purpose process that is created &amp; handled by the system in the same way as other processes, but is distinguished by the following characteristics.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It is long lived. A daemon process is often started at system boot and remains in existance untill the system is shutdown for majority of services.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It runs in the background and has no controlling terminal(‘?’) from which it can read input or to which it can write output.</a:t>
            </a:r>
            <a:endParaRPr b="0" lang="en-IN" sz="2800" spc="-1" strike="noStrike">
              <a:latin typeface="Arial"/>
            </a:endParaRPr>
          </a:p>
          <a:p>
            <a:pPr marL="432000" indent="-308160">
              <a:lnSpc>
                <a:spcPct val="100000"/>
              </a:lnSpc>
              <a:spcBef>
                <a:spcPts val="1191"/>
              </a:spcBef>
              <a:spcAft>
                <a:spcPts val="992"/>
              </a:spcAft>
              <a:buClr>
                <a:srgbClr val="000000"/>
              </a:buClr>
              <a:buSzPct val="45000"/>
              <a:buFont typeface="Wingdings" charset="2"/>
              <a:buChar char=""/>
            </a:pPr>
            <a:r>
              <a:rPr b="0" lang="en-IN" sz="2800" spc="-1" strike="noStrike">
                <a:solidFill>
                  <a:srgbClr val="000000"/>
                </a:solidFill>
                <a:latin typeface="Times New Roman"/>
                <a:ea typeface="DejaVu Sans"/>
              </a:rPr>
              <a:t>In the Unix and Linux world, a daemon is a background process that typically performs tasks without requiring user interaction.</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These tasks often involve critical services like system logging, email routing, or web server hosting</a:t>
            </a:r>
            <a:endParaRPr b="0" lang="en-IN" sz="2800" spc="-1" strike="noStrike">
              <a:latin typeface="Arial"/>
            </a:endParaRPr>
          </a:p>
          <a:p>
            <a:pPr>
              <a:lnSpc>
                <a:spcPct val="100000"/>
              </a:lnSpc>
              <a:spcBef>
                <a:spcPts val="1417"/>
              </a:spcBef>
            </a:pPr>
            <a:endParaRPr b="0" lang="en-IN" sz="2800" spc="-1" strike="noStrike">
              <a:latin typeface="Arial"/>
            </a:endParaRPr>
          </a:p>
        </p:txBody>
      </p:sp>
    </p:spTree>
  </p:cSld>
  <p:timing>
    <p:tnLst>
      <p:par>
        <p:cTn id="29" dur="indefinite" restart="never" nodeType="tmRoot">
          <p:childTnLst>
            <p:seq>
              <p:cTn id="30" dur="indefinite" nodeType="mainSeq"/>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CustomShape 1"/>
          <p:cNvSpPr/>
          <p:nvPr/>
        </p:nvSpPr>
        <p:spPr>
          <a:xfrm>
            <a:off x="504000" y="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allocating pid’s</a:t>
            </a:r>
            <a:endParaRPr b="0" lang="en-IN" sz="4400" spc="-1" strike="noStrike">
              <a:latin typeface="Arial"/>
            </a:endParaRPr>
          </a:p>
        </p:txBody>
      </p:sp>
      <p:sp>
        <p:nvSpPr>
          <p:cNvPr id="299" name="CustomShape 2"/>
          <p:cNvSpPr/>
          <p:nvPr/>
        </p:nvSpPr>
        <p:spPr>
          <a:xfrm>
            <a:off x="287640" y="646920"/>
            <a:ext cx="9559440" cy="6320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There are some pid’s fixed for certain background process/services.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In background processes, majority of the lower numbered pids are reserved for some services.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Noto Sans CJK SC Regular"/>
              </a:rPr>
              <a:t>  </a:t>
            </a:r>
            <a:r>
              <a:rPr b="0" lang="en-IN" sz="2800" spc="-1" strike="noStrike">
                <a:solidFill>
                  <a:srgbClr val="000000"/>
                </a:solidFill>
                <a:latin typeface="Times New Roman"/>
                <a:ea typeface="Noto Sans CJK SC Regular"/>
              </a:rPr>
              <a:t>To known range of maximum pid</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5c2d91"/>
                </a:solidFill>
                <a:latin typeface="Times New Roman"/>
                <a:ea typeface="Noto Sans CJK SC Regular"/>
              </a:rPr>
              <a:t>   </a:t>
            </a:r>
            <a:r>
              <a:rPr b="0" lang="en-IN" sz="2800" spc="-1" strike="noStrike">
                <a:solidFill>
                  <a:srgbClr val="5c2d91"/>
                </a:solidFill>
                <a:latin typeface="Times New Roman"/>
                <a:ea typeface="Noto Sans CJK SC Regular"/>
              </a:rPr>
              <a:t>$</a:t>
            </a:r>
            <a:r>
              <a:rPr b="0" lang="en-IN" sz="2800" spc="-1" strike="noStrike">
                <a:solidFill>
                  <a:srgbClr val="000000"/>
                </a:solidFill>
                <a:latin typeface="Times New Roman"/>
                <a:ea typeface="Noto Sans CJK SC Regular"/>
              </a:rPr>
              <a:t>vi</a:t>
            </a:r>
            <a:r>
              <a:rPr b="0" lang="en-IN" sz="2800" spc="-1" strike="noStrike">
                <a:solidFill>
                  <a:srgbClr val="ef413d"/>
                </a:solidFill>
                <a:latin typeface="Times New Roman"/>
                <a:ea typeface="Noto Sans CJK SC Regular"/>
              </a:rPr>
              <a:t> </a:t>
            </a:r>
            <a:r>
              <a:rPr b="0" lang="en-IN" sz="2800" spc="-1" strike="noStrike">
                <a:solidFill>
                  <a:srgbClr val="390a5d"/>
                </a:solidFill>
                <a:latin typeface="Times New Roman"/>
                <a:ea typeface="Noto Sans CJK SC Regular"/>
              </a:rPr>
              <a:t>/proc/sys/kernel/pid_max.</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Noto Sans CJK SC Regular"/>
              </a:rPr>
              <a:t>  </a:t>
            </a:r>
            <a:r>
              <a:rPr b="0" lang="en-IN" sz="2800" spc="-1" strike="noStrike">
                <a:solidFill>
                  <a:srgbClr val="000000"/>
                </a:solidFill>
                <a:latin typeface="Times New Roman"/>
                <a:ea typeface="Noto Sans CJK SC Regular"/>
              </a:rPr>
              <a:t>To print the pid of the Process, then use a function --&gt; </a:t>
            </a:r>
            <a:r>
              <a:rPr b="0" lang="en-IN" sz="2800" spc="-1" strike="noStrike">
                <a:solidFill>
                  <a:srgbClr val="0000cc"/>
                </a:solidFill>
                <a:latin typeface="Times New Roman"/>
                <a:ea typeface="Noto Sans CJK SC Regular"/>
              </a:rPr>
              <a:t>getpid()</a:t>
            </a:r>
            <a:endParaRPr b="0" lang="en-IN" sz="2800" spc="-1" strike="noStrike">
              <a:latin typeface="Arial"/>
            </a:endParaRPr>
          </a:p>
          <a:p>
            <a:pPr lvl="3" marL="1728000" indent="-200160">
              <a:lnSpc>
                <a:spcPct val="100000"/>
              </a:lnSpc>
              <a:spcBef>
                <a:spcPts val="567"/>
              </a:spcBef>
              <a:buClr>
                <a:srgbClr val="000000"/>
              </a:buClr>
              <a:buSzPct val="75000"/>
              <a:buFont typeface="Symbol"/>
              <a:buChar char=""/>
            </a:pPr>
            <a:r>
              <a:rPr b="0" lang="en-IN" sz="2800" spc="-1" strike="noStrike">
                <a:solidFill>
                  <a:srgbClr val="0000cc"/>
                </a:solidFill>
                <a:latin typeface="Times New Roman"/>
                <a:ea typeface="Noto Sans CJK SC Regular"/>
              </a:rPr>
              <a:t>man 2  getpid()</a:t>
            </a:r>
            <a:endParaRPr b="0" lang="en-IN" sz="2800" spc="-1" strike="noStrike">
              <a:latin typeface="Arial"/>
            </a:endParaRPr>
          </a:p>
          <a:p>
            <a:pPr>
              <a:lnSpc>
                <a:spcPct val="100000"/>
              </a:lnSpc>
              <a:spcBef>
                <a:spcPts val="1417"/>
              </a:spcBef>
            </a:pPr>
            <a:r>
              <a:rPr b="0" lang="en-IN" sz="2400" spc="-1" strike="noStrike" u="sng">
                <a:solidFill>
                  <a:srgbClr val="a3238e"/>
                </a:solidFill>
                <a:uFillTx/>
                <a:latin typeface="Times New Roman"/>
                <a:ea typeface="Noto Sans CJK SC Regular"/>
              </a:rPr>
              <a:t>Manual 2 pages contains:</a:t>
            </a:r>
            <a:endParaRPr b="0" lang="en-IN" sz="2400" spc="-1" strike="noStrike">
              <a:latin typeface="Arial"/>
            </a:endParaRPr>
          </a:p>
          <a:p>
            <a:pPr>
              <a:lnSpc>
                <a:spcPct val="100000"/>
              </a:lnSpc>
              <a:spcBef>
                <a:spcPts val="1417"/>
              </a:spcBef>
            </a:pPr>
            <a:r>
              <a:rPr b="0" lang="en-IN" sz="2400" spc="-1" strike="noStrike">
                <a:solidFill>
                  <a:srgbClr val="000000"/>
                </a:solidFill>
                <a:latin typeface="Times New Roman"/>
                <a:ea typeface="Noto Sans CJK SC Regular"/>
              </a:rPr>
              <a:t> </a:t>
            </a:r>
            <a:r>
              <a:rPr b="0" lang="en-IN" sz="2400" spc="-1" strike="noStrike">
                <a:solidFill>
                  <a:srgbClr val="000000"/>
                </a:solidFill>
                <a:latin typeface="Times New Roman"/>
                <a:ea typeface="Noto Sans CJK SC Regular"/>
              </a:rPr>
              <a:t>1.executable programs or shell commands.</a:t>
            </a:r>
            <a:endParaRPr b="0" lang="en-IN" sz="2400" spc="-1" strike="noStrike">
              <a:latin typeface="Arial"/>
            </a:endParaRPr>
          </a:p>
          <a:p>
            <a:pPr>
              <a:lnSpc>
                <a:spcPct val="100000"/>
              </a:lnSpc>
              <a:spcBef>
                <a:spcPts val="1417"/>
              </a:spcBef>
            </a:pPr>
            <a:r>
              <a:rPr b="0" lang="en-IN" sz="2400" spc="-1" strike="noStrike">
                <a:solidFill>
                  <a:srgbClr val="000000"/>
                </a:solidFill>
                <a:latin typeface="Times New Roman"/>
                <a:ea typeface="Noto Sans CJK SC Regular"/>
              </a:rPr>
              <a:t> </a:t>
            </a:r>
            <a:r>
              <a:rPr b="0" lang="en-IN" sz="2400" spc="-1" strike="noStrike">
                <a:solidFill>
                  <a:srgbClr val="000000"/>
                </a:solidFill>
                <a:latin typeface="Times New Roman"/>
                <a:ea typeface="Noto Sans CJK SC Regular"/>
              </a:rPr>
              <a:t>2.system calls( function provoided by kernel library).</a:t>
            </a:r>
            <a:endParaRPr b="0" lang="en-IN" sz="2400" spc="-1" strike="noStrike">
              <a:latin typeface="Arial"/>
            </a:endParaRPr>
          </a:p>
          <a:p>
            <a:pPr>
              <a:lnSpc>
                <a:spcPct val="100000"/>
              </a:lnSpc>
              <a:spcBef>
                <a:spcPts val="1417"/>
              </a:spcBef>
            </a:pPr>
            <a:r>
              <a:rPr b="0" lang="en-IN" sz="2400" spc="-1" strike="noStrike">
                <a:solidFill>
                  <a:srgbClr val="000000"/>
                </a:solidFill>
                <a:latin typeface="Times New Roman"/>
                <a:ea typeface="Noto Sans CJK SC Regular"/>
              </a:rPr>
              <a:t> </a:t>
            </a:r>
            <a:r>
              <a:rPr b="0" lang="en-IN" sz="2400" spc="-1" strike="noStrike">
                <a:solidFill>
                  <a:srgbClr val="000000"/>
                </a:solidFill>
                <a:latin typeface="Times New Roman"/>
                <a:ea typeface="Noto Sans CJK SC Regular"/>
              </a:rPr>
              <a:t>3.library function calls(functions provoided by library).</a:t>
            </a:r>
            <a:endParaRPr b="0" lang="en-IN" sz="2400" spc="-1" strike="noStrike">
              <a:latin typeface="Arial"/>
            </a:endParaRPr>
          </a:p>
          <a:p>
            <a:pPr>
              <a:lnSpc>
                <a:spcPct val="100000"/>
              </a:lnSpc>
              <a:spcBef>
                <a:spcPts val="567"/>
              </a:spcBef>
            </a:pPr>
            <a:endParaRPr b="0" lang="en-IN" sz="2400" spc="-1" strike="noStrike">
              <a:latin typeface="Arial"/>
            </a:endParaRPr>
          </a:p>
        </p:txBody>
      </p:sp>
    </p:spTree>
  </p:cSld>
  <p:timing>
    <p:tnLst>
      <p:par>
        <p:cTn id="31" dur="indefinite" restart="never" nodeType="tmRoot">
          <p:childTnLst>
            <p:seq>
              <p:cTn id="32" dur="indefinite" nodeType="mainSeq"/>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CustomShape 1"/>
          <p:cNvSpPr/>
          <p:nvPr/>
        </p:nvSpPr>
        <p:spPr>
          <a:xfrm>
            <a:off x="647640" y="1188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getpid() &amp; getppid()</a:t>
            </a:r>
            <a:endParaRPr b="0" lang="en-IN" sz="3600" spc="-1" strike="noStrike">
              <a:latin typeface="Arial"/>
            </a:endParaRPr>
          </a:p>
        </p:txBody>
      </p:sp>
      <p:sp>
        <p:nvSpPr>
          <p:cNvPr id="301" name="CustomShape 2"/>
          <p:cNvSpPr/>
          <p:nvPr/>
        </p:nvSpPr>
        <p:spPr>
          <a:xfrm>
            <a:off x="359640" y="718920"/>
            <a:ext cx="9055080" cy="57783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f0"/>
                </a:solidFill>
                <a:latin typeface="Times New Roman"/>
                <a:ea typeface="DejaVu Sans"/>
              </a:rPr>
              <a:t>getpid() - </a:t>
            </a:r>
            <a:r>
              <a:rPr b="0" lang="en-IN" sz="3200" spc="-1" strike="noStrike">
                <a:solidFill>
                  <a:srgbClr val="000000"/>
                </a:solidFill>
                <a:latin typeface="Times New Roman"/>
                <a:ea typeface="DejaVu Sans"/>
              </a:rPr>
              <a:t>to get process id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SYNOPSIS: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#include &lt;sys/types.h&gt;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#include &lt;unistd.h&gt;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ff"/>
                </a:solidFill>
                <a:latin typeface="Times New Roman"/>
                <a:ea typeface="DejaVu Sans"/>
              </a:rPr>
              <a:t>pid_t</a:t>
            </a:r>
            <a:r>
              <a:rPr b="0" lang="en-IN" sz="3200" spc="-1" strike="noStrike">
                <a:solidFill>
                  <a:srgbClr val="000000"/>
                </a:solidFill>
                <a:latin typeface="Times New Roman"/>
                <a:ea typeface="DejaVu Sans"/>
              </a:rPr>
              <a:t> getpid(</a:t>
            </a:r>
            <a:r>
              <a:rPr b="0" lang="en-IN" sz="3200" spc="-1" strike="noStrike">
                <a:solidFill>
                  <a:srgbClr val="0000ff"/>
                </a:solidFill>
                <a:latin typeface="Times New Roman"/>
                <a:ea typeface="DejaVu Sans"/>
              </a:rPr>
              <a:t>void</a:t>
            </a:r>
            <a:r>
              <a:rPr b="0" lang="en-IN" sz="3200" spc="-1" strike="noStrike">
                <a:solidFill>
                  <a:srgbClr val="000000"/>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ff"/>
                </a:solidFill>
                <a:latin typeface="Times New Roman"/>
                <a:ea typeface="DejaVu Sans"/>
              </a:rPr>
              <a:t>pid_t</a:t>
            </a:r>
            <a:r>
              <a:rPr b="0" lang="en-IN" sz="3200" spc="-1" strike="noStrike">
                <a:solidFill>
                  <a:srgbClr val="000000"/>
                </a:solidFill>
                <a:latin typeface="Times New Roman"/>
                <a:ea typeface="DejaVu Sans"/>
              </a:rPr>
              <a:t> getppid(</a:t>
            </a:r>
            <a:r>
              <a:rPr b="0" lang="en-IN" sz="3200" spc="-1" strike="noStrike">
                <a:solidFill>
                  <a:srgbClr val="0000ff"/>
                </a:solidFill>
                <a:latin typeface="Times New Roman"/>
                <a:ea typeface="DejaVu Sans"/>
              </a:rPr>
              <a:t>void</a:t>
            </a:r>
            <a:r>
              <a:rPr b="0" lang="en-IN" sz="3200" spc="-1" strike="noStrike">
                <a:solidFill>
                  <a:srgbClr val="000000"/>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ff"/>
                </a:solidFill>
                <a:latin typeface="Times New Roman"/>
                <a:ea typeface="DejaVu Sans"/>
              </a:rPr>
              <a:t> </a:t>
            </a:r>
            <a:r>
              <a:rPr b="0" lang="en-IN" sz="3200" spc="-1" strike="noStrike" u="sng">
                <a:solidFill>
                  <a:srgbClr val="0000f0"/>
                </a:solidFill>
                <a:uFillTx/>
                <a:latin typeface="Times New Roman"/>
                <a:ea typeface="DejaVu Sans"/>
              </a:rPr>
              <a:t>DESCRIPTION: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f0"/>
                </a:solidFill>
                <a:latin typeface="Times New Roman"/>
                <a:ea typeface="DejaVu Sans"/>
              </a:rPr>
              <a:t>      </a:t>
            </a: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getpid() returns the process ID of the calling process.  (This is often.used by routines that generate unique temporary filenames.)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getppid() returns the process ID of the parent of the calling process.</a:t>
            </a:r>
            <a:endParaRPr b="0" lang="en-IN" sz="3200" spc="-1" strike="noStrike">
              <a:latin typeface="Arial"/>
            </a:endParaRPr>
          </a:p>
        </p:txBody>
      </p:sp>
    </p:spTree>
  </p:cSld>
  <p:timing>
    <p:tnLst>
      <p:par>
        <p:cTn id="33" dur="indefinite" restart="never" nodeType="tmRoot">
          <p:childTnLst>
            <p:seq>
              <p:cTn id="34" dur="indefinite" nodeType="mainSeq"/>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CustomShape 1"/>
          <p:cNvSpPr/>
          <p:nvPr/>
        </p:nvSpPr>
        <p:spPr>
          <a:xfrm>
            <a:off x="288000" y="15624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getpid()</a:t>
            </a:r>
            <a:endParaRPr b="0" lang="en-IN" sz="3600" spc="-1" strike="noStrike">
              <a:latin typeface="Arial"/>
            </a:endParaRPr>
          </a:p>
        </p:txBody>
      </p:sp>
      <p:sp>
        <p:nvSpPr>
          <p:cNvPr id="303" name="CustomShape 2"/>
          <p:cNvSpPr/>
          <p:nvPr/>
        </p:nvSpPr>
        <p:spPr>
          <a:xfrm>
            <a:off x="287640" y="1007280"/>
            <a:ext cx="9055080" cy="6032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#include&lt;stdio.h&gt;</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int main()</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main \n");</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printf("pid=%d\n",getpid());</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printf("ppid=%d\n",getppid());</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Every process will have a parent process to collect the status of child process.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For every process running bydefault under a particular terminal, </a:t>
            </a:r>
            <a:r>
              <a:rPr b="0" lang="en-IN" sz="2800" spc="-1" strike="noStrike">
                <a:solidFill>
                  <a:srgbClr val="0000ff"/>
                </a:solidFill>
                <a:latin typeface="Times New Roman"/>
                <a:ea typeface="DejaVu Sans"/>
              </a:rPr>
              <a:t>bash </a:t>
            </a:r>
            <a:r>
              <a:rPr b="0" lang="en-IN" sz="2800" spc="-1" strike="noStrike">
                <a:solidFill>
                  <a:srgbClr val="000000"/>
                </a:solidFill>
                <a:latin typeface="Times New Roman"/>
                <a:ea typeface="DejaVu Sans"/>
              </a:rPr>
              <a:t>will act as parent process.</a:t>
            </a:r>
            <a:r>
              <a:rPr b="0" lang="en-IN" sz="2800" spc="-1" strike="noStrike">
                <a:solidFill>
                  <a:srgbClr val="0000ff"/>
                </a:solidFill>
                <a:latin typeface="Times New Roman"/>
                <a:ea typeface="DejaVu Sans"/>
              </a:rPr>
              <a:t> </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bash is like a shell.</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Bash (Bourne again shell) </a:t>
            </a:r>
            <a:endParaRPr b="0" lang="en-IN" sz="2800" spc="-1" strike="noStrike">
              <a:latin typeface="Arial"/>
            </a:endParaRPr>
          </a:p>
          <a:p>
            <a:pPr>
              <a:lnSpc>
                <a:spcPct val="100000"/>
              </a:lnSpc>
              <a:spcBef>
                <a:spcPts val="1417"/>
              </a:spcBef>
            </a:pPr>
            <a:endParaRPr b="0" lang="en-IN" sz="2800" spc="-1" strike="noStrike">
              <a:latin typeface="Arial"/>
            </a:endParaRPr>
          </a:p>
          <a:p>
            <a:pPr>
              <a:lnSpc>
                <a:spcPct val="100000"/>
              </a:lnSpc>
              <a:spcBef>
                <a:spcPts val="567"/>
              </a:spcBef>
            </a:pPr>
            <a:endParaRPr b="0" lang="en-IN" sz="2800" spc="-1" strike="noStrike">
              <a:latin typeface="Arial"/>
            </a:endParaRPr>
          </a:p>
        </p:txBody>
      </p:sp>
    </p:spTree>
  </p:cSld>
  <p:timing>
    <p:tnLst>
      <p:par>
        <p:cTn id="35" dur="indefinite" restart="never" nodeType="tmRoot">
          <p:childTnLst>
            <p:seq>
              <p:cTn id="36" dur="indefinite" nodeType="mainSeq"/>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CustomShape 1"/>
          <p:cNvSpPr/>
          <p:nvPr/>
        </p:nvSpPr>
        <p:spPr>
          <a:xfrm>
            <a:off x="503640" y="287640"/>
            <a:ext cx="9055080" cy="896400"/>
          </a:xfrm>
          <a:prstGeom prst="rect">
            <a:avLst/>
          </a:prstGeom>
          <a:noFill/>
          <a:ln>
            <a:noFill/>
          </a:ln>
        </p:spPr>
        <p:style>
          <a:lnRef idx="0"/>
          <a:fillRef idx="0"/>
          <a:effectRef idx="0"/>
          <a:fontRef idx="minor"/>
        </p:style>
        <p:txBody>
          <a:bodyPr lIns="0" rIns="0" tIns="0" bIns="0" anchor="ctr"/>
          <a:p>
            <a:pPr>
              <a:lnSpc>
                <a:spcPct val="100000"/>
              </a:lnSpc>
            </a:pPr>
            <a:r>
              <a:rPr b="0" lang="en-IN" sz="3200" spc="-1" strike="noStrike">
                <a:solidFill>
                  <a:srgbClr val="a3238e"/>
                </a:solidFill>
                <a:latin typeface="Arial"/>
                <a:ea typeface="DejaVu Sans"/>
              </a:rPr>
              <a:t>Q) If the process ID reaches to the maximum value, then why it will resets the pid value to 300.</a:t>
            </a:r>
            <a:endParaRPr b="0" lang="en-IN" sz="3200" spc="-1" strike="noStrike">
              <a:latin typeface="Arial"/>
            </a:endParaRPr>
          </a:p>
        </p:txBody>
      </p:sp>
      <p:sp>
        <p:nvSpPr>
          <p:cNvPr id="305" name="CustomShape 2"/>
          <p:cNvSpPr/>
          <p:nvPr/>
        </p:nvSpPr>
        <p:spPr>
          <a:xfrm>
            <a:off x="503640" y="1367280"/>
            <a:ext cx="9199440" cy="610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Linux kernel limits process ID to be &lt;= 32767. When a new process is created, it is assigned the next sequentially available process ID.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Once it has reached 32767, the process id counter is reset to 300 rather than 1. This is done because of many low-numbered process Ids are in permanent use by system processes and daemons, and thus time would be wasted searching for an unused process ID in this range.</a:t>
            </a:r>
            <a:endParaRPr b="0" lang="en-IN" sz="3200" spc="-1" strike="noStrike">
              <a:latin typeface="Arial"/>
            </a:endParaRPr>
          </a:p>
        </p:txBody>
      </p:sp>
    </p:spTree>
  </p:cSld>
  <p:timing>
    <p:tnLst>
      <p:par>
        <p:cTn id="37" dur="indefinite" restart="never" nodeType="tmRoot">
          <p:childTnLst>
            <p:seq>
              <p:cTn id="38" dur="indefinite" nodeType="mainSeq"/>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CustomShape 1"/>
          <p:cNvSpPr/>
          <p:nvPr/>
        </p:nvSpPr>
        <p:spPr>
          <a:xfrm>
            <a:off x="719640" y="9360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more about process</a:t>
            </a:r>
            <a:endParaRPr b="0" lang="en-IN" sz="4000" spc="-1" strike="noStrike">
              <a:latin typeface="Arial"/>
            </a:endParaRPr>
          </a:p>
        </p:txBody>
      </p:sp>
      <p:sp>
        <p:nvSpPr>
          <p:cNvPr id="307" name="CustomShape 2"/>
          <p:cNvSpPr/>
          <p:nvPr/>
        </p:nvSpPr>
        <p:spPr>
          <a:xfrm>
            <a:off x="359640" y="646920"/>
            <a:ext cx="9487440" cy="6824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3200" spc="-1" strike="noStrike" u="sng">
                <a:solidFill>
                  <a:srgbClr val="0000ff"/>
                </a:solidFill>
                <a:uFillTx/>
                <a:latin typeface="Times New Roman"/>
                <a:ea typeface="DejaVu Sans"/>
              </a:rPr>
              <a:t>Starvation:</a:t>
            </a:r>
            <a:r>
              <a:rPr b="0" lang="en-IN" sz="2800" spc="-1" strike="noStrike">
                <a:solidFill>
                  <a:srgbClr val="0000ff"/>
                </a:solidFill>
                <a:latin typeface="Times New Roman"/>
                <a:ea typeface="DejaVu Sans"/>
              </a:rPr>
              <a:t>  </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In case of multiprocessing environment, when one process is under execution, remaining all other jobs are starving for CPU is called starvation.</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1" i="1" lang="en-IN" sz="2800" spc="-1" strike="noStrike">
                <a:solidFill>
                  <a:srgbClr val="000000"/>
                </a:solidFill>
                <a:latin typeface="Times New Roman"/>
                <a:ea typeface="DejaVu Sans"/>
              </a:rPr>
              <a:t>Starvation time is nothing but, waiting time of a process to get a CPU.</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CPU doesn’t handles one process, it runs many processes. When we want many processes to execute at the same time, then sometimes it delays to execute an application. This delay is called as starvation.</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Less starvation period is preferable, but zero starvation period is more preferable. But this is impossible, just it can be reduced.</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DejaVu Sans"/>
              </a:rPr>
              <a:t>If starvation lesses, then efficient CPU. i.e, it is inversely proportional.</a:t>
            </a:r>
            <a:endParaRPr b="0" lang="en-IN" sz="2800" spc="-1" strike="noStrike">
              <a:latin typeface="Arial"/>
            </a:endParaRPr>
          </a:p>
        </p:txBody>
      </p:sp>
    </p:spTree>
  </p:cSld>
  <p:timing>
    <p:tnLst>
      <p:par>
        <p:cTn id="39" dur="indefinite" restart="never" nodeType="tmRoot">
          <p:childTnLst>
            <p:seq>
              <p:cTn id="40" dur="indefinite" nodeType="mainSeq"/>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CustomShape 1"/>
          <p:cNvSpPr/>
          <p:nvPr/>
        </p:nvSpPr>
        <p:spPr>
          <a:xfrm>
            <a:off x="503640" y="935280"/>
            <a:ext cx="9271440" cy="62478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2800" spc="-1" strike="noStrike" u="sng">
                <a:solidFill>
                  <a:srgbClr val="0000cc"/>
                </a:solidFill>
                <a:uFillTx/>
                <a:latin typeface="Times New Roman"/>
                <a:ea typeface="Noto Sans CJK SC Regular"/>
              </a:rPr>
              <a:t>Turn around time:</a:t>
            </a:r>
            <a:r>
              <a:rPr b="0" lang="en-IN" sz="2800" spc="-1" strike="noStrike">
                <a:solidFill>
                  <a:srgbClr val="0000cc"/>
                </a:solidFill>
                <a:latin typeface="Times New Roman"/>
                <a:ea typeface="Noto Sans CJK SC Regular"/>
              </a:rPr>
              <a:t>  </a:t>
            </a:r>
            <a:r>
              <a:rPr b="0" lang="en-IN" sz="2800" spc="-1" strike="noStrike">
                <a:solidFill>
                  <a:srgbClr val="000000"/>
                </a:solidFill>
                <a:latin typeface="Times New Roman"/>
                <a:ea typeface="Noto Sans CJK SC Regular"/>
              </a:rPr>
              <a:t>(total time of a process)</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Noto Sans CJK SC Regular"/>
              </a:rPr>
              <a:t>Turnaround time is the total time taken to execute a process from the moment it enters into the CPU to untill it completes process execution.</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Noto Sans CJK SC Regular"/>
              </a:rPr>
              <a:t>Simply, time gap b/w submission of process to till completion of process is turn around time.</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u="sng">
                <a:solidFill>
                  <a:srgbClr val="0000cc"/>
                </a:solidFill>
                <a:uFillTx/>
                <a:latin typeface="Times New Roman"/>
                <a:ea typeface="Noto Sans CJK SC Regular"/>
              </a:rPr>
              <a:t>Responce time:</a:t>
            </a:r>
            <a:r>
              <a:rPr b="0" lang="en-IN" sz="2800" spc="-1" strike="noStrike">
                <a:solidFill>
                  <a:srgbClr val="0000cc"/>
                </a:solidFill>
                <a:latin typeface="Times New Roman"/>
                <a:ea typeface="Noto Sans CJK SC Regular"/>
              </a:rPr>
              <a:t>   </a:t>
            </a:r>
            <a:r>
              <a:rPr b="0" lang="en-IN" sz="2800" spc="-1" strike="noStrike">
                <a:solidFill>
                  <a:srgbClr val="000000"/>
                </a:solidFill>
                <a:latin typeface="Times New Roman"/>
                <a:ea typeface="Noto Sans CJK SC Regular"/>
              </a:rPr>
              <a:t>When process is submitted, time taking for the 1</a:t>
            </a:r>
            <a:r>
              <a:rPr b="0" lang="en-IN" sz="2800" spc="-1" strike="noStrike" baseline="101000">
                <a:solidFill>
                  <a:srgbClr val="000000"/>
                </a:solidFill>
                <a:latin typeface="Times New Roman"/>
                <a:ea typeface="Noto Sans CJK SC Regular"/>
              </a:rPr>
              <a:t>st</a:t>
            </a:r>
            <a:r>
              <a:rPr b="0" lang="en-IN" sz="2800" spc="-1" strike="noStrike">
                <a:solidFill>
                  <a:srgbClr val="000000"/>
                </a:solidFill>
                <a:latin typeface="Times New Roman"/>
                <a:ea typeface="Noto Sans CJK SC Regular"/>
              </a:rPr>
              <a:t> responce from the CPU (1</a:t>
            </a:r>
            <a:r>
              <a:rPr b="0" lang="en-IN" sz="2800" spc="-1" strike="noStrike" baseline="101000">
                <a:solidFill>
                  <a:srgbClr val="000000"/>
                </a:solidFill>
                <a:latin typeface="Times New Roman"/>
                <a:ea typeface="Noto Sans CJK SC Regular"/>
              </a:rPr>
              <a:t>st</a:t>
            </a:r>
            <a:r>
              <a:rPr b="0" lang="en-IN" sz="2800" spc="-1" strike="noStrike">
                <a:solidFill>
                  <a:srgbClr val="000000"/>
                </a:solidFill>
                <a:latin typeface="Times New Roman"/>
                <a:ea typeface="Noto Sans CJK SC Regular"/>
              </a:rPr>
              <a:t> instruction execution) is called Responce time.</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Noto Sans CJK SC Regular"/>
              </a:rPr>
              <a:t>If starvation has to be reduced, then responce time has also to be reduced.</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a:solidFill>
                  <a:srgbClr val="000000"/>
                </a:solidFill>
                <a:latin typeface="Times New Roman"/>
                <a:ea typeface="Noto Sans CJK SC Regular"/>
              </a:rPr>
              <a:t>Job for processor is to reduce responce time also.</a:t>
            </a:r>
            <a:endParaRPr b="0" lang="en-IN" sz="28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800" spc="-1" strike="noStrike" u="sng">
                <a:solidFill>
                  <a:srgbClr val="0000ff"/>
                </a:solidFill>
                <a:uFillTx/>
                <a:latin typeface="Times New Roman"/>
                <a:ea typeface="Noto Sans CJK SC Regular"/>
              </a:rPr>
              <a:t>Throughput: </a:t>
            </a:r>
            <a:r>
              <a:rPr b="0" lang="en-IN" sz="2800" spc="-1" strike="noStrike">
                <a:solidFill>
                  <a:srgbClr val="0000ff"/>
                </a:solidFill>
                <a:latin typeface="Times New Roman"/>
                <a:ea typeface="Noto Sans CJK SC Regular"/>
              </a:rPr>
              <a:t> </a:t>
            </a:r>
            <a:r>
              <a:rPr b="0" lang="en-IN" sz="2800" spc="-1" strike="noStrike">
                <a:solidFill>
                  <a:srgbClr val="000000"/>
                </a:solidFill>
                <a:latin typeface="Times New Roman"/>
                <a:ea typeface="Noto Sans CJK SC Regular"/>
              </a:rPr>
              <a:t>Number of jobs completed per unit of time</a:t>
            </a:r>
            <a:endParaRPr b="0" lang="en-IN" sz="2800" spc="-1" strike="noStrike">
              <a:latin typeface="Arial"/>
            </a:endParaRPr>
          </a:p>
        </p:txBody>
      </p:sp>
      <p:sp>
        <p:nvSpPr>
          <p:cNvPr id="309" name="CustomShape 2"/>
          <p:cNvSpPr/>
          <p:nvPr/>
        </p:nvSpPr>
        <p:spPr>
          <a:xfrm>
            <a:off x="720000" y="9396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more about process</a:t>
            </a:r>
            <a:endParaRPr b="0" lang="en-IN" sz="4000" spc="-1" strike="noStrike">
              <a:latin typeface="Arial"/>
            </a:endParaRPr>
          </a:p>
        </p:txBody>
      </p:sp>
    </p:spTree>
  </p:cSld>
  <p:timing>
    <p:tnLst>
      <p:par>
        <p:cTn id="41" dur="indefinite" restart="never" nodeType="tmRoot">
          <p:childTnLst>
            <p:seq>
              <p:cTn id="42" dur="indefinite" nodeType="mainSeq"/>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CustomShape 1"/>
          <p:cNvSpPr/>
          <p:nvPr/>
        </p:nvSpPr>
        <p:spPr>
          <a:xfrm>
            <a:off x="432000" y="1188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State of Processes</a:t>
            </a:r>
            <a:endParaRPr b="0" lang="en-IN" sz="3600" spc="-1" strike="noStrike">
              <a:latin typeface="Arial"/>
            </a:endParaRPr>
          </a:p>
        </p:txBody>
      </p:sp>
      <p:sp>
        <p:nvSpPr>
          <p:cNvPr id="311" name="CustomShape 2"/>
          <p:cNvSpPr/>
          <p:nvPr/>
        </p:nvSpPr>
        <p:spPr>
          <a:xfrm>
            <a:off x="143640" y="719640"/>
            <a:ext cx="9775440" cy="4592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 process (job), in its lifetime, continuously may not get executed by CPU. When it is not executed by CPU, then it is said to be in one of the state, as follows. </a:t>
            </a:r>
            <a:endParaRPr b="0" lang="en-IN" sz="2800" spc="-1" strike="noStrike">
              <a:latin typeface="Arial"/>
            </a:endParaRPr>
          </a:p>
          <a:p>
            <a:pPr marL="432000" indent="-308160">
              <a:lnSpc>
                <a:spcPct val="100000"/>
              </a:lnSpc>
              <a:spcBef>
                <a:spcPts val="1417"/>
              </a:spcBef>
              <a:buClr>
                <a:srgbClr val="000000"/>
              </a:buClr>
              <a:buFont typeface="StarSymbol"/>
              <a:buAutoNum type="romanLcPeriod"/>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Ready state</a:t>
            </a:r>
            <a:endParaRPr b="0" lang="en-IN" sz="2800" spc="-1" strike="noStrike">
              <a:latin typeface="Arial"/>
            </a:endParaRPr>
          </a:p>
          <a:p>
            <a:pPr marL="432000" indent="-308160">
              <a:lnSpc>
                <a:spcPct val="100000"/>
              </a:lnSpc>
              <a:spcBef>
                <a:spcPts val="1417"/>
              </a:spcBef>
              <a:buClr>
                <a:srgbClr val="000000"/>
              </a:buClr>
              <a:buFont typeface="StarSymbol"/>
              <a:buAutoNum type="romanLcPeriod"/>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Wait state</a:t>
            </a:r>
            <a:endParaRPr b="0" lang="en-IN" sz="2800" spc="-1" strike="noStrike">
              <a:latin typeface="Arial"/>
            </a:endParaRPr>
          </a:p>
          <a:p>
            <a:pPr marL="432000" indent="-308160">
              <a:lnSpc>
                <a:spcPct val="100000"/>
              </a:lnSpc>
              <a:spcBef>
                <a:spcPts val="1417"/>
              </a:spcBef>
              <a:buClr>
                <a:srgbClr val="000000"/>
              </a:buClr>
              <a:buFont typeface="StarSymbol"/>
              <a:buAutoNum type="romanLcPeriod"/>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Delayed state</a:t>
            </a:r>
            <a:endParaRPr b="0" lang="en-IN" sz="2800" spc="-1" strike="noStrike">
              <a:latin typeface="Arial"/>
            </a:endParaRPr>
          </a:p>
          <a:p>
            <a:pPr marL="432000" indent="-308160">
              <a:lnSpc>
                <a:spcPct val="100000"/>
              </a:lnSpc>
              <a:spcBef>
                <a:spcPts val="1417"/>
              </a:spcBef>
              <a:buClr>
                <a:srgbClr val="000000"/>
              </a:buClr>
              <a:buFont typeface="StarSymbol"/>
              <a:buAutoNum type="romanLcPeriod"/>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Suspend state </a:t>
            </a:r>
            <a:endParaRPr b="0" lang="en-IN" sz="2800" spc="-1" strike="noStrike">
              <a:latin typeface="Arial"/>
            </a:endParaRPr>
          </a:p>
          <a:p>
            <a:pPr marL="432000" indent="-308160">
              <a:lnSpc>
                <a:spcPct val="100000"/>
              </a:lnSpc>
              <a:spcBef>
                <a:spcPts val="1417"/>
              </a:spcBef>
              <a:buClr>
                <a:srgbClr val="000000"/>
              </a:buClr>
              <a:buFont typeface="StarSymbol"/>
              <a:buAutoNum type="romanLcPeriod"/>
            </a:pPr>
            <a:r>
              <a:rPr b="0" lang="en-IN" sz="2600" spc="-1" strike="noStrike">
                <a:solidFill>
                  <a:srgbClr val="000000"/>
                </a:solidFill>
                <a:latin typeface="Times New Roman"/>
                <a:ea typeface="DejaVu Sans"/>
              </a:rPr>
              <a:t>When a process is under execution, then it is called</a:t>
            </a:r>
            <a:r>
              <a:rPr b="0" lang="en-IN" sz="2600" spc="-1" strike="noStrike">
                <a:solidFill>
                  <a:srgbClr val="0000f0"/>
                </a:solidFill>
                <a:latin typeface="Times New Roman"/>
                <a:ea typeface="DejaVu Sans"/>
              </a:rPr>
              <a:t> </a:t>
            </a:r>
            <a:r>
              <a:rPr b="0" lang="en-IN" sz="2600" spc="-1" strike="noStrike" u="sng">
                <a:solidFill>
                  <a:srgbClr val="000000"/>
                </a:solidFill>
                <a:uFillTx/>
                <a:latin typeface="Times New Roman"/>
                <a:ea typeface="DejaVu Sans"/>
              </a:rPr>
              <a:t>Running state.</a:t>
            </a:r>
            <a:endParaRPr b="0" lang="en-IN" sz="2600" spc="-1" strike="noStrike">
              <a:latin typeface="Arial"/>
            </a:endParaRPr>
          </a:p>
        </p:txBody>
      </p:sp>
      <p:graphicFrame>
        <p:nvGraphicFramePr>
          <p:cNvPr id="312" name="Table 3"/>
          <p:cNvGraphicFramePr/>
          <p:nvPr/>
        </p:nvGraphicFramePr>
        <p:xfrm>
          <a:off x="431640" y="5850000"/>
          <a:ext cx="1098360" cy="347400"/>
        </p:xfrm>
        <a:graphic>
          <a:graphicData uri="http://schemas.openxmlformats.org/drawingml/2006/table">
            <a:tbl>
              <a:tblPr/>
              <a:tblGrid>
                <a:gridCol w="1098720"/>
              </a:tblGrid>
              <a:tr h="347760">
                <a:tc>
                  <a:txBody>
                    <a:bodyPr lIns="90000" rIns="90000"/>
                    <a:p>
                      <a:pPr>
                        <a:lnSpc>
                          <a:spcPct val="100000"/>
                        </a:lnSpc>
                      </a:pPr>
                      <a:r>
                        <a:rPr b="0" lang="en-IN" sz="1800" spc="-1" strike="noStrike">
                          <a:latin typeface="Arial"/>
                        </a:rPr>
                        <a:t>Ready</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313" name="Table 4"/>
          <p:cNvGraphicFramePr/>
          <p:nvPr/>
        </p:nvGraphicFramePr>
        <p:xfrm>
          <a:off x="2151720" y="5842440"/>
          <a:ext cx="1328040" cy="347400"/>
        </p:xfrm>
        <a:graphic>
          <a:graphicData uri="http://schemas.openxmlformats.org/drawingml/2006/table">
            <a:tbl>
              <a:tblPr/>
              <a:tblGrid>
                <a:gridCol w="1328400"/>
              </a:tblGrid>
              <a:tr h="347760">
                <a:tc>
                  <a:txBody>
                    <a:bodyPr lIns="90000" rIns="90000"/>
                    <a:p>
                      <a:pPr algn="ctr">
                        <a:lnSpc>
                          <a:spcPct val="100000"/>
                        </a:lnSpc>
                      </a:pPr>
                      <a:r>
                        <a:rPr b="0" lang="en-IN" sz="1800" spc="-1" strike="noStrike">
                          <a:latin typeface="Arial"/>
                        </a:rPr>
                        <a:t>Run</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314" name="Table 5"/>
          <p:cNvGraphicFramePr/>
          <p:nvPr/>
        </p:nvGraphicFramePr>
        <p:xfrm>
          <a:off x="3981240" y="5883120"/>
          <a:ext cx="1328040" cy="347400"/>
        </p:xfrm>
        <a:graphic>
          <a:graphicData uri="http://schemas.openxmlformats.org/drawingml/2006/table">
            <a:tbl>
              <a:tblPr/>
              <a:tblGrid>
                <a:gridCol w="1328400"/>
              </a:tblGrid>
              <a:tr h="347760">
                <a:tc>
                  <a:txBody>
                    <a:bodyPr lIns="90000" rIns="90000"/>
                    <a:p>
                      <a:pPr algn="ctr">
                        <a:lnSpc>
                          <a:spcPct val="100000"/>
                        </a:lnSpc>
                      </a:pPr>
                      <a:r>
                        <a:rPr b="0" lang="en-IN" sz="1800" spc="-1" strike="noStrike">
                          <a:latin typeface="Arial"/>
                        </a:rPr>
                        <a:t>Wait</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315" name="Table 6"/>
          <p:cNvGraphicFramePr/>
          <p:nvPr/>
        </p:nvGraphicFramePr>
        <p:xfrm>
          <a:off x="5825520" y="5908320"/>
          <a:ext cx="1328400" cy="347400"/>
        </p:xfrm>
        <a:graphic>
          <a:graphicData uri="http://schemas.openxmlformats.org/drawingml/2006/table">
            <a:tbl>
              <a:tblPr/>
              <a:tblGrid>
                <a:gridCol w="1328760"/>
              </a:tblGrid>
              <a:tr h="347760">
                <a:tc>
                  <a:txBody>
                    <a:bodyPr lIns="90000" rIns="90000"/>
                    <a:p>
                      <a:pPr algn="ctr">
                        <a:lnSpc>
                          <a:spcPct val="100000"/>
                        </a:lnSpc>
                      </a:pPr>
                      <a:r>
                        <a:rPr b="0" lang="en-IN" sz="1800" spc="-1" strike="noStrike">
                          <a:latin typeface="Arial"/>
                        </a:rPr>
                        <a:t>Ready</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316" name="Table 7"/>
          <p:cNvGraphicFramePr/>
          <p:nvPr/>
        </p:nvGraphicFramePr>
        <p:xfrm>
          <a:off x="7817760" y="5900400"/>
          <a:ext cx="1070640" cy="349200"/>
        </p:xfrm>
        <a:graphic>
          <a:graphicData uri="http://schemas.openxmlformats.org/drawingml/2006/table">
            <a:tbl>
              <a:tblPr/>
              <a:tblGrid>
                <a:gridCol w="1071000"/>
              </a:tblGrid>
              <a:tr h="349560">
                <a:tc>
                  <a:txBody>
                    <a:bodyPr lIns="90000" rIns="90000"/>
                    <a:p>
                      <a:pPr algn="ctr">
                        <a:lnSpc>
                          <a:spcPct val="100000"/>
                        </a:lnSpc>
                      </a:pPr>
                      <a:r>
                        <a:rPr b="0" lang="en-IN" sz="1800" spc="-1" strike="noStrike">
                          <a:latin typeface="Arial"/>
                        </a:rPr>
                        <a:t>Run</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17" name="Line 8"/>
          <p:cNvSpPr/>
          <p:nvPr/>
        </p:nvSpPr>
        <p:spPr>
          <a:xfrm>
            <a:off x="1530360" y="5975280"/>
            <a:ext cx="621360" cy="360"/>
          </a:xfrm>
          <a:prstGeom prst="line">
            <a:avLst/>
          </a:prstGeom>
          <a:ln>
            <a:solidFill>
              <a:srgbClr val="000000"/>
            </a:solidFill>
            <a:tailEnd len="med" type="triangle" w="med"/>
          </a:ln>
        </p:spPr>
        <p:style>
          <a:lnRef idx="0"/>
          <a:fillRef idx="0"/>
          <a:effectRef idx="0"/>
          <a:fontRef idx="minor"/>
        </p:style>
      </p:sp>
      <p:sp>
        <p:nvSpPr>
          <p:cNvPr id="318" name="Line 9"/>
          <p:cNvSpPr/>
          <p:nvPr/>
        </p:nvSpPr>
        <p:spPr>
          <a:xfrm>
            <a:off x="3480120" y="6047280"/>
            <a:ext cx="501120" cy="360"/>
          </a:xfrm>
          <a:prstGeom prst="line">
            <a:avLst/>
          </a:prstGeom>
          <a:ln>
            <a:solidFill>
              <a:srgbClr val="000000"/>
            </a:solidFill>
            <a:tailEnd len="med" type="triangle" w="med"/>
          </a:ln>
        </p:spPr>
        <p:style>
          <a:lnRef idx="0"/>
          <a:fillRef idx="0"/>
          <a:effectRef idx="0"/>
          <a:fontRef idx="minor"/>
        </p:style>
      </p:sp>
      <p:sp>
        <p:nvSpPr>
          <p:cNvPr id="319" name="Line 10"/>
          <p:cNvSpPr/>
          <p:nvPr/>
        </p:nvSpPr>
        <p:spPr>
          <a:xfrm>
            <a:off x="5309280" y="6047280"/>
            <a:ext cx="516600" cy="360"/>
          </a:xfrm>
          <a:prstGeom prst="line">
            <a:avLst/>
          </a:prstGeom>
          <a:ln>
            <a:solidFill>
              <a:srgbClr val="000000"/>
            </a:solidFill>
            <a:tailEnd len="med" type="triangle" w="med"/>
          </a:ln>
        </p:spPr>
        <p:style>
          <a:lnRef idx="0"/>
          <a:fillRef idx="0"/>
          <a:effectRef idx="0"/>
          <a:fontRef idx="minor"/>
        </p:style>
      </p:sp>
      <p:sp>
        <p:nvSpPr>
          <p:cNvPr id="320" name="Line 11"/>
          <p:cNvSpPr/>
          <p:nvPr/>
        </p:nvSpPr>
        <p:spPr>
          <a:xfrm>
            <a:off x="7154280" y="6047280"/>
            <a:ext cx="663480" cy="360"/>
          </a:xfrm>
          <a:prstGeom prst="line">
            <a:avLst/>
          </a:prstGeom>
          <a:ln>
            <a:solidFill>
              <a:srgbClr val="000000"/>
            </a:solidFill>
            <a:tailEnd len="med" type="triangle" w="med"/>
          </a:ln>
        </p:spPr>
        <p:style>
          <a:lnRef idx="0"/>
          <a:fillRef idx="0"/>
          <a:effectRef idx="0"/>
          <a:fontRef idx="minor"/>
        </p:style>
      </p:sp>
      <p:sp>
        <p:nvSpPr>
          <p:cNvPr id="321" name="Line 12"/>
          <p:cNvSpPr/>
          <p:nvPr/>
        </p:nvSpPr>
        <p:spPr>
          <a:xfrm flipV="1">
            <a:off x="8357760" y="5614920"/>
            <a:ext cx="360" cy="285120"/>
          </a:xfrm>
          <a:prstGeom prst="line">
            <a:avLst/>
          </a:prstGeom>
          <a:ln>
            <a:solidFill>
              <a:srgbClr val="000000"/>
            </a:solidFill>
          </a:ln>
        </p:spPr>
        <p:style>
          <a:lnRef idx="0"/>
          <a:fillRef idx="0"/>
          <a:effectRef idx="0"/>
          <a:fontRef idx="minor"/>
        </p:style>
      </p:sp>
      <p:sp>
        <p:nvSpPr>
          <p:cNvPr id="322" name="Line 13"/>
          <p:cNvSpPr/>
          <p:nvPr/>
        </p:nvSpPr>
        <p:spPr>
          <a:xfrm flipH="1">
            <a:off x="6408720" y="5614920"/>
            <a:ext cx="1949040" cy="360"/>
          </a:xfrm>
          <a:prstGeom prst="line">
            <a:avLst/>
          </a:prstGeom>
          <a:ln>
            <a:solidFill>
              <a:srgbClr val="000000"/>
            </a:solidFill>
          </a:ln>
        </p:spPr>
        <p:style>
          <a:lnRef idx="0"/>
          <a:fillRef idx="0"/>
          <a:effectRef idx="0"/>
          <a:fontRef idx="minor"/>
        </p:style>
      </p:sp>
      <p:sp>
        <p:nvSpPr>
          <p:cNvPr id="323" name="Line 14"/>
          <p:cNvSpPr/>
          <p:nvPr/>
        </p:nvSpPr>
        <p:spPr>
          <a:xfrm>
            <a:off x="6408720" y="5614920"/>
            <a:ext cx="360" cy="292320"/>
          </a:xfrm>
          <a:prstGeom prst="line">
            <a:avLst/>
          </a:prstGeom>
          <a:ln>
            <a:solidFill>
              <a:srgbClr val="000000"/>
            </a:solidFill>
            <a:tailEnd len="med" type="triangle" w="med"/>
          </a:ln>
        </p:spPr>
        <p:style>
          <a:lnRef idx="0"/>
          <a:fillRef idx="0"/>
          <a:effectRef idx="0"/>
          <a:fontRef idx="minor"/>
        </p:style>
      </p:sp>
      <p:sp>
        <p:nvSpPr>
          <p:cNvPr id="324" name="CustomShape 15"/>
          <p:cNvSpPr/>
          <p:nvPr/>
        </p:nvSpPr>
        <p:spPr>
          <a:xfrm>
            <a:off x="5399280" y="4996440"/>
            <a:ext cx="3655800" cy="60336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Times New Roman"/>
                <a:ea typeface="DejaVu Sans"/>
              </a:rPr>
              <a:t>(</a:t>
            </a:r>
            <a:r>
              <a:rPr b="0" lang="en-IN" sz="2200" spc="-1" strike="noStrike">
                <a:solidFill>
                  <a:srgbClr val="0000ff"/>
                </a:solidFill>
                <a:latin typeface="Times New Roman"/>
                <a:ea typeface="DejaVu Sans"/>
              </a:rPr>
              <a:t>If cpu is not complete the job)</a:t>
            </a:r>
            <a:endParaRPr b="0" lang="en-IN" sz="2200" spc="-1" strike="noStrike">
              <a:latin typeface="Arial"/>
            </a:endParaRPr>
          </a:p>
        </p:txBody>
      </p:sp>
      <p:sp>
        <p:nvSpPr>
          <p:cNvPr id="325" name="Line 16"/>
          <p:cNvSpPr/>
          <p:nvPr/>
        </p:nvSpPr>
        <p:spPr>
          <a:xfrm flipV="1">
            <a:off x="6585840" y="6257880"/>
            <a:ext cx="360" cy="366120"/>
          </a:xfrm>
          <a:prstGeom prst="line">
            <a:avLst/>
          </a:prstGeom>
          <a:ln>
            <a:solidFill>
              <a:srgbClr val="000000"/>
            </a:solidFill>
          </a:ln>
        </p:spPr>
        <p:style>
          <a:lnRef idx="0"/>
          <a:fillRef idx="0"/>
          <a:effectRef idx="0"/>
          <a:fontRef idx="minor"/>
        </p:style>
      </p:sp>
      <p:sp>
        <p:nvSpPr>
          <p:cNvPr id="326" name="Line 17"/>
          <p:cNvSpPr/>
          <p:nvPr/>
        </p:nvSpPr>
        <p:spPr>
          <a:xfrm flipH="1">
            <a:off x="6585840" y="6623280"/>
            <a:ext cx="1860480" cy="360"/>
          </a:xfrm>
          <a:prstGeom prst="line">
            <a:avLst/>
          </a:prstGeom>
          <a:ln>
            <a:solidFill>
              <a:srgbClr val="000000"/>
            </a:solidFill>
          </a:ln>
        </p:spPr>
        <p:style>
          <a:lnRef idx="0"/>
          <a:fillRef idx="0"/>
          <a:effectRef idx="0"/>
          <a:fontRef idx="minor"/>
        </p:style>
      </p:sp>
      <p:sp>
        <p:nvSpPr>
          <p:cNvPr id="327" name="Line 18"/>
          <p:cNvSpPr/>
          <p:nvPr/>
        </p:nvSpPr>
        <p:spPr>
          <a:xfrm flipV="1">
            <a:off x="8446320" y="6249600"/>
            <a:ext cx="360" cy="373320"/>
          </a:xfrm>
          <a:prstGeom prst="line">
            <a:avLst/>
          </a:prstGeom>
          <a:ln>
            <a:solidFill>
              <a:srgbClr val="000000"/>
            </a:solidFill>
            <a:tailEnd len="med" type="triangle" w="med"/>
          </a:ln>
        </p:spPr>
        <p:style>
          <a:lnRef idx="0"/>
          <a:fillRef idx="0"/>
          <a:effectRef idx="0"/>
          <a:fontRef idx="minor"/>
        </p:style>
      </p:sp>
    </p:spTree>
  </p:cSld>
  <p:timing>
    <p:tnLst>
      <p:par>
        <p:cTn id="43" dur="indefinite" restart="never" nodeType="tmRoot">
          <p:childTnLst>
            <p:seq>
              <p:cTn id="44" dur="indefinite" nodeType="mainSeq"/>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8" name="" descr=""/>
          <p:cNvPicPr/>
          <p:nvPr/>
        </p:nvPicPr>
        <p:blipFill>
          <a:blip r:embed="rId1"/>
          <a:stretch/>
        </p:blipFill>
        <p:spPr>
          <a:xfrm>
            <a:off x="143640" y="503280"/>
            <a:ext cx="8983440" cy="6536520"/>
          </a:xfrm>
          <a:prstGeom prst="rect">
            <a:avLst/>
          </a:prstGeom>
          <a:ln>
            <a:noFill/>
          </a:ln>
        </p:spPr>
      </p:pic>
      <p:sp>
        <p:nvSpPr>
          <p:cNvPr id="329" name="CustomShape 1"/>
          <p:cNvSpPr/>
          <p:nvPr/>
        </p:nvSpPr>
        <p:spPr>
          <a:xfrm>
            <a:off x="7415280" y="359280"/>
            <a:ext cx="2000160" cy="992160"/>
          </a:xfrm>
          <a:prstGeom prst="rect">
            <a:avLst/>
          </a:prstGeom>
          <a:solidFill>
            <a:srgbClr val="ffffff"/>
          </a:solidFill>
          <a:ln>
            <a:solidFill>
              <a:srgbClr val="ffffff"/>
            </a:solidFill>
          </a:ln>
        </p:spPr>
        <p:style>
          <a:lnRef idx="0"/>
          <a:fillRef idx="0"/>
          <a:effectRef idx="0"/>
          <a:fontRef idx="minor"/>
        </p:style>
      </p:sp>
      <p:sp>
        <p:nvSpPr>
          <p:cNvPr id="330" name="CustomShape 2"/>
          <p:cNvSpPr/>
          <p:nvPr/>
        </p:nvSpPr>
        <p:spPr>
          <a:xfrm>
            <a:off x="504000" y="8460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State of Processes</a:t>
            </a:r>
            <a:endParaRPr b="0" lang="en-IN" sz="3600" spc="-1" strike="noStrike">
              <a:latin typeface="Arial"/>
            </a:endParaRPr>
          </a:p>
        </p:txBody>
      </p:sp>
    </p:spTree>
  </p:cSld>
  <p:timing>
    <p:tnLst>
      <p:par>
        <p:cTn id="45" dur="indefinite" restart="never" nodeType="tmRoot">
          <p:childTnLst>
            <p:seq>
              <p:cTn id="46" dur="indefinite" nodeType="mainSeq"/>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CustomShape 1"/>
          <p:cNvSpPr/>
          <p:nvPr/>
        </p:nvSpPr>
        <p:spPr>
          <a:xfrm>
            <a:off x="504000" y="156240"/>
            <a:ext cx="9055080" cy="547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State of processes</a:t>
            </a:r>
            <a:endParaRPr b="0" lang="en-IN" sz="3600" spc="-1" strike="noStrike">
              <a:latin typeface="Arial"/>
            </a:endParaRPr>
          </a:p>
        </p:txBody>
      </p:sp>
      <p:sp>
        <p:nvSpPr>
          <p:cNvPr id="332" name="CustomShape 2"/>
          <p:cNvSpPr/>
          <p:nvPr/>
        </p:nvSpPr>
        <p:spPr>
          <a:xfrm>
            <a:off x="360" y="719640"/>
            <a:ext cx="9847440" cy="5744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0000ff"/>
                </a:solidFill>
                <a:uFillTx/>
                <a:latin typeface="Times New Roman"/>
                <a:ea typeface="DejaVu Sans"/>
              </a:rPr>
              <a:t>Ready state: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process, which is ready to get CPU for it’s execution.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In multiprocessing environment when one process is under execution, other processes has to wait for the execution by CPU.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u="sng">
                <a:solidFill>
                  <a:srgbClr val="0000ff"/>
                </a:solidFill>
                <a:uFillTx/>
                <a:latin typeface="Times New Roman"/>
                <a:ea typeface="DejaVu Sans"/>
              </a:rPr>
              <a:t>Wait state</a:t>
            </a:r>
            <a:r>
              <a:rPr b="0" lang="en-IN" sz="3200" spc="-1" strike="noStrike">
                <a:solidFill>
                  <a:srgbClr val="0000ff"/>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a:t>
            </a:r>
            <a:r>
              <a:rPr b="0" lang="en-IN" sz="3200" spc="-1" strike="noStrike">
                <a:solidFill>
                  <a:srgbClr val="0000ff"/>
                </a:solidFill>
                <a:latin typeface="Times New Roman"/>
                <a:ea typeface="DejaVu Sans"/>
              </a:rPr>
              <a:t> </a:t>
            </a:r>
            <a:r>
              <a:rPr b="0" lang="en-IN" sz="3200" spc="-1" strike="noStrike">
                <a:solidFill>
                  <a:srgbClr val="000000"/>
                </a:solidFill>
                <a:latin typeface="Times New Roman"/>
                <a:ea typeface="DejaVu Sans"/>
              </a:rPr>
              <a:t>process while executing,  it may enter into wait state (waiting for I/O events).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Ex : scanf(), getchar(), gets() and etc </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47" dur="indefinite" restart="never" nodeType="tmRoot">
          <p:childTnLst>
            <p:seq>
              <p:cTn id="48" dur="indefinite" nodeType="mainSeq"/>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CustomShape 1"/>
          <p:cNvSpPr/>
          <p:nvPr/>
        </p:nvSpPr>
        <p:spPr>
          <a:xfrm>
            <a:off x="575640" y="14328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Arial"/>
                <a:ea typeface="DejaVu Sans"/>
              </a:rPr>
              <a:t>Delayed State</a:t>
            </a:r>
            <a:endParaRPr b="0" lang="en-IN" sz="3600" spc="-1" strike="noStrike">
              <a:latin typeface="Arial"/>
            </a:endParaRPr>
          </a:p>
        </p:txBody>
      </p:sp>
      <p:graphicFrame>
        <p:nvGraphicFramePr>
          <p:cNvPr id="334" name="Table 2"/>
          <p:cNvGraphicFramePr/>
          <p:nvPr/>
        </p:nvGraphicFramePr>
        <p:xfrm>
          <a:off x="1584000" y="3504240"/>
          <a:ext cx="2431080" cy="986400"/>
        </p:xfrm>
        <a:graphic>
          <a:graphicData uri="http://schemas.openxmlformats.org/drawingml/2006/table">
            <a:tbl>
              <a:tblPr/>
              <a:tblGrid>
                <a:gridCol w="2431440"/>
              </a:tblGrid>
              <a:tr h="98676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35" name="CustomShape 3"/>
          <p:cNvSpPr/>
          <p:nvPr/>
        </p:nvSpPr>
        <p:spPr>
          <a:xfrm>
            <a:off x="1758600" y="3636000"/>
            <a:ext cx="826200" cy="73188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36" name="CustomShape 4"/>
          <p:cNvSpPr/>
          <p:nvPr/>
        </p:nvSpPr>
        <p:spPr>
          <a:xfrm>
            <a:off x="3068280" y="3636000"/>
            <a:ext cx="732600" cy="7347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p2</a:t>
            </a:r>
            <a:endParaRPr b="0" lang="en-IN" sz="1800" spc="-1" strike="noStrike">
              <a:latin typeface="Arial"/>
            </a:endParaRPr>
          </a:p>
        </p:txBody>
      </p:sp>
      <p:sp>
        <p:nvSpPr>
          <p:cNvPr id="337" name="CustomShape 5"/>
          <p:cNvSpPr/>
          <p:nvPr/>
        </p:nvSpPr>
        <p:spPr>
          <a:xfrm>
            <a:off x="1883880" y="2868840"/>
            <a:ext cx="2041920" cy="54540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Ready state</a:t>
            </a:r>
            <a:endParaRPr b="0" lang="en-IN" sz="2200" spc="-1" strike="noStrike">
              <a:latin typeface="Arial"/>
            </a:endParaRPr>
          </a:p>
        </p:txBody>
      </p:sp>
      <p:graphicFrame>
        <p:nvGraphicFramePr>
          <p:cNvPr id="338" name="Table 6"/>
          <p:cNvGraphicFramePr/>
          <p:nvPr/>
        </p:nvGraphicFramePr>
        <p:xfrm>
          <a:off x="7353000" y="3829320"/>
          <a:ext cx="1289880" cy="734760"/>
        </p:xfrm>
        <a:graphic>
          <a:graphicData uri="http://schemas.openxmlformats.org/drawingml/2006/table">
            <a:tbl>
              <a:tblPr/>
              <a:tblGrid>
                <a:gridCol w="1290240"/>
              </a:tblGrid>
              <a:tr h="73512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39" name="CustomShape 7"/>
          <p:cNvSpPr/>
          <p:nvPr/>
        </p:nvSpPr>
        <p:spPr>
          <a:xfrm>
            <a:off x="7651440" y="3919320"/>
            <a:ext cx="545040" cy="5457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40" name="CustomShape 8"/>
          <p:cNvSpPr/>
          <p:nvPr/>
        </p:nvSpPr>
        <p:spPr>
          <a:xfrm>
            <a:off x="7386840" y="3370680"/>
            <a:ext cx="1143720" cy="54540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CPU</a:t>
            </a:r>
            <a:endParaRPr b="0" lang="en-IN" sz="2200" spc="-1" strike="noStrike">
              <a:latin typeface="Arial"/>
            </a:endParaRPr>
          </a:p>
        </p:txBody>
      </p:sp>
      <p:sp>
        <p:nvSpPr>
          <p:cNvPr id="341" name="CustomShape 9"/>
          <p:cNvSpPr/>
          <p:nvPr/>
        </p:nvSpPr>
        <p:spPr>
          <a:xfrm>
            <a:off x="4611240" y="6552360"/>
            <a:ext cx="1910160" cy="48672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delay state</a:t>
            </a:r>
            <a:endParaRPr b="0" lang="en-IN" sz="2200" spc="-1" strike="noStrike">
              <a:latin typeface="Arial"/>
            </a:endParaRPr>
          </a:p>
        </p:txBody>
      </p:sp>
      <p:sp>
        <p:nvSpPr>
          <p:cNvPr id="342" name="CustomShape 10"/>
          <p:cNvSpPr/>
          <p:nvPr/>
        </p:nvSpPr>
        <p:spPr>
          <a:xfrm>
            <a:off x="1010520" y="5547960"/>
            <a:ext cx="1948320" cy="79596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Delay state completed</a:t>
            </a:r>
            <a:endParaRPr b="0" lang="en-IN" sz="2200" spc="-1" strike="noStrike">
              <a:latin typeface="Arial"/>
            </a:endParaRPr>
          </a:p>
        </p:txBody>
      </p:sp>
      <p:pic>
        <p:nvPicPr>
          <p:cNvPr id="343" name="" descr=""/>
          <p:cNvPicPr/>
          <p:nvPr/>
        </p:nvPicPr>
        <p:blipFill>
          <a:blip r:embed="rId1"/>
          <a:stretch/>
        </p:blipFill>
        <p:spPr>
          <a:xfrm>
            <a:off x="3857760" y="2048400"/>
            <a:ext cx="4086720" cy="1473840"/>
          </a:xfrm>
          <a:prstGeom prst="rect">
            <a:avLst/>
          </a:prstGeom>
          <a:ln>
            <a:noFill/>
          </a:ln>
        </p:spPr>
      </p:pic>
      <p:graphicFrame>
        <p:nvGraphicFramePr>
          <p:cNvPr id="344" name="Table 11"/>
          <p:cNvGraphicFramePr/>
          <p:nvPr/>
        </p:nvGraphicFramePr>
        <p:xfrm>
          <a:off x="4940280" y="5603760"/>
          <a:ext cx="1401120" cy="855000"/>
        </p:xfrm>
        <a:graphic>
          <a:graphicData uri="http://schemas.openxmlformats.org/drawingml/2006/table">
            <a:tbl>
              <a:tblPr/>
              <a:tblGrid>
                <a:gridCol w="1401480"/>
              </a:tblGrid>
              <a:tr h="85536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45" name="CustomShape 12"/>
          <p:cNvSpPr/>
          <p:nvPr/>
        </p:nvSpPr>
        <p:spPr>
          <a:xfrm>
            <a:off x="5312880" y="5694840"/>
            <a:ext cx="638640" cy="6393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46" name="CustomShape 13"/>
          <p:cNvSpPr/>
          <p:nvPr/>
        </p:nvSpPr>
        <p:spPr>
          <a:xfrm>
            <a:off x="4880880" y="2629080"/>
            <a:ext cx="1891800" cy="39060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Dispatcher</a:t>
            </a:r>
            <a:endParaRPr b="0" lang="en-IN" sz="2200" spc="-1" strike="noStrike">
              <a:latin typeface="Arial"/>
            </a:endParaRPr>
          </a:p>
        </p:txBody>
      </p:sp>
      <p:pic>
        <p:nvPicPr>
          <p:cNvPr id="347" name="" descr=""/>
          <p:cNvPicPr/>
          <p:nvPr/>
        </p:nvPicPr>
        <p:blipFill>
          <a:blip r:embed="rId2"/>
          <a:stretch/>
        </p:blipFill>
        <p:spPr>
          <a:xfrm rot="7633800">
            <a:off x="6411240" y="5175720"/>
            <a:ext cx="2238120" cy="894240"/>
          </a:xfrm>
          <a:prstGeom prst="rect">
            <a:avLst/>
          </a:prstGeom>
          <a:ln>
            <a:noFill/>
          </a:ln>
        </p:spPr>
      </p:pic>
      <p:pic>
        <p:nvPicPr>
          <p:cNvPr id="348" name="" descr=""/>
          <p:cNvPicPr/>
          <p:nvPr/>
        </p:nvPicPr>
        <p:blipFill>
          <a:blip r:embed="rId3"/>
          <a:stretch/>
        </p:blipFill>
        <p:spPr>
          <a:xfrm rot="13207200">
            <a:off x="2152440" y="5211360"/>
            <a:ext cx="2577960" cy="1032480"/>
          </a:xfrm>
          <a:prstGeom prst="rect">
            <a:avLst/>
          </a:prstGeom>
          <a:ln>
            <a:noFill/>
          </a:ln>
        </p:spPr>
      </p:pic>
      <p:sp>
        <p:nvSpPr>
          <p:cNvPr id="349" name="CustomShape 14"/>
          <p:cNvSpPr/>
          <p:nvPr/>
        </p:nvSpPr>
        <p:spPr>
          <a:xfrm>
            <a:off x="143640" y="935280"/>
            <a:ext cx="9919440" cy="1279800"/>
          </a:xfrm>
          <a:prstGeom prst="rect">
            <a:avLst/>
          </a:prstGeom>
          <a:noFill/>
          <a:ln>
            <a:noFill/>
          </a:ln>
        </p:spPr>
        <p:style>
          <a:lnRef idx="0"/>
          <a:fillRef idx="0"/>
          <a:effectRef idx="0"/>
          <a:fontRef idx="minor"/>
        </p:style>
        <p:txBody>
          <a:bodyPr lIns="90000" rIns="90000" tIns="45000" bIns="45000"/>
          <a:p>
            <a:pPr>
              <a:lnSpc>
                <a:spcPct val="100000"/>
              </a:lnSpc>
            </a:pPr>
            <a:r>
              <a:rPr b="0" lang="en-IN" sz="3200" spc="-1" strike="noStrike" u="sng">
                <a:solidFill>
                  <a:srgbClr val="0000ff"/>
                </a:solidFill>
                <a:uFillTx/>
                <a:latin typeface="Times New Roman"/>
                <a:ea typeface="DejaVu Sans"/>
              </a:rPr>
              <a:t>Delayed state:</a:t>
            </a:r>
            <a:r>
              <a:rPr b="0" lang="en-IN" sz="3200" spc="-1" strike="noStrike">
                <a:solidFill>
                  <a:srgbClr val="0000ff"/>
                </a:solidFill>
                <a:latin typeface="Times New Roman"/>
                <a:ea typeface="DejaVu Sans"/>
              </a:rPr>
              <a:t>  </a:t>
            </a:r>
            <a:r>
              <a:rPr b="0" lang="en-IN" sz="3200" spc="-1" strike="noStrike">
                <a:solidFill>
                  <a:srgbClr val="000000"/>
                </a:solidFill>
                <a:latin typeface="Times New Roman"/>
                <a:ea typeface="DejaVu Sans"/>
              </a:rPr>
              <a:t>A process if delayed (for certain time), then continue only after the delay time out.</a:t>
            </a:r>
            <a:endParaRPr b="0" lang="en-IN" sz="3200" spc="-1" strike="noStrike">
              <a:latin typeface="Arial"/>
            </a:endParaRPr>
          </a:p>
        </p:txBody>
      </p:sp>
    </p:spTree>
  </p:cSld>
  <p:timing>
    <p:tnLst>
      <p:par>
        <p:cTn id="49" dur="indefinite" restart="never" nodeType="tmRoot">
          <p:childTnLst>
            <p:seq>
              <p:cTn id="50" dur="indefinite" nodeType="mainSeq"/>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CustomShape 1"/>
          <p:cNvSpPr/>
          <p:nvPr/>
        </p:nvSpPr>
        <p:spPr>
          <a:xfrm>
            <a:off x="71640" y="791280"/>
            <a:ext cx="228816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0000ff"/>
                </a:solidFill>
                <a:latin typeface="Times New Roman"/>
                <a:ea typeface="DejaVu Sans"/>
              </a:rPr>
              <a:t>Wait state</a:t>
            </a:r>
            <a:endParaRPr b="0" lang="en-IN" sz="3600" spc="-1" strike="noStrike">
              <a:latin typeface="Arial"/>
            </a:endParaRPr>
          </a:p>
        </p:txBody>
      </p:sp>
      <p:sp>
        <p:nvSpPr>
          <p:cNvPr id="351" name="CustomShape 2"/>
          <p:cNvSpPr/>
          <p:nvPr/>
        </p:nvSpPr>
        <p:spPr>
          <a:xfrm>
            <a:off x="-143640" y="1007280"/>
            <a:ext cx="4375800" cy="4232160"/>
          </a:xfrm>
          <a:prstGeom prst="rect">
            <a:avLst/>
          </a:prstGeom>
          <a:noFill/>
          <a:ln>
            <a:noFill/>
          </a:ln>
        </p:spPr>
        <p:style>
          <a:lnRef idx="0"/>
          <a:fillRef idx="0"/>
          <a:effectRef idx="0"/>
          <a:fontRef idx="minor"/>
        </p:style>
        <p:txBody>
          <a:bodyPr lIns="0" rIns="0" tIns="0" bIns="0">
            <a:normAutofit/>
          </a:bodyPr>
          <a:p>
            <a:pPr>
              <a:lnSpc>
                <a:spcPct val="100000"/>
              </a:lnSpc>
              <a:spcBef>
                <a:spcPts val="1417"/>
              </a:spcBef>
            </a:pPr>
            <a:endParaRPr b="0" lang="en-IN" sz="1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400" spc="-1" strike="noStrike">
                <a:solidFill>
                  <a:srgbClr val="000000"/>
                </a:solidFill>
                <a:latin typeface="Times New Roman"/>
                <a:ea typeface="DejaVu Sans"/>
              </a:rPr>
              <a:t>#include&lt;stdio.h&gt;</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int main()</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x;</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main\n");</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printf("pid=%d\n",getpid());</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scanf("%d",&amp;x);</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printf("%d\n",x);</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while(1);</a:t>
            </a:r>
            <a:endParaRPr b="0" lang="en-IN" sz="2400" spc="-1" strike="noStrike">
              <a:latin typeface="Arial"/>
            </a:endParaRPr>
          </a:p>
          <a:p>
            <a:pPr marL="432000" indent="-308160">
              <a:lnSpc>
                <a:spcPct val="100000"/>
              </a:lnSpc>
              <a:buClr>
                <a:srgbClr val="000000"/>
              </a:buClr>
              <a:buSzPct val="45000"/>
              <a:buFont typeface="Wingdings" charset="2"/>
              <a:buChar char=""/>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endParaRPr b="0" lang="en-IN" sz="2400" spc="-1" strike="noStrike">
              <a:latin typeface="Arial"/>
            </a:endParaRPr>
          </a:p>
          <a:p>
            <a:pPr>
              <a:lnSpc>
                <a:spcPct val="100000"/>
              </a:lnSpc>
              <a:spcBef>
                <a:spcPts val="1417"/>
              </a:spcBef>
            </a:pPr>
            <a:endParaRPr b="0" lang="en-IN" sz="2400" spc="-1" strike="noStrike">
              <a:latin typeface="Arial"/>
            </a:endParaRPr>
          </a:p>
        </p:txBody>
      </p:sp>
      <p:sp>
        <p:nvSpPr>
          <p:cNvPr id="352" name="CustomShape 3"/>
          <p:cNvSpPr/>
          <p:nvPr/>
        </p:nvSpPr>
        <p:spPr>
          <a:xfrm>
            <a:off x="3671640" y="862920"/>
            <a:ext cx="3439800" cy="547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0000ff"/>
                </a:solidFill>
                <a:latin typeface="Times New Roman"/>
                <a:ea typeface="DejaVu Sans"/>
              </a:rPr>
              <a:t>Delayed State</a:t>
            </a:r>
            <a:endParaRPr b="0" lang="en-IN" sz="3600" spc="-1" strike="noStrike">
              <a:latin typeface="Arial"/>
            </a:endParaRPr>
          </a:p>
        </p:txBody>
      </p:sp>
      <p:sp>
        <p:nvSpPr>
          <p:cNvPr id="353" name="CustomShape 4"/>
          <p:cNvSpPr/>
          <p:nvPr/>
        </p:nvSpPr>
        <p:spPr>
          <a:xfrm>
            <a:off x="4031640" y="1456200"/>
            <a:ext cx="6031800" cy="558360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x;</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main \n");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printf("pid = %d\n",getpid());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printf("process entered in delayed state\n");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sleep(20);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printf("delayed completed\n");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while(1);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p:txBody>
      </p:sp>
      <p:sp>
        <p:nvSpPr>
          <p:cNvPr id="354" name="CustomShape 5"/>
          <p:cNvSpPr/>
          <p:nvPr/>
        </p:nvSpPr>
        <p:spPr>
          <a:xfrm>
            <a:off x="1511640" y="84600"/>
            <a:ext cx="7399800" cy="547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Examples </a:t>
            </a:r>
            <a:endParaRPr b="0" lang="en-IN" sz="3600" spc="-1" strike="noStrike">
              <a:latin typeface="Arial"/>
            </a:endParaRPr>
          </a:p>
        </p:txBody>
      </p:sp>
    </p:spTree>
  </p:cSld>
  <p:timing>
    <p:tnLst>
      <p:par>
        <p:cTn id="51" dur="indefinite" restart="never" nodeType="tmRoot">
          <p:childTnLst>
            <p:seq>
              <p:cTn id="52" dur="indefinite" nodeType="mainSeq"/>
              <p:prevCondLst>
                <p:cond delay="0" evt="onPrev">
                  <p:tgtEl>
                    <p:sldTgt/>
                  </p:tgtEl>
                </p:cond>
              </p:prevCondLst>
              <p:nextCondLst>
                <p:cond delay="0"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CustomShape 1"/>
          <p:cNvSpPr/>
          <p:nvPr/>
        </p:nvSpPr>
        <p:spPr>
          <a:xfrm>
            <a:off x="503640" y="11880"/>
            <a:ext cx="9055080" cy="83484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Suspended state</a:t>
            </a:r>
            <a:endParaRPr b="0" lang="en-IN" sz="4000" spc="-1" strike="noStrike">
              <a:latin typeface="Arial"/>
            </a:endParaRPr>
          </a:p>
        </p:txBody>
      </p:sp>
      <p:sp>
        <p:nvSpPr>
          <p:cNvPr id="356" name="CustomShape 2"/>
          <p:cNvSpPr/>
          <p:nvPr/>
        </p:nvSpPr>
        <p:spPr>
          <a:xfrm>
            <a:off x="143640" y="862920"/>
            <a:ext cx="9703440" cy="6536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 process in its lifetime possible to suspend by receiving some signals.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If the process is running as foreground, then it is possible to suspend it by using (</a:t>
            </a:r>
            <a:r>
              <a:rPr b="0" lang="en-IN" sz="3200" spc="-1" strike="noStrike">
                <a:solidFill>
                  <a:srgbClr val="0000ff"/>
                </a:solidFill>
                <a:latin typeface="Times New Roman"/>
                <a:ea typeface="DejaVu Sans"/>
              </a:rPr>
              <a:t>ctrl+z),</a:t>
            </a:r>
            <a:r>
              <a:rPr b="0" lang="en-IN" sz="3200" spc="-1" strike="noStrike">
                <a:solidFill>
                  <a:srgbClr val="000000"/>
                </a:solidFill>
                <a:latin typeface="Times New Roman"/>
                <a:ea typeface="DejaVu Sans"/>
              </a:rPr>
              <a:t> but same is not  possible for background processes.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Command: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a3238e"/>
                </a:solidFill>
                <a:latin typeface="Times New Roman"/>
                <a:ea typeface="DejaVu Sans"/>
              </a:rPr>
              <a:t>             </a:t>
            </a: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Kill -19 pid.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Kill -19  for suspending.</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Kill -9  for termination.</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Kill -18 for resume.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Note : Suspended process can be resumed, but a terminated process can’t be resumed.</a:t>
            </a:r>
            <a:endParaRPr b="0" lang="en-IN" sz="2800" spc="-1" strike="noStrike">
              <a:latin typeface="Arial"/>
            </a:endParaRPr>
          </a:p>
        </p:txBody>
      </p:sp>
    </p:spTree>
  </p:cSld>
  <p:timing>
    <p:tnLst>
      <p:par>
        <p:cTn id="53" dur="indefinite" restart="never" nodeType="tmRoot">
          <p:childTnLst>
            <p:seq>
              <p:cTn id="54" dur="indefinite" nodeType="mainSeq"/>
              <p:prevCondLst>
                <p:cond delay="0" evt="onPrev">
                  <p:tgtEl>
                    <p:sldTgt/>
                  </p:tgtEl>
                </p:cond>
              </p:prevCondLst>
              <p:nextCondLst>
                <p:cond delay="0"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CustomShape 1"/>
          <p:cNvSpPr/>
          <p:nvPr/>
        </p:nvSpPr>
        <p:spPr>
          <a:xfrm>
            <a:off x="575640" y="15624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kill a process</a:t>
            </a:r>
            <a:endParaRPr b="0" lang="en-IN" sz="3600" spc="-1" strike="noStrike">
              <a:latin typeface="Arial"/>
            </a:endParaRPr>
          </a:p>
        </p:txBody>
      </p:sp>
      <p:sp>
        <p:nvSpPr>
          <p:cNvPr id="358" name="CustomShape 2"/>
          <p:cNvSpPr/>
          <p:nvPr/>
        </p:nvSpPr>
        <p:spPr>
          <a:xfrm>
            <a:off x="503640" y="1007280"/>
            <a:ext cx="9055080" cy="610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Command to kill any process which is running under foreground or background.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 </a:t>
            </a:r>
            <a:r>
              <a:rPr b="0" lang="en-IN" sz="3200" spc="-1" strike="noStrike">
                <a:solidFill>
                  <a:srgbClr val="0000ff"/>
                </a:solidFill>
                <a:latin typeface="Times New Roman"/>
                <a:ea typeface="DejaVu Sans"/>
              </a:rPr>
              <a:t>kill -9 pid.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If any process is receiving signal -</a:t>
            </a:r>
            <a:r>
              <a:rPr b="0" lang="en-IN" sz="3200" spc="-1" strike="noStrike">
                <a:solidFill>
                  <a:srgbClr val="0000ff"/>
                </a:solidFill>
                <a:latin typeface="Times New Roman"/>
                <a:ea typeface="DejaVu Sans"/>
              </a:rPr>
              <a:t> 9</a:t>
            </a:r>
            <a:r>
              <a:rPr b="0" lang="en-IN" sz="3200" spc="-1" strike="noStrike">
                <a:solidFill>
                  <a:srgbClr val="000000"/>
                </a:solidFill>
                <a:latin typeface="Times New Roman"/>
                <a:ea typeface="DejaVu Sans"/>
              </a:rPr>
              <a:t> then that process will be killed/terminated.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1" lang="en-IN" sz="3200" spc="-1" strike="noStrike">
                <a:solidFill>
                  <a:srgbClr val="ce181e"/>
                </a:solidFill>
                <a:latin typeface="Times New Roman"/>
                <a:ea typeface="DejaVu Sans"/>
              </a:rPr>
              <a:t>Note:</a:t>
            </a:r>
            <a:r>
              <a:rPr b="0" lang="en-IN" sz="3200" spc="-1" strike="noStrike">
                <a:solidFill>
                  <a:srgbClr val="000000"/>
                </a:solidFill>
                <a:latin typeface="Times New Roman"/>
                <a:ea typeface="DejaVu Sans"/>
              </a:rPr>
              <a:t>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Using </a:t>
            </a:r>
            <a:r>
              <a:rPr b="0" lang="en-IN" sz="3200" spc="-1" strike="noStrike">
                <a:solidFill>
                  <a:srgbClr val="0000ff"/>
                </a:solidFill>
                <a:latin typeface="Times New Roman"/>
                <a:ea typeface="DejaVu Sans"/>
              </a:rPr>
              <a:t>ctrl+c,  </a:t>
            </a:r>
            <a:r>
              <a:rPr b="0" lang="en-IN" sz="3200" spc="-1" strike="noStrike">
                <a:solidFill>
                  <a:srgbClr val="000000"/>
                </a:solidFill>
                <a:latin typeface="Times New Roman"/>
                <a:ea typeface="DejaVu Sans"/>
              </a:rPr>
              <a:t>a</a:t>
            </a:r>
            <a:r>
              <a:rPr b="0" lang="en-IN" sz="3200" spc="-1" strike="noStrike">
                <a:solidFill>
                  <a:srgbClr val="0000ff"/>
                </a:solidFill>
                <a:latin typeface="Times New Roman"/>
                <a:ea typeface="DejaVu Sans"/>
              </a:rPr>
              <a:t> </a:t>
            </a:r>
            <a:r>
              <a:rPr b="0" lang="en-IN" sz="3200" spc="-1" strike="noStrike">
                <a:solidFill>
                  <a:srgbClr val="000000"/>
                </a:solidFill>
                <a:latin typeface="Times New Roman"/>
                <a:ea typeface="DejaVu Sans"/>
              </a:rPr>
              <a:t>process is terminated if the process is runnnig as foreground.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Using </a:t>
            </a:r>
            <a:r>
              <a:rPr b="0" lang="en-IN" sz="3200" spc="-1" strike="noStrike">
                <a:solidFill>
                  <a:srgbClr val="0000ff"/>
                </a:solidFill>
                <a:latin typeface="Times New Roman"/>
                <a:ea typeface="DejaVu Sans"/>
              </a:rPr>
              <a:t>kill </a:t>
            </a:r>
            <a:r>
              <a:rPr b="0" lang="en-IN" sz="3200" spc="-1" strike="noStrike">
                <a:solidFill>
                  <a:srgbClr val="000000"/>
                </a:solidFill>
                <a:latin typeface="Times New Roman"/>
                <a:ea typeface="DejaVu Sans"/>
              </a:rPr>
              <a:t>command, it is possible to terminate a process, if it is running as a foreground &amp; background process. </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55" dur="indefinite" restart="never" nodeType="tmRoot">
          <p:childTnLst>
            <p:seq>
              <p:cTn id="56" dur="indefinite" nodeType="mainSeq"/>
              <p:prevCondLst>
                <p:cond delay="0" evt="onPrev">
                  <p:tgtEl>
                    <p:sldTgt/>
                  </p:tgtEl>
                </p:cond>
              </p:prevCondLst>
              <p:nextCondLst>
                <p:cond delay="0"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CustomShape 1"/>
          <p:cNvSpPr/>
          <p:nvPr/>
        </p:nvSpPr>
        <p:spPr>
          <a:xfrm>
            <a:off x="143640" y="71640"/>
            <a:ext cx="9775440" cy="70416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Suspended state</a:t>
            </a:r>
            <a:endParaRPr b="0" lang="en-IN" sz="3600" spc="-1" strike="noStrike">
              <a:latin typeface="Arial"/>
            </a:endParaRPr>
          </a:p>
        </p:txBody>
      </p:sp>
      <p:graphicFrame>
        <p:nvGraphicFramePr>
          <p:cNvPr id="360" name="Table 2"/>
          <p:cNvGraphicFramePr/>
          <p:nvPr/>
        </p:nvGraphicFramePr>
        <p:xfrm>
          <a:off x="720720" y="2601360"/>
          <a:ext cx="2471040" cy="1002600"/>
        </p:xfrm>
        <a:graphic>
          <a:graphicData uri="http://schemas.openxmlformats.org/drawingml/2006/table">
            <a:tbl>
              <a:tblPr/>
              <a:tblGrid>
                <a:gridCol w="2471400"/>
              </a:tblGrid>
              <a:tr h="100296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61" name="CustomShape 3"/>
          <p:cNvSpPr/>
          <p:nvPr/>
        </p:nvSpPr>
        <p:spPr>
          <a:xfrm>
            <a:off x="898560" y="2735640"/>
            <a:ext cx="839880" cy="74520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62" name="CustomShape 4"/>
          <p:cNvSpPr/>
          <p:nvPr/>
        </p:nvSpPr>
        <p:spPr>
          <a:xfrm>
            <a:off x="2229840" y="2735640"/>
            <a:ext cx="744480" cy="74772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p2</a:t>
            </a:r>
            <a:endParaRPr b="0" lang="en-IN" sz="1800" spc="-1" strike="noStrike">
              <a:latin typeface="Arial"/>
            </a:endParaRPr>
          </a:p>
        </p:txBody>
      </p:sp>
      <p:sp>
        <p:nvSpPr>
          <p:cNvPr id="363" name="CustomShape 5"/>
          <p:cNvSpPr/>
          <p:nvPr/>
        </p:nvSpPr>
        <p:spPr>
          <a:xfrm>
            <a:off x="859680" y="2015640"/>
            <a:ext cx="2076120" cy="55512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Ready state</a:t>
            </a:r>
            <a:endParaRPr b="0" lang="en-IN" sz="2200" spc="-1" strike="noStrike">
              <a:latin typeface="Arial"/>
            </a:endParaRPr>
          </a:p>
        </p:txBody>
      </p:sp>
      <p:graphicFrame>
        <p:nvGraphicFramePr>
          <p:cNvPr id="364" name="Table 6"/>
          <p:cNvGraphicFramePr/>
          <p:nvPr/>
        </p:nvGraphicFramePr>
        <p:xfrm>
          <a:off x="6584400" y="2932200"/>
          <a:ext cx="1310760" cy="747000"/>
        </p:xfrm>
        <a:graphic>
          <a:graphicData uri="http://schemas.openxmlformats.org/drawingml/2006/table">
            <a:tbl>
              <a:tblPr/>
              <a:tblGrid>
                <a:gridCol w="1311120"/>
              </a:tblGrid>
              <a:tr h="74736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65" name="CustomShape 7"/>
          <p:cNvSpPr/>
          <p:nvPr/>
        </p:nvSpPr>
        <p:spPr>
          <a:xfrm>
            <a:off x="6887520" y="3024720"/>
            <a:ext cx="554400" cy="55440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66" name="CustomShape 8"/>
          <p:cNvSpPr/>
          <p:nvPr/>
        </p:nvSpPr>
        <p:spPr>
          <a:xfrm>
            <a:off x="6551280" y="2447280"/>
            <a:ext cx="1162440" cy="55404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CPU</a:t>
            </a:r>
            <a:endParaRPr b="0" lang="en-IN" sz="2200" spc="-1" strike="noStrike">
              <a:latin typeface="Arial"/>
            </a:endParaRPr>
          </a:p>
        </p:txBody>
      </p:sp>
      <p:sp>
        <p:nvSpPr>
          <p:cNvPr id="367" name="CustomShape 9"/>
          <p:cNvSpPr/>
          <p:nvPr/>
        </p:nvSpPr>
        <p:spPr>
          <a:xfrm>
            <a:off x="3455640" y="5683680"/>
            <a:ext cx="2835720" cy="49212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Suspend state</a:t>
            </a:r>
            <a:endParaRPr b="0" lang="en-IN" sz="2200" spc="-1" strike="noStrike">
              <a:latin typeface="Arial"/>
            </a:endParaRPr>
          </a:p>
        </p:txBody>
      </p:sp>
      <p:sp>
        <p:nvSpPr>
          <p:cNvPr id="368" name="CustomShape 10"/>
          <p:cNvSpPr/>
          <p:nvPr/>
        </p:nvSpPr>
        <p:spPr>
          <a:xfrm>
            <a:off x="1099440" y="4679280"/>
            <a:ext cx="1980360" cy="45900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Kill -18 pid</a:t>
            </a:r>
            <a:endParaRPr b="0" lang="en-IN" sz="2200" spc="-1" strike="noStrike">
              <a:latin typeface="Arial"/>
            </a:endParaRPr>
          </a:p>
        </p:txBody>
      </p:sp>
      <p:pic>
        <p:nvPicPr>
          <p:cNvPr id="369" name="" descr=""/>
          <p:cNvPicPr/>
          <p:nvPr/>
        </p:nvPicPr>
        <p:blipFill>
          <a:blip r:embed="rId1"/>
          <a:stretch/>
        </p:blipFill>
        <p:spPr>
          <a:xfrm>
            <a:off x="3370320" y="1123200"/>
            <a:ext cx="3516120" cy="1315440"/>
          </a:xfrm>
          <a:prstGeom prst="rect">
            <a:avLst/>
          </a:prstGeom>
          <a:ln>
            <a:noFill/>
          </a:ln>
          <a:effectLst>
            <a:outerShdw dir="2700000" dist="101823">
              <a:srgbClr val="99ff66"/>
            </a:outerShdw>
          </a:effectLst>
        </p:spPr>
      </p:pic>
      <p:graphicFrame>
        <p:nvGraphicFramePr>
          <p:cNvPr id="370" name="Table 11"/>
          <p:cNvGraphicFramePr/>
          <p:nvPr/>
        </p:nvGraphicFramePr>
        <p:xfrm>
          <a:off x="4132440" y="4735440"/>
          <a:ext cx="1423440" cy="869040"/>
        </p:xfrm>
        <a:graphic>
          <a:graphicData uri="http://schemas.openxmlformats.org/drawingml/2006/table">
            <a:tbl>
              <a:tblPr/>
              <a:tblGrid>
                <a:gridCol w="1423800"/>
              </a:tblGrid>
              <a:tr h="8694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71" name="CustomShape 12"/>
          <p:cNvSpPr/>
          <p:nvPr/>
        </p:nvSpPr>
        <p:spPr>
          <a:xfrm>
            <a:off x="4511160" y="4828320"/>
            <a:ext cx="649440" cy="650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372" name="CustomShape 13"/>
          <p:cNvSpPr/>
          <p:nvPr/>
        </p:nvSpPr>
        <p:spPr>
          <a:xfrm>
            <a:off x="4253040" y="791280"/>
            <a:ext cx="1922760" cy="39744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Dispatcher</a:t>
            </a:r>
            <a:endParaRPr b="0" lang="en-IN" sz="2200" spc="-1" strike="noStrike">
              <a:latin typeface="Arial"/>
            </a:endParaRPr>
          </a:p>
        </p:txBody>
      </p:sp>
      <p:pic>
        <p:nvPicPr>
          <p:cNvPr id="373" name="" descr=""/>
          <p:cNvPicPr/>
          <p:nvPr/>
        </p:nvPicPr>
        <p:blipFill>
          <a:blip r:embed="rId2"/>
          <a:stretch/>
        </p:blipFill>
        <p:spPr>
          <a:xfrm rot="7635000">
            <a:off x="5876280" y="4117320"/>
            <a:ext cx="1933200" cy="771480"/>
          </a:xfrm>
          <a:prstGeom prst="rect">
            <a:avLst/>
          </a:prstGeom>
          <a:ln>
            <a:noFill/>
          </a:ln>
          <a:effectLst>
            <a:outerShdw dir="2700000" dist="101823">
              <a:srgbClr val="ccff00"/>
            </a:outerShdw>
          </a:effectLst>
        </p:spPr>
      </p:pic>
      <p:pic>
        <p:nvPicPr>
          <p:cNvPr id="374" name="" descr=""/>
          <p:cNvPicPr/>
          <p:nvPr/>
        </p:nvPicPr>
        <p:blipFill>
          <a:blip r:embed="rId3"/>
          <a:stretch/>
        </p:blipFill>
        <p:spPr>
          <a:xfrm rot="13208400">
            <a:off x="2211480" y="4289040"/>
            <a:ext cx="1933200" cy="772560"/>
          </a:xfrm>
          <a:prstGeom prst="rect">
            <a:avLst/>
          </a:prstGeom>
          <a:ln>
            <a:noFill/>
          </a:ln>
          <a:effectLst>
            <a:outerShdw dir="2700000" dist="101823">
              <a:srgbClr val="ff6600"/>
            </a:outerShdw>
          </a:effectLst>
        </p:spPr>
      </p:pic>
      <p:sp>
        <p:nvSpPr>
          <p:cNvPr id="375" name="CustomShape 14"/>
          <p:cNvSpPr/>
          <p:nvPr/>
        </p:nvSpPr>
        <p:spPr>
          <a:xfrm>
            <a:off x="71640" y="6550920"/>
            <a:ext cx="9991440" cy="861480"/>
          </a:xfrm>
          <a:prstGeom prst="rect">
            <a:avLst/>
          </a:prstGeom>
          <a:noFill/>
          <a:ln>
            <a:noFill/>
          </a:ln>
        </p:spPr>
        <p:style>
          <a:lnRef idx="0"/>
          <a:fillRef idx="0"/>
          <a:effectRef idx="0"/>
          <a:fontRef idx="minor"/>
        </p:style>
        <p:txBody>
          <a:bodyPr lIns="90000" rIns="90000" tIns="45000" bIns="45000"/>
          <a:p>
            <a:pPr marL="432000" indent="-308160">
              <a:lnSpc>
                <a:spcPct val="100000"/>
              </a:lnSpc>
              <a:buClr>
                <a:srgbClr val="000000"/>
              </a:buClr>
              <a:buSzPct val="45000"/>
              <a:buFont typeface="Wingdings" charset="2"/>
              <a:buChar char=""/>
            </a:pPr>
            <a:r>
              <a:rPr b="0" lang="en-IN" sz="2800" spc="-1" strike="noStrike">
                <a:solidFill>
                  <a:srgbClr val="0000ff"/>
                </a:solidFill>
                <a:latin typeface="Times New Roman"/>
                <a:ea typeface="DejaVu Sans"/>
              </a:rPr>
              <a:t>Note : </a:t>
            </a:r>
            <a:r>
              <a:rPr b="0" lang="en-IN" sz="2800" spc="-1" strike="noStrike">
                <a:solidFill>
                  <a:srgbClr val="000000"/>
                </a:solidFill>
                <a:latin typeface="Times New Roman"/>
                <a:ea typeface="DejaVu Sans"/>
              </a:rPr>
              <a:t>Using kill command it is possible to suspend both the background &amp; foreground processes.</a:t>
            </a:r>
            <a:endParaRPr b="0" lang="en-IN" sz="2800" spc="-1" strike="noStrike">
              <a:latin typeface="Arial"/>
            </a:endParaRPr>
          </a:p>
        </p:txBody>
      </p:sp>
      <p:sp>
        <p:nvSpPr>
          <p:cNvPr id="376" name="CustomShape 15"/>
          <p:cNvSpPr/>
          <p:nvPr/>
        </p:nvSpPr>
        <p:spPr>
          <a:xfrm>
            <a:off x="7003080" y="4607280"/>
            <a:ext cx="1980360" cy="459000"/>
          </a:xfrm>
          <a:prstGeom prst="rect">
            <a:avLst/>
          </a:prstGeom>
          <a:noFill/>
          <a:ln>
            <a:noFill/>
          </a:ln>
        </p:spPr>
        <p:style>
          <a:lnRef idx="0"/>
          <a:fillRef idx="0"/>
          <a:effectRef idx="0"/>
          <a:fontRef idx="minor"/>
        </p:style>
        <p:txBody>
          <a:bodyPr lIns="0" rIns="0" tIns="0" bIns="0" anchor="ctr"/>
          <a:p>
            <a:pPr algn="ctr">
              <a:lnSpc>
                <a:spcPct val="100000"/>
              </a:lnSpc>
            </a:pPr>
            <a:r>
              <a:rPr b="0" lang="en-IN" sz="2200" spc="-1" strike="noStrike">
                <a:solidFill>
                  <a:srgbClr val="000000"/>
                </a:solidFill>
                <a:latin typeface="Arial"/>
                <a:ea typeface="DejaVu Sans"/>
              </a:rPr>
              <a:t>Kill -19 pid</a:t>
            </a:r>
            <a:endParaRPr b="0" lang="en-IN" sz="2200" spc="-1" strike="noStrike">
              <a:latin typeface="Arial"/>
            </a:endParaRPr>
          </a:p>
        </p:txBody>
      </p:sp>
    </p:spTree>
  </p:cSld>
  <p:timing>
    <p:tnLst>
      <p:par>
        <p:cTn id="57" dur="indefinite" restart="never" nodeType="tmRoot">
          <p:childTnLst>
            <p:seq>
              <p:cTn id="58" dur="indefinite" nodeType="mainSeq"/>
              <p:prevCondLst>
                <p:cond delay="0" evt="onPrev">
                  <p:tgtEl>
                    <p:sldTgt/>
                  </p:tgtEl>
                </p:cond>
              </p:prevCondLst>
              <p:nextCondLst>
                <p:cond delay="0"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CustomShape 1"/>
          <p:cNvSpPr/>
          <p:nvPr/>
        </p:nvSpPr>
        <p:spPr>
          <a:xfrm>
            <a:off x="215640" y="71640"/>
            <a:ext cx="9703440" cy="70416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Non-local goto (</a:t>
            </a:r>
            <a:r>
              <a:rPr b="0" lang="en-IN" sz="3600" spc="-1" strike="noStrike">
                <a:solidFill>
                  <a:srgbClr val="0000ff"/>
                </a:solidFill>
                <a:latin typeface="Times New Roman"/>
                <a:ea typeface="DejaVu Sans"/>
              </a:rPr>
              <a:t>setjmp() </a:t>
            </a:r>
            <a:r>
              <a:rPr b="0" lang="en-IN" sz="3600" spc="-1" strike="noStrike">
                <a:solidFill>
                  <a:srgbClr val="a3238e"/>
                </a:solidFill>
                <a:latin typeface="Times New Roman"/>
                <a:ea typeface="DejaVu Sans"/>
              </a:rPr>
              <a:t>&amp; </a:t>
            </a:r>
            <a:r>
              <a:rPr b="0" lang="en-IN" sz="3600" spc="-1" strike="noStrike">
                <a:solidFill>
                  <a:srgbClr val="0000ff"/>
                </a:solidFill>
                <a:latin typeface="Times New Roman"/>
                <a:ea typeface="DejaVu Sans"/>
              </a:rPr>
              <a:t>longjmp()</a:t>
            </a:r>
            <a:r>
              <a:rPr b="0" lang="en-IN" sz="3600" spc="-1" strike="noStrike">
                <a:solidFill>
                  <a:srgbClr val="a3238e"/>
                </a:solidFill>
                <a:latin typeface="Times New Roman"/>
                <a:ea typeface="DejaVu Sans"/>
              </a:rPr>
              <a:t>)</a:t>
            </a:r>
            <a:endParaRPr b="0" lang="en-IN" sz="3600" spc="-1" strike="noStrike">
              <a:latin typeface="Arial"/>
            </a:endParaRPr>
          </a:p>
        </p:txBody>
      </p:sp>
      <p:sp>
        <p:nvSpPr>
          <p:cNvPr id="378" name="CustomShape 2"/>
          <p:cNvSpPr/>
          <p:nvPr/>
        </p:nvSpPr>
        <p:spPr>
          <a:xfrm>
            <a:off x="431640" y="2592000"/>
            <a:ext cx="9271080" cy="38718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SYNOPSIS</a:t>
            </a:r>
            <a:r>
              <a:rPr b="0" lang="en-IN" sz="3200" spc="-1" strike="noStrike">
                <a:solidFill>
                  <a:srgbClr val="a3238e"/>
                </a:solidFill>
                <a:latin typeface="Times New Roman"/>
                <a:ea typeface="DejaVu Sans"/>
              </a:rPr>
              <a:t> :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a3238e"/>
                </a:solidFill>
                <a:latin typeface="Times New Roman"/>
                <a:ea typeface="DejaVu Sans"/>
              </a:rPr>
              <a:t> </a:t>
            </a:r>
            <a:r>
              <a:rPr b="0" lang="en-IN" sz="3200" spc="-1" strike="noStrike">
                <a:solidFill>
                  <a:srgbClr val="a3238e"/>
                </a:solidFill>
                <a:latin typeface="Times New Roman"/>
                <a:ea typeface="DejaVu Sans"/>
              </a:rPr>
              <a:t>#include &lt;setjmp.h&gt;</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a3238e"/>
                </a:solidFill>
                <a:latin typeface="Times New Roman"/>
                <a:ea typeface="DejaVu Sans"/>
              </a:rPr>
              <a:t> </a:t>
            </a:r>
            <a:r>
              <a:rPr b="0" lang="en-IN" sz="3200" spc="-1" strike="noStrike">
                <a:solidFill>
                  <a:srgbClr val="0000ff"/>
                </a:solidFill>
                <a:latin typeface="Times New Roman"/>
                <a:ea typeface="DejaVu Sans"/>
              </a:rPr>
              <a:t>int </a:t>
            </a:r>
            <a:r>
              <a:rPr b="0" lang="en-IN" sz="3200" spc="-1" strike="noStrike">
                <a:solidFill>
                  <a:srgbClr val="000000"/>
                </a:solidFill>
                <a:latin typeface="Times New Roman"/>
                <a:ea typeface="DejaVu Sans"/>
              </a:rPr>
              <a:t>setjmp</a:t>
            </a:r>
            <a:r>
              <a:rPr b="0" lang="en-IN" sz="3200" spc="-1" strike="noStrike">
                <a:solidFill>
                  <a:srgbClr val="0000ff"/>
                </a:solidFill>
                <a:latin typeface="Times New Roman"/>
                <a:ea typeface="DejaVu Sans"/>
              </a:rPr>
              <a:t>(jmp_buf </a:t>
            </a:r>
            <a:r>
              <a:rPr b="0" lang="en-IN" sz="3200" spc="-1" strike="noStrike" u="sng">
                <a:solidFill>
                  <a:srgbClr val="000000"/>
                </a:solidFill>
                <a:uFillTx/>
                <a:latin typeface="Times New Roman"/>
                <a:ea typeface="DejaVu Sans"/>
              </a:rPr>
              <a:t>env</a:t>
            </a:r>
            <a:r>
              <a:rPr b="0" lang="en-IN" sz="3200" spc="-1" strike="noStrike">
                <a:solidFill>
                  <a:srgbClr val="0000ff"/>
                </a:solidFill>
                <a:latin typeface="Times New Roman"/>
                <a:ea typeface="DejaVu Sans"/>
              </a:rPr>
              <a:t>);</a:t>
            </a:r>
            <a:r>
              <a:rPr b="0" lang="en-IN" sz="3200" spc="-1" strike="noStrike">
                <a:solidFill>
                  <a:srgbClr val="0000ff"/>
                </a:solidFill>
                <a:latin typeface="Times New Roman"/>
                <a:ea typeface="DejaVu Sans"/>
              </a:rPr>
              <a:t>	</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ff"/>
                </a:solidFill>
                <a:latin typeface="Times New Roman"/>
                <a:ea typeface="DejaVu Sans"/>
              </a:rPr>
              <a:t> </a:t>
            </a:r>
            <a:r>
              <a:rPr b="0" lang="en-IN" sz="3200" spc="-1" strike="noStrike">
                <a:solidFill>
                  <a:srgbClr val="0000ff"/>
                </a:solidFill>
                <a:latin typeface="Times New Roman"/>
                <a:ea typeface="DejaVu Sans"/>
              </a:rPr>
              <a:t>void</a:t>
            </a:r>
            <a:r>
              <a:rPr b="0" lang="en-IN" sz="3200" spc="-1" strike="noStrike">
                <a:solidFill>
                  <a:srgbClr val="000000"/>
                </a:solidFill>
                <a:latin typeface="Times New Roman"/>
                <a:ea typeface="DejaVu Sans"/>
              </a:rPr>
              <a:t> longjmp</a:t>
            </a:r>
            <a:r>
              <a:rPr b="0" lang="en-IN" sz="3200" spc="-1" strike="noStrike">
                <a:solidFill>
                  <a:srgbClr val="0000ff"/>
                </a:solidFill>
                <a:latin typeface="Times New Roman"/>
                <a:ea typeface="DejaVu Sans"/>
              </a:rPr>
              <a:t>(jmp_buf </a:t>
            </a:r>
            <a:r>
              <a:rPr b="0" lang="en-IN" sz="3200" spc="-1" strike="noStrike" u="sng">
                <a:solidFill>
                  <a:srgbClr val="000000"/>
                </a:solidFill>
                <a:uFillTx/>
                <a:latin typeface="Times New Roman"/>
                <a:ea typeface="DejaVu Sans"/>
              </a:rPr>
              <a:t>env</a:t>
            </a:r>
            <a:r>
              <a:rPr b="0" lang="en-IN" sz="3200" spc="-1" strike="noStrike">
                <a:solidFill>
                  <a:srgbClr val="0000ff"/>
                </a:solidFill>
                <a:latin typeface="Times New Roman"/>
                <a:ea typeface="DejaVu Sans"/>
              </a:rPr>
              <a:t>, int </a:t>
            </a:r>
            <a:r>
              <a:rPr b="0" lang="en-IN" sz="3200" spc="-1" strike="noStrike" u="sng">
                <a:solidFill>
                  <a:srgbClr val="000000"/>
                </a:solidFill>
                <a:uFillTx/>
                <a:latin typeface="Times New Roman"/>
                <a:ea typeface="DejaVu Sans"/>
              </a:rPr>
              <a:t>val</a:t>
            </a:r>
            <a:r>
              <a:rPr b="0" lang="en-IN" sz="3200" spc="-1" strike="noStrike">
                <a:solidFill>
                  <a:srgbClr val="0000ff"/>
                </a:solidFill>
                <a:latin typeface="Times New Roman"/>
                <a:ea typeface="DejaVu Sans"/>
              </a:rPr>
              <a:t>);</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u="sng">
                <a:solidFill>
                  <a:srgbClr val="a3238e"/>
                </a:solidFill>
                <a:uFillTx/>
                <a:latin typeface="Times New Roman"/>
                <a:ea typeface="DejaVu Sans"/>
              </a:rPr>
              <a:t>DESCRIPTION </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a3238e"/>
                </a:solidFill>
                <a:latin typeface="Times New Roman"/>
                <a:ea typeface="DejaVu Sans"/>
              </a:rPr>
              <a:t>     </a:t>
            </a:r>
            <a:r>
              <a:rPr b="0" lang="en-IN" sz="3200" spc="-1" strike="noStrike">
                <a:solidFill>
                  <a:srgbClr val="000000"/>
                </a:solidFill>
                <a:latin typeface="Times New Roman"/>
                <a:ea typeface="DejaVu Sans"/>
              </a:rPr>
              <a:t>setjmp()  and  longjmp() are useful for dealing with errors and interrupts encountered in a low-level subroutine  of  a  program.</a:t>
            </a:r>
            <a:endParaRPr b="0" lang="en-IN" sz="3200" spc="-1" strike="noStrike">
              <a:latin typeface="Arial"/>
            </a:endParaRPr>
          </a:p>
        </p:txBody>
      </p:sp>
      <p:graphicFrame>
        <p:nvGraphicFramePr>
          <p:cNvPr id="379" name="Table 3"/>
          <p:cNvGraphicFramePr/>
          <p:nvPr/>
        </p:nvGraphicFramePr>
        <p:xfrm>
          <a:off x="4019400" y="852480"/>
          <a:ext cx="2209680" cy="403920"/>
        </p:xfrm>
        <a:graphic>
          <a:graphicData uri="http://schemas.openxmlformats.org/drawingml/2006/table">
            <a:tbl>
              <a:tblPr/>
              <a:tblGrid>
                <a:gridCol w="2210040"/>
              </a:tblGrid>
              <a:tr h="404280">
                <a:tc>
                  <a:txBody>
                    <a:bodyPr lIns="90000" rIns="90000"/>
                    <a:p>
                      <a:pPr>
                        <a:lnSpc>
                          <a:spcPct val="100000"/>
                        </a:lnSpc>
                      </a:pPr>
                      <a:r>
                        <a:rPr b="0" lang="en-IN" sz="2200" spc="-1" strike="noStrike">
                          <a:latin typeface="Arial"/>
                        </a:rPr>
                        <a:t>Non- local Goto</a:t>
                      </a:r>
                      <a:endParaRPr b="0" lang="en-IN" sz="22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380" name="Line 4"/>
          <p:cNvSpPr/>
          <p:nvPr/>
        </p:nvSpPr>
        <p:spPr>
          <a:xfrm flipH="1">
            <a:off x="4334040" y="1212120"/>
            <a:ext cx="792000" cy="792000"/>
          </a:xfrm>
          <a:prstGeom prst="line">
            <a:avLst/>
          </a:prstGeom>
          <a:ln>
            <a:solidFill>
              <a:srgbClr val="000000"/>
            </a:solidFill>
          </a:ln>
        </p:spPr>
        <p:style>
          <a:lnRef idx="0"/>
          <a:fillRef idx="0"/>
          <a:effectRef idx="0"/>
          <a:fontRef idx="minor"/>
        </p:style>
      </p:sp>
      <p:sp>
        <p:nvSpPr>
          <p:cNvPr id="381" name="Line 5"/>
          <p:cNvSpPr/>
          <p:nvPr/>
        </p:nvSpPr>
        <p:spPr>
          <a:xfrm>
            <a:off x="5095800" y="1212120"/>
            <a:ext cx="663480" cy="810720"/>
          </a:xfrm>
          <a:prstGeom prst="line">
            <a:avLst/>
          </a:prstGeom>
          <a:ln>
            <a:solidFill>
              <a:srgbClr val="000000"/>
            </a:solidFill>
          </a:ln>
        </p:spPr>
        <p:style>
          <a:lnRef idx="0"/>
          <a:fillRef idx="0"/>
          <a:effectRef idx="0"/>
          <a:fontRef idx="minor"/>
        </p:style>
      </p:sp>
      <p:graphicFrame>
        <p:nvGraphicFramePr>
          <p:cNvPr id="382" name="Table 6"/>
          <p:cNvGraphicFramePr/>
          <p:nvPr/>
        </p:nvGraphicFramePr>
        <p:xfrm>
          <a:off x="2303640" y="1985760"/>
          <a:ext cx="2518920" cy="451800"/>
        </p:xfrm>
        <a:graphic>
          <a:graphicData uri="http://schemas.openxmlformats.org/drawingml/2006/table">
            <a:tbl>
              <a:tblPr/>
              <a:tblGrid>
                <a:gridCol w="2519280"/>
              </a:tblGrid>
              <a:tr h="452160">
                <a:tc>
                  <a:txBody>
                    <a:bodyPr lIns="90000" rIns="90000"/>
                    <a:p>
                      <a:pPr>
                        <a:lnSpc>
                          <a:spcPct val="100000"/>
                        </a:lnSpc>
                      </a:pPr>
                      <a:r>
                        <a:rPr b="0" lang="en-IN" sz="2200" spc="-1" strike="noStrike">
                          <a:latin typeface="Arial"/>
                        </a:rPr>
                        <a:t>Setting the Label</a:t>
                      </a:r>
                      <a:endParaRPr b="0" lang="en-IN" sz="22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383" name="Table 7"/>
          <p:cNvGraphicFramePr/>
          <p:nvPr/>
        </p:nvGraphicFramePr>
        <p:xfrm>
          <a:off x="5670720" y="2040840"/>
          <a:ext cx="2248200" cy="405720"/>
        </p:xfrm>
        <a:graphic>
          <a:graphicData uri="http://schemas.openxmlformats.org/drawingml/2006/table">
            <a:tbl>
              <a:tblPr/>
              <a:tblGrid>
                <a:gridCol w="2248560"/>
              </a:tblGrid>
              <a:tr h="406080">
                <a:tc>
                  <a:txBody>
                    <a:bodyPr lIns="90000" rIns="90000"/>
                    <a:p>
                      <a:pPr>
                        <a:lnSpc>
                          <a:spcPct val="100000"/>
                        </a:lnSpc>
                      </a:pPr>
                      <a:r>
                        <a:rPr b="0" lang="en-IN" sz="2200" spc="-1" strike="noStrike">
                          <a:latin typeface="Arial"/>
                        </a:rPr>
                        <a:t>Calling the label</a:t>
                      </a:r>
                      <a:endParaRPr b="0" lang="en-IN" sz="22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Tree>
  </p:cSld>
  <p:timing>
    <p:tnLst>
      <p:par>
        <p:cTn id="59" dur="indefinite" restart="never" nodeType="tmRoot">
          <p:childTnLst>
            <p:seq>
              <p:cTn id="60" dur="indefinite" nodeType="mainSeq"/>
              <p:prevCondLst>
                <p:cond delay="0" evt="onPrev">
                  <p:tgtEl>
                    <p:sldTgt/>
                  </p:tgtEl>
                </p:cond>
              </p:prevCondLst>
              <p:nextCondLst>
                <p:cond delay="0"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CustomShape 1"/>
          <p:cNvSpPr/>
          <p:nvPr/>
        </p:nvSpPr>
        <p:spPr>
          <a:xfrm>
            <a:off x="576000" y="1188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setjmp() &amp; longjmp()</a:t>
            </a:r>
            <a:endParaRPr b="0" lang="en-IN" sz="3600" spc="-1" strike="noStrike">
              <a:latin typeface="Arial"/>
            </a:endParaRPr>
          </a:p>
        </p:txBody>
      </p:sp>
      <p:sp>
        <p:nvSpPr>
          <p:cNvPr id="385" name="CustomShape 2"/>
          <p:cNvSpPr/>
          <p:nvPr/>
        </p:nvSpPr>
        <p:spPr>
          <a:xfrm>
            <a:off x="287640" y="791280"/>
            <a:ext cx="9631440" cy="646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setjmp() &amp; longjmp() are connected each other</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When setjmp() is executed first time, it returns Zero.</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If setjmp() is executed because of longjmp() then setjump() returns longjmp()  2nd argument.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function described here are used for programming. non-local goto’s transfering execution from one function to a pre-determined location in another function.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setjmp() function dynamically establishes the target to which control will later to be transfered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And longjmp() performs the transfer the execution.</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61" dur="indefinite" restart="never" nodeType="tmRoot">
          <p:childTnLst>
            <p:seq>
              <p:cTn id="62" dur="indefinite" nodeType="mainSeq"/>
              <p:prevCondLst>
                <p:cond delay="0" evt="onPrev">
                  <p:tgtEl>
                    <p:sldTgt/>
                  </p:tgtEl>
                </p:cond>
              </p:prevCondLst>
              <p:nextCondLst>
                <p:cond delay="0"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CustomShape 1"/>
          <p:cNvSpPr/>
          <p:nvPr/>
        </p:nvSpPr>
        <p:spPr>
          <a:xfrm>
            <a:off x="504000" y="84240"/>
            <a:ext cx="9055080" cy="8348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setjmp() &amp; longjmp()</a:t>
            </a:r>
            <a:endParaRPr b="0" lang="en-IN" sz="3600" spc="-1" strike="noStrike">
              <a:latin typeface="Arial"/>
            </a:endParaRPr>
          </a:p>
        </p:txBody>
      </p:sp>
      <p:sp>
        <p:nvSpPr>
          <p:cNvPr id="387" name="CustomShape 2"/>
          <p:cNvSpPr/>
          <p:nvPr/>
        </p:nvSpPr>
        <p:spPr>
          <a:xfrm>
            <a:off x="503640" y="1223280"/>
            <a:ext cx="9055080" cy="588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setjmp() function saves various information about the calling environment (typically the stack pointer,instruction pointer possbily the values of other registers &amp; the signal mask) in the buffer env for later use by longjmp().  In this case setjmp() returns 0 value.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The longjump() function uses the information saved in env to transfer back to the point where setjmp() was called to restore (rewind). The stack to its state at the time of setjmp() call.</a:t>
            </a:r>
            <a:endParaRPr b="0" lang="en-IN" sz="3200" spc="-1" strike="noStrike">
              <a:latin typeface="Arial"/>
            </a:endParaRPr>
          </a:p>
        </p:txBody>
      </p:sp>
    </p:spTree>
  </p:cSld>
  <p:timing>
    <p:tnLst>
      <p:par>
        <p:cTn id="63" dur="indefinite" restart="never" nodeType="tmRoot">
          <p:childTnLst>
            <p:seq>
              <p:cTn id="64" dur="indefinite" nodeType="mainSeq"/>
              <p:prevCondLst>
                <p:cond delay="0" evt="onPrev">
                  <p:tgtEl>
                    <p:sldTgt/>
                  </p:tgtEl>
                </p:cond>
              </p:prevCondLst>
              <p:nextCondLst>
                <p:cond delay="0"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CustomShape 1"/>
          <p:cNvSpPr/>
          <p:nvPr/>
        </p:nvSpPr>
        <p:spPr>
          <a:xfrm>
            <a:off x="575640" y="9360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setjmp() &amp; longjmp()</a:t>
            </a:r>
            <a:endParaRPr b="0" lang="en-IN" sz="3600" spc="-1" strike="noStrike">
              <a:latin typeface="Arial"/>
            </a:endParaRPr>
          </a:p>
        </p:txBody>
      </p:sp>
      <p:sp>
        <p:nvSpPr>
          <p:cNvPr id="389" name="CustomShape 2"/>
          <p:cNvSpPr/>
          <p:nvPr/>
        </p:nvSpPr>
        <p:spPr>
          <a:xfrm>
            <a:off x="287640" y="719280"/>
            <a:ext cx="9271080" cy="6752520"/>
          </a:xfrm>
          <a:prstGeom prst="rect">
            <a:avLst/>
          </a:prstGeom>
          <a:noFill/>
          <a:ln>
            <a:noFill/>
          </a:ln>
        </p:spPr>
        <p:style>
          <a:lnRef idx="0"/>
          <a:fillRef idx="0"/>
          <a:effectRef idx="0"/>
          <a:fontRef idx="minor"/>
        </p:style>
        <p:txBody>
          <a:bodyPr lIns="0" rIns="0" tIns="0" bIns="0">
            <a:normAutofit/>
          </a:bodyPr>
          <a:p>
            <a:pPr marL="432000" indent="-307800">
              <a:lnSpc>
                <a:spcPct val="100000"/>
              </a:lnSpc>
            </a:pPr>
            <a:r>
              <a:rPr b="0" lang="en-IN" sz="2800" spc="-1" strike="noStrike">
                <a:solidFill>
                  <a:srgbClr val="000000"/>
                </a:solidFill>
                <a:latin typeface="Times New Roman"/>
                <a:ea typeface="DejaVu Sans"/>
              </a:rPr>
              <a:t>#include&lt;stdio.h&gt;</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#include&lt;unistd.h&gt;</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#include&lt;setjmp.h&gt;</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jmp_buf var;</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int main()</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r;</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printf("Hello\n");</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r = setjmp(var);</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printf("r = %d\n",r);</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printf("after setjmp()...\n");</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printf("longjmp() going to be called\n");</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sleep(2);</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longjmp(var,1);</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printf("after longjmp()...\n");</a:t>
            </a:r>
            <a:endParaRPr b="0" lang="en-IN" sz="2800" spc="-1" strike="noStrike">
              <a:latin typeface="Arial"/>
            </a:endParaRPr>
          </a:p>
          <a:p>
            <a:pPr marL="432000" indent="-307800">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65" dur="indefinite" restart="never" nodeType="tmRoot">
          <p:childTnLst>
            <p:seq>
              <p:cTn id="66" dur="indefinite" nodeType="mainSeq"/>
              <p:prevCondLst>
                <p:cond delay="0" evt="onPrev">
                  <p:tgtEl>
                    <p:sldTgt/>
                  </p:tgtEl>
                </p:cond>
              </p:prevCondLst>
              <p:nextCondLst>
                <p:cond delay="0"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CustomShape 1"/>
          <p:cNvSpPr/>
          <p:nvPr/>
        </p:nvSpPr>
        <p:spPr>
          <a:xfrm>
            <a:off x="143640" y="112320"/>
            <a:ext cx="9775440" cy="663840"/>
          </a:xfrm>
          <a:prstGeom prst="rect">
            <a:avLst/>
          </a:prstGeom>
          <a:noFill/>
          <a:ln>
            <a:noFill/>
          </a:ln>
        </p:spPr>
        <p:style>
          <a:lnRef idx="0"/>
          <a:fillRef idx="0"/>
          <a:effectRef idx="0"/>
          <a:fontRef idx="minor"/>
        </p:style>
        <p:txBody>
          <a:bodyPr lIns="0" rIns="0" tIns="0" bIns="0" anchor="ctr"/>
          <a:p>
            <a:pPr algn="ctr">
              <a:lnSpc>
                <a:spcPct val="100000"/>
              </a:lnSpc>
            </a:pPr>
            <a:r>
              <a:rPr b="1" lang="en-IN" sz="3200" spc="-1" strike="noStrike">
                <a:solidFill>
                  <a:srgbClr val="a3238e"/>
                </a:solidFill>
                <a:latin typeface="Times New Roman"/>
                <a:ea typeface="DejaVu Sans"/>
              </a:rPr>
              <a:t>Program to deal erros using setjmp( ) and longjmp( )</a:t>
            </a:r>
            <a:endParaRPr b="0" lang="en-IN" sz="3200" spc="-1" strike="noStrike">
              <a:latin typeface="Arial"/>
            </a:endParaRPr>
          </a:p>
        </p:txBody>
      </p:sp>
      <p:sp>
        <p:nvSpPr>
          <p:cNvPr id="391" name="CustomShape 2"/>
          <p:cNvSpPr/>
          <p:nvPr/>
        </p:nvSpPr>
        <p:spPr>
          <a:xfrm>
            <a:off x="143640" y="791280"/>
            <a:ext cx="9847440" cy="6536520"/>
          </a:xfrm>
          <a:prstGeom prst="rect">
            <a:avLst/>
          </a:prstGeom>
          <a:noFill/>
          <a:ln>
            <a:noFill/>
          </a:ln>
        </p:spPr>
        <p:style>
          <a:lnRef idx="0"/>
          <a:fillRef idx="0"/>
          <a:effectRef idx="0"/>
          <a:fontRef idx="minor"/>
        </p:style>
        <p:txBody>
          <a:bodyPr lIns="0" rIns="0" tIns="0" bIns="0">
            <a:normAutofit/>
          </a:bodyPr>
          <a:p>
            <a:pPr marL="216000" indent="-210600">
              <a:lnSpc>
                <a:spcPct val="100000"/>
              </a:lnSpc>
            </a:pPr>
            <a:r>
              <a:rPr b="0" lang="en-IN" sz="2600" spc="-1" strike="noStrike">
                <a:solidFill>
                  <a:srgbClr val="000000"/>
                </a:solidFill>
                <a:latin typeface="Times New Roman"/>
                <a:ea typeface="DejaVu Sans"/>
              </a:rPr>
              <a:t>#include&lt;stdio.h&gt;</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#include&lt;setjmp.h&gt;</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typedef int FUN_DECLARE(int,int);</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FUN_DECLARE sum,sub,mul,div,mod;</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jmp_buf var;</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int main()</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int x,y,z,ret;</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char op;</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ret = setjmp(var);</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if(ret == 1)</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printf("Problem in mul function, multiply with 0 value\n");</a:t>
            </a:r>
            <a:endParaRPr b="0" lang="en-IN" sz="2600" spc="-1" strike="noStrike">
              <a:latin typeface="Arial"/>
            </a:endParaRPr>
          </a:p>
          <a:p>
            <a:pPr lvl="1" marL="432000" indent="-210600">
              <a:lnSpc>
                <a:spcPct val="100000"/>
              </a:lnSpc>
              <a:buClr>
                <a:srgbClr val="000000"/>
              </a:buClr>
              <a:buSzPct val="45000"/>
              <a:buFont typeface="Wingdings" charset="2"/>
              <a:buChar char=""/>
            </a:pPr>
            <a:r>
              <a:rPr b="0" lang="en-IN" sz="2600" spc="-1" strike="noStrike">
                <a:solidFill>
                  <a:srgbClr val="000000"/>
                </a:solidFill>
                <a:latin typeface="Times New Roman"/>
                <a:ea typeface="DejaVu Sans"/>
              </a:rPr>
              <a:t>else if(ret == 2)</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printf("Problem in div function, divide by 0 value\n");</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printf("Enter the x,y values\n");</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scanf("%d%d",&amp;x,&amp;y);</a:t>
            </a:r>
            <a:endParaRPr b="0" lang="en-IN" sz="2600" spc="-1" strike="noStrike">
              <a:latin typeface="Arial"/>
            </a:endParaRPr>
          </a:p>
        </p:txBody>
      </p:sp>
    </p:spTree>
  </p:cSld>
  <p:timing>
    <p:tnLst>
      <p:par>
        <p:cTn id="67" dur="indefinite" restart="never" nodeType="tmRoot">
          <p:childTnLst>
            <p:seq>
              <p:cTn id="68" dur="indefinite" nodeType="mainSeq"/>
              <p:prevCondLst>
                <p:cond delay="0" evt="onPrev">
                  <p:tgtEl>
                    <p:sldTgt/>
                  </p:tgtEl>
                </p:cond>
              </p:prevCondLst>
              <p:nextCondLst>
                <p:cond delay="0"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CustomShape 1"/>
          <p:cNvSpPr/>
          <p:nvPr/>
        </p:nvSpPr>
        <p:spPr>
          <a:xfrm>
            <a:off x="215640" y="719640"/>
            <a:ext cx="9559440" cy="6536160"/>
          </a:xfrm>
          <a:prstGeom prst="rect">
            <a:avLst/>
          </a:prstGeom>
          <a:noFill/>
          <a:ln>
            <a:noFill/>
          </a:ln>
        </p:spPr>
        <p:style>
          <a:lnRef idx="0"/>
          <a:fillRef idx="0"/>
          <a:effectRef idx="0"/>
          <a:fontRef idx="minor"/>
        </p:style>
        <p:txBody>
          <a:bodyPr lIns="0" rIns="0" tIns="0" bIns="0">
            <a:normAutofit/>
          </a:bodyPr>
          <a:p>
            <a:pPr>
              <a:lnSpc>
                <a:spcPct val="100000"/>
              </a:lnSpc>
            </a:pPr>
            <a:endParaRPr b="0" lang="en-IN" sz="1800" spc="-1" strike="noStrike">
              <a:latin typeface="Arial"/>
            </a:endParaRPr>
          </a:p>
          <a:p>
            <a:pPr marL="216000" indent="-210600">
              <a:lnSpc>
                <a:spcPct val="100000"/>
              </a:lnSpc>
            </a:pPr>
            <a:r>
              <a:rPr b="0" lang="en-IN" sz="2600" spc="-1" strike="noStrike">
                <a:solidFill>
                  <a:srgbClr val="000000"/>
                </a:solidFill>
                <a:latin typeface="Times New Roman"/>
                <a:ea typeface="DejaVu Sans"/>
              </a:rPr>
              <a:t>printf("Enter your option '+','-','*','/','%%'\n");</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scanf(" %c",&amp;op);</a:t>
            </a:r>
            <a:r>
              <a:rPr b="0" lang="en-IN" sz="2600" spc="-1" strike="noStrike">
                <a:solidFill>
                  <a:srgbClr val="000000"/>
                </a:solidFill>
                <a:latin typeface="Times New Roman"/>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switch(op)</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 z = sum(x,y); break;</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 z = sub(x,y); break;</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 z = mul(x,y); break;</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 z = div(x,y); break;</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case '%': z = mod(x,y); break;</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default : printf("Invalid option\n");</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return 0;</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 %c %d = %d\n",x,op,y,z);</a:t>
            </a:r>
            <a:r>
              <a:rPr b="0" lang="en-IN" sz="2600" spc="-1" strike="noStrike">
                <a:solidFill>
                  <a:srgbClr val="000000"/>
                </a:solidFill>
                <a:latin typeface="Times New Roman"/>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p:txBody>
      </p:sp>
      <p:sp>
        <p:nvSpPr>
          <p:cNvPr id="393" name="CustomShape 2"/>
          <p:cNvSpPr/>
          <p:nvPr/>
        </p:nvSpPr>
        <p:spPr>
          <a:xfrm>
            <a:off x="576000" y="9396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setjmp() &amp; longjmp()</a:t>
            </a:r>
            <a:endParaRPr b="0" lang="en-IN" sz="3600" spc="-1" strike="noStrike">
              <a:latin typeface="Arial"/>
            </a:endParaRPr>
          </a:p>
        </p:txBody>
      </p:sp>
    </p:spTree>
  </p:cSld>
  <p:timing>
    <p:tnLst>
      <p:par>
        <p:cTn id="69" dur="indefinite" restart="never" nodeType="tmRoot">
          <p:childTnLst>
            <p:seq>
              <p:cTn id="70" dur="indefinite" nodeType="mainSeq"/>
              <p:prevCondLst>
                <p:cond delay="0" evt="onPrev">
                  <p:tgtEl>
                    <p:sldTgt/>
                  </p:tgtEl>
                </p:cond>
              </p:prevCondLst>
              <p:nextCondLst>
                <p:cond delay="0"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CustomShape 1"/>
          <p:cNvSpPr/>
          <p:nvPr/>
        </p:nvSpPr>
        <p:spPr>
          <a:xfrm>
            <a:off x="287640" y="1150920"/>
            <a:ext cx="4735800" cy="6032520"/>
          </a:xfrm>
          <a:prstGeom prst="rect">
            <a:avLst/>
          </a:prstGeom>
          <a:noFill/>
          <a:ln>
            <a:noFill/>
          </a:ln>
        </p:spPr>
        <p:style>
          <a:lnRef idx="0"/>
          <a:fillRef idx="0"/>
          <a:effectRef idx="0"/>
          <a:fontRef idx="minor"/>
        </p:style>
        <p:txBody>
          <a:bodyPr lIns="0" rIns="0" tIns="0" bIns="0">
            <a:normAutofit/>
          </a:bodyPr>
          <a:p>
            <a:pPr marL="216000" indent="-210600">
              <a:lnSpc>
                <a:spcPct val="100000"/>
              </a:lnSpc>
            </a:pPr>
            <a:r>
              <a:rPr b="0" lang="en-IN" sz="2600" spc="-1" strike="noStrike">
                <a:solidFill>
                  <a:srgbClr val="000000"/>
                </a:solidFill>
                <a:latin typeface="Arial"/>
                <a:ea typeface="DejaVu Sans"/>
              </a:rPr>
              <a:t>int sum(int x,int y)</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return x+y;</a:t>
            </a: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int sub(int x,int y)</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return x-y;</a:t>
            </a: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int mod(int x,int y)</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return x%y;</a:t>
            </a:r>
            <a:r>
              <a:rPr b="0" lang="en-IN" sz="2600" spc="-1" strike="noStrike">
                <a:solidFill>
                  <a:srgbClr val="000000"/>
                </a:solidFill>
                <a:latin typeface="Arial"/>
                <a:ea typeface="DejaVu Sans"/>
              </a:rPr>
              <a:t>	</a:t>
            </a:r>
            <a:endParaRPr b="0" lang="en-IN" sz="2600" spc="-1" strike="noStrike">
              <a:latin typeface="Arial"/>
            </a:endParaRPr>
          </a:p>
          <a:p>
            <a:pPr marL="216000" indent="-210600">
              <a:lnSpc>
                <a:spcPct val="100000"/>
              </a:lnSpc>
            </a:pPr>
            <a:r>
              <a:rPr b="0" lang="en-IN" sz="2600" spc="-1" strike="noStrike">
                <a:solidFill>
                  <a:srgbClr val="000000"/>
                </a:solidFill>
                <a:latin typeface="Arial"/>
                <a:ea typeface="DejaVu Sans"/>
              </a:rPr>
              <a:t>}</a:t>
            </a:r>
            <a:endParaRPr b="0" lang="en-IN" sz="2600" spc="-1" strike="noStrike">
              <a:latin typeface="Arial"/>
            </a:endParaRPr>
          </a:p>
        </p:txBody>
      </p:sp>
      <p:sp>
        <p:nvSpPr>
          <p:cNvPr id="395" name="CustomShape 2"/>
          <p:cNvSpPr/>
          <p:nvPr/>
        </p:nvSpPr>
        <p:spPr>
          <a:xfrm>
            <a:off x="5183280" y="1007280"/>
            <a:ext cx="4591800" cy="6464520"/>
          </a:xfrm>
          <a:prstGeom prst="rect">
            <a:avLst/>
          </a:prstGeom>
          <a:noFill/>
          <a:ln>
            <a:noFill/>
          </a:ln>
        </p:spPr>
        <p:style>
          <a:lnRef idx="0"/>
          <a:fillRef idx="0"/>
          <a:effectRef idx="0"/>
          <a:fontRef idx="minor"/>
        </p:style>
        <p:txBody>
          <a:bodyPr lIns="0" rIns="0" tIns="0" bIns="0">
            <a:normAutofit/>
          </a:bodyPr>
          <a:p>
            <a:pPr marL="216000" indent="-210600">
              <a:lnSpc>
                <a:spcPct val="100000"/>
              </a:lnSpc>
            </a:pPr>
            <a:r>
              <a:rPr b="0" lang="en-IN" sz="2800" spc="-1" strike="noStrike">
                <a:solidFill>
                  <a:srgbClr val="000000"/>
                </a:solidFill>
                <a:latin typeface="Times New Roman"/>
                <a:ea typeface="DejaVu Sans"/>
              </a:rPr>
              <a:t>int mul(int x,int y)</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if((x == 0)||(y == 0))</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longjmp(var,1);</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return x*y;</a:t>
            </a:r>
            <a:r>
              <a:rPr b="0" lang="en-IN" sz="2800" spc="-1" strike="noStrike">
                <a:solidFill>
                  <a:srgbClr val="000000"/>
                </a:solidFill>
                <a:latin typeface="Times New Roman"/>
                <a:ea typeface="DejaVu Sans"/>
              </a:rPr>
              <a:t>	</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marL="216000" indent="-210600">
              <a:lnSpc>
                <a:spcPct val="100000"/>
              </a:lnSpc>
            </a:pPr>
            <a:r>
              <a:rPr b="0" lang="en-IN" sz="2800" spc="-1" strike="noStrike">
                <a:solidFill>
                  <a:srgbClr val="000000"/>
                </a:solidFill>
                <a:latin typeface="Arial"/>
                <a:ea typeface="DejaVu Sans"/>
              </a:rPr>
              <a:t> </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int div(int x,int y)</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if(y == 0)</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longjmp(var,2);</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return x/y;</a:t>
            </a:r>
            <a:r>
              <a:rPr b="0" lang="en-IN" sz="2800" spc="-1" strike="noStrike">
                <a:solidFill>
                  <a:srgbClr val="000000"/>
                </a:solidFill>
                <a:latin typeface="Times New Roman"/>
                <a:ea typeface="DejaVu Sans"/>
              </a:rPr>
              <a:t>	</a:t>
            </a:r>
            <a:endParaRPr b="0" lang="en-IN" sz="2800" spc="-1" strike="noStrike">
              <a:latin typeface="Arial"/>
            </a:endParaRPr>
          </a:p>
          <a:p>
            <a:pPr marL="216000" indent="-210600">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p:txBody>
      </p:sp>
      <p:sp>
        <p:nvSpPr>
          <p:cNvPr id="396" name="CustomShape 3"/>
          <p:cNvSpPr/>
          <p:nvPr/>
        </p:nvSpPr>
        <p:spPr>
          <a:xfrm>
            <a:off x="576360" y="9396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setjmp() &amp; longjmp()</a:t>
            </a:r>
            <a:endParaRPr b="0" lang="en-IN" sz="3600" spc="-1" strike="noStrike">
              <a:latin typeface="Arial"/>
            </a:endParaRPr>
          </a:p>
        </p:txBody>
      </p:sp>
    </p:spTree>
  </p:cSld>
  <p:timing>
    <p:tnLst>
      <p:par>
        <p:cTn id="71" dur="indefinite" restart="never" nodeType="tmRoot">
          <p:childTnLst>
            <p:seq>
              <p:cTn id="72" dur="indefinite" nodeType="mainSeq"/>
              <p:prevCondLst>
                <p:cond delay="0" evt="onPrev">
                  <p:tgtEl>
                    <p:sldTgt/>
                  </p:tgtEl>
                </p:cond>
              </p:prevCondLst>
              <p:nextCondLst>
                <p:cond delay="0"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CustomShape 1"/>
          <p:cNvSpPr/>
          <p:nvPr/>
        </p:nvSpPr>
        <p:spPr>
          <a:xfrm>
            <a:off x="575640" y="-360"/>
            <a:ext cx="9055080" cy="4906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Context Switch</a:t>
            </a:r>
            <a:endParaRPr b="0" lang="en-IN" sz="3600" spc="-1" strike="noStrike">
              <a:latin typeface="Arial"/>
            </a:endParaRPr>
          </a:p>
        </p:txBody>
      </p:sp>
      <p:sp>
        <p:nvSpPr>
          <p:cNvPr id="398" name="CustomShape 2"/>
          <p:cNvSpPr/>
          <p:nvPr/>
        </p:nvSpPr>
        <p:spPr>
          <a:xfrm>
            <a:off x="503640" y="549720"/>
            <a:ext cx="9055080" cy="40878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Store the context of the runnning process into PCB(process control block) and load the context of the next process which is going to be executed into CPU is called Context Switch.</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Also called as Process switch or Task switch or CPU switch (because CPU is switching from one process to another process.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It is Mandatory in multiprocessing environment.</a:t>
            </a:r>
            <a:endParaRPr b="0" lang="en-IN" sz="3200" spc="-1" strike="noStrike">
              <a:latin typeface="Arial"/>
            </a:endParaRPr>
          </a:p>
          <a:p>
            <a:pPr>
              <a:lnSpc>
                <a:spcPct val="100000"/>
              </a:lnSpc>
              <a:spcBef>
                <a:spcPts val="1417"/>
              </a:spcBef>
            </a:pPr>
            <a:endParaRPr b="0" lang="en-IN" sz="3200" spc="-1" strike="noStrike">
              <a:latin typeface="Arial"/>
            </a:endParaRPr>
          </a:p>
        </p:txBody>
      </p:sp>
      <p:graphicFrame>
        <p:nvGraphicFramePr>
          <p:cNvPr id="399" name="Table 3"/>
          <p:cNvGraphicFramePr/>
          <p:nvPr/>
        </p:nvGraphicFramePr>
        <p:xfrm>
          <a:off x="202320" y="5050800"/>
          <a:ext cx="1899000" cy="595800"/>
        </p:xfrm>
        <a:graphic>
          <a:graphicData uri="http://schemas.openxmlformats.org/drawingml/2006/table">
            <a:tbl>
              <a:tblPr/>
              <a:tblGrid>
                <a:gridCol w="1899360"/>
              </a:tblGrid>
              <a:tr h="59616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400" name="CustomShape 4"/>
          <p:cNvSpPr/>
          <p:nvPr/>
        </p:nvSpPr>
        <p:spPr>
          <a:xfrm>
            <a:off x="359640" y="5146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401" name="CustomShape 5"/>
          <p:cNvSpPr/>
          <p:nvPr/>
        </p:nvSpPr>
        <p:spPr>
          <a:xfrm>
            <a:off x="935640" y="5146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p2</a:t>
            </a:r>
            <a:endParaRPr b="0" lang="en-IN" sz="1800" spc="-1" strike="noStrike">
              <a:latin typeface="Arial"/>
            </a:endParaRPr>
          </a:p>
        </p:txBody>
      </p:sp>
      <p:sp>
        <p:nvSpPr>
          <p:cNvPr id="402" name="CustomShape 6"/>
          <p:cNvSpPr/>
          <p:nvPr/>
        </p:nvSpPr>
        <p:spPr>
          <a:xfrm>
            <a:off x="1511640" y="5146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p3</a:t>
            </a:r>
            <a:endParaRPr b="0" lang="en-IN" sz="1800" spc="-1" strike="noStrike">
              <a:latin typeface="Arial"/>
            </a:endParaRPr>
          </a:p>
        </p:txBody>
      </p:sp>
      <p:graphicFrame>
        <p:nvGraphicFramePr>
          <p:cNvPr id="403" name="Table 7"/>
          <p:cNvGraphicFramePr/>
          <p:nvPr/>
        </p:nvGraphicFramePr>
        <p:xfrm>
          <a:off x="2680920" y="5869440"/>
          <a:ext cx="2015280" cy="974880"/>
        </p:xfrm>
        <a:graphic>
          <a:graphicData uri="http://schemas.openxmlformats.org/drawingml/2006/table">
            <a:tbl>
              <a:tblPr/>
              <a:tblGrid>
                <a:gridCol w="2015640"/>
              </a:tblGrid>
              <a:tr h="975240">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404" name="CustomShape 8"/>
          <p:cNvSpPr/>
          <p:nvPr/>
        </p:nvSpPr>
        <p:spPr>
          <a:xfrm>
            <a:off x="2879640" y="6154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p1</a:t>
            </a:r>
            <a:endParaRPr b="0" lang="en-IN" sz="1800" spc="-1" strike="noStrike">
              <a:latin typeface="Arial"/>
            </a:endParaRPr>
          </a:p>
        </p:txBody>
      </p:sp>
      <p:sp>
        <p:nvSpPr>
          <p:cNvPr id="405" name="CustomShape 9"/>
          <p:cNvSpPr/>
          <p:nvPr/>
        </p:nvSpPr>
        <p:spPr>
          <a:xfrm>
            <a:off x="4031640" y="6154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p3</a:t>
            </a:r>
            <a:endParaRPr b="0" lang="en-IN" sz="1800" spc="-1" strike="noStrike">
              <a:latin typeface="Arial"/>
            </a:endParaRPr>
          </a:p>
        </p:txBody>
      </p:sp>
      <p:sp>
        <p:nvSpPr>
          <p:cNvPr id="406" name="CustomShape 10"/>
          <p:cNvSpPr/>
          <p:nvPr/>
        </p:nvSpPr>
        <p:spPr>
          <a:xfrm>
            <a:off x="3455640" y="6154560"/>
            <a:ext cx="416160" cy="416160"/>
          </a:xfrm>
          <a:prstGeom prst="ellipse">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p2</a:t>
            </a:r>
            <a:endParaRPr b="0" lang="en-IN" sz="1800" spc="-1" strike="noStrike">
              <a:latin typeface="Arial"/>
            </a:endParaRPr>
          </a:p>
        </p:txBody>
      </p:sp>
      <p:sp>
        <p:nvSpPr>
          <p:cNvPr id="407" name="CustomShape 11"/>
          <p:cNvSpPr/>
          <p:nvPr/>
        </p:nvSpPr>
        <p:spPr>
          <a:xfrm>
            <a:off x="3815640" y="5506560"/>
            <a:ext cx="791280" cy="324360"/>
          </a:xfrm>
          <a:prstGeom prst="rect">
            <a:avLst/>
          </a:prstGeom>
          <a:noFill/>
          <a:ln>
            <a:noFill/>
          </a:ln>
        </p:spPr>
        <p:style>
          <a:lnRef idx="0"/>
          <a:fillRef idx="0"/>
          <a:effectRef idx="0"/>
          <a:fontRef idx="minor"/>
        </p:style>
        <p:txBody>
          <a:bodyPr lIns="0" rIns="0" tIns="0" bIns="0" anchor="ctr"/>
          <a:p>
            <a:pPr algn="ctr">
              <a:lnSpc>
                <a:spcPct val="100000"/>
              </a:lnSpc>
            </a:pPr>
            <a:r>
              <a:rPr b="0" lang="en-IN" sz="2400" spc="-1" strike="noStrike">
                <a:solidFill>
                  <a:srgbClr val="0000ff"/>
                </a:solidFill>
                <a:latin typeface="Times New Roman"/>
                <a:ea typeface="DejaVu Sans"/>
              </a:rPr>
              <a:t>CPU</a:t>
            </a:r>
            <a:endParaRPr b="0" lang="en-IN" sz="2400" spc="-1" strike="noStrike">
              <a:latin typeface="Arial"/>
            </a:endParaRPr>
          </a:p>
        </p:txBody>
      </p:sp>
      <p:sp>
        <p:nvSpPr>
          <p:cNvPr id="408" name="CustomShape 12"/>
          <p:cNvSpPr/>
          <p:nvPr/>
        </p:nvSpPr>
        <p:spPr>
          <a:xfrm>
            <a:off x="304200" y="6730920"/>
            <a:ext cx="1784160" cy="380880"/>
          </a:xfrm>
          <a:prstGeom prst="rect">
            <a:avLst/>
          </a:prstGeom>
          <a:noFill/>
          <a:ln>
            <a:noFill/>
          </a:ln>
        </p:spPr>
        <p:style>
          <a:lnRef idx="0"/>
          <a:fillRef idx="0"/>
          <a:effectRef idx="0"/>
          <a:fontRef idx="minor"/>
        </p:style>
        <p:txBody>
          <a:bodyPr lIns="0" rIns="0" tIns="0" bIns="0" anchor="ctr"/>
          <a:p>
            <a:pPr algn="ctr">
              <a:lnSpc>
                <a:spcPct val="100000"/>
              </a:lnSpc>
            </a:pPr>
            <a:r>
              <a:rPr b="0" lang="en-IN" sz="2800" spc="-1" strike="noStrike">
                <a:solidFill>
                  <a:srgbClr val="0000ff"/>
                </a:solidFill>
                <a:latin typeface="Times New Roman"/>
                <a:ea typeface="DejaVu Sans"/>
              </a:rPr>
              <a:t>premption</a:t>
            </a:r>
            <a:endParaRPr b="0" lang="en-IN" sz="2800" spc="-1" strike="noStrike">
              <a:latin typeface="Arial"/>
            </a:endParaRPr>
          </a:p>
        </p:txBody>
      </p:sp>
      <p:sp>
        <p:nvSpPr>
          <p:cNvPr id="409" name="CustomShape 13"/>
          <p:cNvSpPr/>
          <p:nvPr/>
        </p:nvSpPr>
        <p:spPr>
          <a:xfrm>
            <a:off x="1943640" y="4570920"/>
            <a:ext cx="1784160" cy="380880"/>
          </a:xfrm>
          <a:prstGeom prst="rect">
            <a:avLst/>
          </a:prstGeom>
          <a:noFill/>
          <a:ln>
            <a:noFill/>
          </a:ln>
        </p:spPr>
        <p:style>
          <a:lnRef idx="0"/>
          <a:fillRef idx="0"/>
          <a:effectRef idx="0"/>
          <a:fontRef idx="minor"/>
        </p:style>
        <p:txBody>
          <a:bodyPr lIns="0" rIns="0" tIns="0" bIns="0" anchor="ctr"/>
          <a:p>
            <a:pPr algn="ctr">
              <a:lnSpc>
                <a:spcPct val="100000"/>
              </a:lnSpc>
            </a:pPr>
            <a:r>
              <a:rPr b="0" lang="en-IN" sz="2800" spc="-1" strike="noStrike">
                <a:solidFill>
                  <a:srgbClr val="0000ff"/>
                </a:solidFill>
                <a:latin typeface="Times New Roman"/>
                <a:ea typeface="DejaVu Sans"/>
              </a:rPr>
              <a:t>dispatcher</a:t>
            </a:r>
            <a:endParaRPr b="0" lang="en-IN" sz="2800" spc="-1" strike="noStrike">
              <a:latin typeface="Arial"/>
            </a:endParaRPr>
          </a:p>
        </p:txBody>
      </p:sp>
      <p:pic>
        <p:nvPicPr>
          <p:cNvPr id="410" name="" descr=""/>
          <p:cNvPicPr/>
          <p:nvPr/>
        </p:nvPicPr>
        <p:blipFill>
          <a:blip r:embed="rId1"/>
          <a:stretch/>
        </p:blipFill>
        <p:spPr>
          <a:xfrm rot="957000">
            <a:off x="2152440" y="4988880"/>
            <a:ext cx="1699200" cy="630000"/>
          </a:xfrm>
          <a:prstGeom prst="rect">
            <a:avLst/>
          </a:prstGeom>
          <a:ln>
            <a:noFill/>
          </a:ln>
        </p:spPr>
      </p:pic>
      <p:sp>
        <p:nvSpPr>
          <p:cNvPr id="411" name="CustomShape 14"/>
          <p:cNvSpPr/>
          <p:nvPr/>
        </p:nvSpPr>
        <p:spPr>
          <a:xfrm>
            <a:off x="143640" y="4653720"/>
            <a:ext cx="1208160" cy="380880"/>
          </a:xfrm>
          <a:prstGeom prst="rect">
            <a:avLst/>
          </a:prstGeom>
          <a:noFill/>
          <a:ln>
            <a:noFill/>
          </a:ln>
        </p:spPr>
        <p:style>
          <a:lnRef idx="0"/>
          <a:fillRef idx="0"/>
          <a:effectRef idx="0"/>
          <a:fontRef idx="minor"/>
        </p:style>
        <p:txBody>
          <a:bodyPr lIns="0" rIns="0" tIns="0" bIns="0" anchor="ctr"/>
          <a:p>
            <a:pPr algn="ctr">
              <a:lnSpc>
                <a:spcPct val="100000"/>
              </a:lnSpc>
            </a:pPr>
            <a:r>
              <a:rPr b="0" lang="en-IN" sz="2800" spc="-1" strike="noStrike">
                <a:solidFill>
                  <a:srgbClr val="0000ff"/>
                </a:solidFill>
                <a:latin typeface="Times New Roman"/>
                <a:ea typeface="DejaVu Sans"/>
              </a:rPr>
              <a:t>Ready</a:t>
            </a:r>
            <a:endParaRPr b="0" lang="en-IN" sz="2800" spc="-1" strike="noStrike">
              <a:latin typeface="Arial"/>
            </a:endParaRPr>
          </a:p>
        </p:txBody>
      </p:sp>
      <p:pic>
        <p:nvPicPr>
          <p:cNvPr id="412" name="" descr=""/>
          <p:cNvPicPr/>
          <p:nvPr/>
        </p:nvPicPr>
        <p:blipFill>
          <a:blip r:embed="rId2"/>
          <a:stretch/>
        </p:blipFill>
        <p:spPr>
          <a:xfrm rot="12554400">
            <a:off x="766800" y="6088680"/>
            <a:ext cx="1698840" cy="630000"/>
          </a:xfrm>
          <a:prstGeom prst="rect">
            <a:avLst/>
          </a:prstGeom>
          <a:ln>
            <a:noFill/>
          </a:ln>
        </p:spPr>
      </p:pic>
      <p:sp>
        <p:nvSpPr>
          <p:cNvPr id="413" name="CustomShape 15"/>
          <p:cNvSpPr/>
          <p:nvPr/>
        </p:nvSpPr>
        <p:spPr>
          <a:xfrm>
            <a:off x="2447640" y="6877800"/>
            <a:ext cx="2647800" cy="378360"/>
          </a:xfrm>
          <a:prstGeom prst="rect">
            <a:avLst/>
          </a:prstGeom>
          <a:noFill/>
          <a:ln>
            <a:noFill/>
          </a:ln>
        </p:spPr>
        <p:style>
          <a:lnRef idx="0"/>
          <a:fillRef idx="0"/>
          <a:effectRef idx="0"/>
          <a:fontRef idx="minor"/>
        </p:style>
        <p:txBody>
          <a:bodyPr lIns="0" rIns="0" tIns="0" bIns="0" anchor="ctr"/>
          <a:p>
            <a:pPr algn="ctr">
              <a:lnSpc>
                <a:spcPct val="100000"/>
              </a:lnSpc>
            </a:pPr>
            <a:r>
              <a:rPr b="0" lang="en-IN" sz="2800" spc="-1" strike="noStrike">
                <a:solidFill>
                  <a:srgbClr val="0000ff"/>
                </a:solidFill>
                <a:latin typeface="Times New Roman"/>
                <a:ea typeface="DejaVu Sans"/>
              </a:rPr>
              <a:t>(10ms time slice)</a:t>
            </a:r>
            <a:endParaRPr b="0" lang="en-IN" sz="2800" spc="-1" strike="noStrike">
              <a:latin typeface="Arial"/>
            </a:endParaRPr>
          </a:p>
        </p:txBody>
      </p:sp>
      <p:sp>
        <p:nvSpPr>
          <p:cNvPr id="414" name="CustomShape 16"/>
          <p:cNvSpPr/>
          <p:nvPr/>
        </p:nvSpPr>
        <p:spPr>
          <a:xfrm>
            <a:off x="4961520" y="4823640"/>
            <a:ext cx="4813920" cy="207216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000000"/>
                </a:solidFill>
                <a:latin typeface="Times New Roman"/>
                <a:ea typeface="DejaVu Sans"/>
              </a:rPr>
              <a:t>Ex: after 10ms of time each process, it is forcefully removed from CPU, and then goes to ready state. Other processes gets cpu for execution in the same way.</a:t>
            </a:r>
            <a:endParaRPr b="0" lang="en-IN" sz="2800" spc="-1" strike="noStrike">
              <a:latin typeface="Arial"/>
            </a:endParaRPr>
          </a:p>
        </p:txBody>
      </p:sp>
    </p:spTree>
  </p:cSld>
  <p:timing>
    <p:tnLst>
      <p:par>
        <p:cTn id="73" dur="indefinite" restart="never" nodeType="tmRoot">
          <p:childTnLst>
            <p:seq>
              <p:cTn id="74" dur="indefinite" nodeType="mainSeq"/>
              <p:prevCondLst>
                <p:cond delay="0" evt="onPrev">
                  <p:tgtEl>
                    <p:sldTgt/>
                  </p:tgtEl>
                </p:cond>
              </p:prevCondLst>
              <p:nextCondLst>
                <p:cond delay="0"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CustomShape 1"/>
          <p:cNvSpPr/>
          <p:nvPr/>
        </p:nvSpPr>
        <p:spPr>
          <a:xfrm>
            <a:off x="432000" y="71640"/>
            <a:ext cx="9055080" cy="5904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Process Control Block (PCB)</a:t>
            </a:r>
            <a:endParaRPr b="0" lang="en-IN" sz="3600" spc="-1" strike="noStrike">
              <a:latin typeface="Arial"/>
            </a:endParaRPr>
          </a:p>
        </p:txBody>
      </p:sp>
      <p:pic>
        <p:nvPicPr>
          <p:cNvPr id="416" name="" descr=""/>
          <p:cNvPicPr/>
          <p:nvPr/>
        </p:nvPicPr>
        <p:blipFill>
          <a:blip r:embed="rId1"/>
          <a:stretch/>
        </p:blipFill>
        <p:spPr>
          <a:xfrm>
            <a:off x="6191280" y="719280"/>
            <a:ext cx="3367800" cy="3800520"/>
          </a:xfrm>
          <a:prstGeom prst="rect">
            <a:avLst/>
          </a:prstGeom>
          <a:ln>
            <a:noFill/>
          </a:ln>
        </p:spPr>
      </p:pic>
      <p:graphicFrame>
        <p:nvGraphicFramePr>
          <p:cNvPr id="417" name="Table 2"/>
          <p:cNvGraphicFramePr/>
          <p:nvPr/>
        </p:nvGraphicFramePr>
        <p:xfrm>
          <a:off x="2802960" y="744840"/>
          <a:ext cx="2683080" cy="603360"/>
        </p:xfrm>
        <a:graphic>
          <a:graphicData uri="http://schemas.openxmlformats.org/drawingml/2006/table">
            <a:tbl>
              <a:tblPr/>
              <a:tblGrid>
                <a:gridCol w="1295280"/>
                <a:gridCol w="1388160"/>
              </a:tblGrid>
              <a:tr h="603720">
                <a:tc>
                  <a:txBody>
                    <a:bodyPr lIns="90000" rIns="90000"/>
                    <a:p>
                      <a:pPr>
                        <a:lnSpc>
                          <a:spcPct val="100000"/>
                        </a:lnSpc>
                      </a:pPr>
                      <a:r>
                        <a:rPr b="0" lang="en-IN" sz="1800" spc="-1" strike="noStrike">
                          <a:latin typeface="Arial"/>
                        </a:rPr>
                        <a:t>     </a:t>
                      </a:r>
                      <a:r>
                        <a:rPr b="1" lang="en-IN" sz="1800" spc="-1" strike="noStrike">
                          <a:latin typeface="Arial"/>
                        </a:rPr>
                        <a:t>Stack       Pointer</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0efd4"/>
                    </a:solidFill>
                  </a:tcPr>
                </a:tc>
                <a:tc>
                  <a:txBody>
                    <a:bodyPr lIns="90000" rIns="90000"/>
                    <a:p>
                      <a:pPr>
                        <a:lnSpc>
                          <a:spcPct val="100000"/>
                        </a:lnSpc>
                      </a:pPr>
                      <a:r>
                        <a:rPr b="1" lang="en-IN" sz="1800" spc="-1" strike="noStrike">
                          <a:latin typeface="Arial"/>
                        </a:rPr>
                        <a:t>Instruction   Pointer</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0efd4"/>
                    </a:solidFill>
                  </a:tcPr>
                </a:tc>
              </a:tr>
            </a:tbl>
          </a:graphicData>
        </a:graphic>
      </p:graphicFrame>
      <p:sp>
        <p:nvSpPr>
          <p:cNvPr id="418" name="Line 3"/>
          <p:cNvSpPr/>
          <p:nvPr/>
        </p:nvSpPr>
        <p:spPr>
          <a:xfrm flipH="1">
            <a:off x="5486400" y="935640"/>
            <a:ext cx="704880" cy="360"/>
          </a:xfrm>
          <a:prstGeom prst="line">
            <a:avLst/>
          </a:prstGeom>
          <a:ln>
            <a:solidFill>
              <a:srgbClr val="000000"/>
            </a:solidFill>
            <a:tailEnd len="med" type="triangle" w="med"/>
          </a:ln>
        </p:spPr>
        <p:style>
          <a:lnRef idx="0"/>
          <a:fillRef idx="0"/>
          <a:effectRef idx="0"/>
          <a:fontRef idx="minor"/>
        </p:style>
      </p:sp>
      <p:sp>
        <p:nvSpPr>
          <p:cNvPr id="419" name="CustomShape 4"/>
          <p:cNvSpPr/>
          <p:nvPr/>
        </p:nvSpPr>
        <p:spPr>
          <a:xfrm>
            <a:off x="71640" y="1439280"/>
            <a:ext cx="6103800" cy="47358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600" spc="-1" strike="noStrike">
                <a:solidFill>
                  <a:srgbClr val="000000"/>
                </a:solidFill>
                <a:latin typeface="Times New Roman"/>
                <a:ea typeface="DejaVu Sans"/>
              </a:rPr>
              <a:t>PCB is created, once the process is started.</a:t>
            </a:r>
            <a:endParaRPr b="0" lang="en-IN" sz="3600" spc="-1" strike="noStrike">
              <a:latin typeface="Arial"/>
            </a:endParaRPr>
          </a:p>
          <a:p>
            <a:pPr marL="432000" indent="-308160">
              <a:lnSpc>
                <a:spcPct val="100000"/>
              </a:lnSpc>
              <a:buClr>
                <a:srgbClr val="000000"/>
              </a:buClr>
              <a:buSzPct val="45000"/>
              <a:buFont typeface="Wingdings" charset="2"/>
              <a:buChar char=""/>
            </a:pPr>
            <a:r>
              <a:rPr b="0" lang="en-IN" sz="3600" spc="-1" strike="noStrike">
                <a:solidFill>
                  <a:srgbClr val="000000"/>
                </a:solidFill>
                <a:latin typeface="Times New Roman"/>
                <a:ea typeface="DejaVu Sans"/>
              </a:rPr>
              <a:t>When a process gets completed, PCB is destroyed.</a:t>
            </a:r>
            <a:endParaRPr b="0" lang="en-IN" sz="3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600" spc="-1" strike="noStrike">
                <a:solidFill>
                  <a:srgbClr val="000000"/>
                </a:solidFill>
                <a:latin typeface="Times New Roman"/>
                <a:ea typeface="DejaVu Sans"/>
              </a:rPr>
              <a:t>(i.e) life of the PCB is the life of the process.</a:t>
            </a:r>
            <a:endParaRPr b="0" lang="en-IN" sz="3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600" spc="-1" strike="noStrike">
                <a:solidFill>
                  <a:srgbClr val="000000"/>
                </a:solidFill>
                <a:latin typeface="Times New Roman"/>
                <a:ea typeface="DejaVu Sans"/>
              </a:rPr>
              <a:t>When switching from 1 process to another process,context will also switch always.</a:t>
            </a:r>
            <a:endParaRPr b="0" lang="en-IN" sz="3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600" spc="-1" strike="noStrike">
                <a:solidFill>
                  <a:srgbClr val="000000"/>
                </a:solidFill>
                <a:latin typeface="Times New Roman"/>
                <a:ea typeface="DejaVu Sans"/>
              </a:rPr>
              <a:t>CPU contains runnning process context.</a:t>
            </a:r>
            <a:endParaRPr b="0" lang="en-IN" sz="3600" spc="-1" strike="noStrike">
              <a:latin typeface="Arial"/>
            </a:endParaRPr>
          </a:p>
          <a:p>
            <a:pPr>
              <a:lnSpc>
                <a:spcPct val="100000"/>
              </a:lnSpc>
              <a:spcBef>
                <a:spcPts val="1417"/>
              </a:spcBef>
            </a:pPr>
            <a:endParaRPr b="0" lang="en-IN" sz="3600" spc="-1" strike="noStrike">
              <a:latin typeface="Arial"/>
            </a:endParaRPr>
          </a:p>
        </p:txBody>
      </p:sp>
    </p:spTree>
  </p:cSld>
  <p:timing>
    <p:tnLst>
      <p:par>
        <p:cTn id="75" dur="indefinite" restart="never" nodeType="tmRoot">
          <p:childTnLst>
            <p:seq>
              <p:cTn id="76" dur="indefinite" nodeType="mainSeq"/>
              <p:prevCondLst>
                <p:cond delay="0" evt="onPrev">
                  <p:tgtEl>
                    <p:sldTgt/>
                  </p:tgtEl>
                </p:cond>
              </p:prevCondLst>
              <p:nextCondLst>
                <p:cond delay="0"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CustomShape 1"/>
          <p:cNvSpPr/>
          <p:nvPr/>
        </p:nvSpPr>
        <p:spPr>
          <a:xfrm>
            <a:off x="503640" y="71640"/>
            <a:ext cx="9055080" cy="56016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Context Switch</a:t>
            </a:r>
            <a:endParaRPr b="0" lang="en-IN" sz="3600" spc="-1" strike="noStrike">
              <a:latin typeface="Arial"/>
            </a:endParaRPr>
          </a:p>
        </p:txBody>
      </p:sp>
      <p:sp>
        <p:nvSpPr>
          <p:cNvPr id="421" name="CustomShape 2"/>
          <p:cNvSpPr/>
          <p:nvPr/>
        </p:nvSpPr>
        <p:spPr>
          <a:xfrm>
            <a:off x="503640" y="719280"/>
            <a:ext cx="9055080" cy="6752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3200" spc="-1" strike="noStrike">
                <a:solidFill>
                  <a:srgbClr val="0000ff"/>
                </a:solidFill>
                <a:latin typeface="Times New Roman"/>
                <a:ea typeface="DejaVu Sans"/>
              </a:rPr>
              <a:t>Premption :</a:t>
            </a:r>
            <a:r>
              <a:rPr b="0" lang="en-IN" sz="3200" spc="-1" strike="noStrike">
                <a:solidFill>
                  <a:srgbClr val="000000"/>
                </a:solidFill>
                <a:latin typeface="Times New Roman"/>
                <a:ea typeface="DejaVu Sans"/>
              </a:rPr>
              <a:t> even the process don’t want to leave the CPU, forcefully if it is removed to allocate the CPU time to other process, then it is premption.</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ff"/>
                </a:solidFill>
                <a:latin typeface="Times New Roman"/>
                <a:ea typeface="DejaVu Sans"/>
              </a:rPr>
              <a:t>Non-premption:  </a:t>
            </a:r>
            <a:r>
              <a:rPr b="0" lang="en-IN" sz="3200" spc="-1" strike="noStrike">
                <a:solidFill>
                  <a:srgbClr val="000000"/>
                </a:solidFill>
                <a:latin typeface="Times New Roman"/>
                <a:ea typeface="DejaVu Sans"/>
              </a:rPr>
              <a:t>once a process is scheduled, untill it is completed, it will never leaves the CPU is called Non-premption. </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Round Robin policy follows premption technique.</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Times New Roman"/>
                <a:ea typeface="DejaVu Sans"/>
              </a:rPr>
              <a:t>context swithcing overheads the cpu but without context switching,there is no way in multiprocessing environment.</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Times New Roman"/>
                <a:ea typeface="DejaVu Sans"/>
              </a:rPr>
              <a:t>Context switching time can be possible to minimize but it is impossible to make it zero.using threads,context switching can be minimized.</a:t>
            </a:r>
            <a:endParaRPr b="0" lang="en-IN" sz="3200" spc="-1" strike="noStrike">
              <a:latin typeface="Arial"/>
            </a:endParaRPr>
          </a:p>
        </p:txBody>
      </p:sp>
    </p:spTree>
  </p:cSld>
  <p:timing>
    <p:tnLst>
      <p:par>
        <p:cTn id="77" dur="indefinite" restart="never" nodeType="tmRoot">
          <p:childTnLst>
            <p:seq>
              <p:cTn id="78" dur="indefinite" nodeType="mainSeq"/>
              <p:prevCondLst>
                <p:cond delay="0" evt="onPrev">
                  <p:tgtEl>
                    <p:sldTgt/>
                  </p:tgtEl>
                </p:cond>
              </p:prevCondLst>
              <p:nextCondLst>
                <p:cond delay="0"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CustomShape 1"/>
          <p:cNvSpPr/>
          <p:nvPr/>
        </p:nvSpPr>
        <p:spPr>
          <a:xfrm>
            <a:off x="287640" y="575280"/>
            <a:ext cx="9127080" cy="696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system():</a:t>
            </a:r>
            <a:r>
              <a:rPr b="0" lang="en-IN" sz="3200" spc="-1" strike="noStrike">
                <a:solidFill>
                  <a:srgbClr val="a3238e"/>
                </a:solidFill>
                <a:latin typeface="Times New Roman"/>
                <a:ea typeface="DejaVu Sans"/>
              </a:rPr>
              <a:t>  </a:t>
            </a:r>
            <a:r>
              <a:rPr b="0" lang="en-IN" sz="2800" spc="-1" strike="noStrike">
                <a:solidFill>
                  <a:srgbClr val="000000"/>
                </a:solidFill>
                <a:latin typeface="Times New Roman"/>
                <a:ea typeface="DejaVu Sans"/>
              </a:rPr>
              <a:t>executes a shell command</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#include&lt;stdlib.h&gt;</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ff"/>
                </a:solidFill>
                <a:latin typeface="Times New Roman"/>
                <a:ea typeface="DejaVu Sans"/>
              </a:rPr>
              <a:t>int</a:t>
            </a:r>
            <a:r>
              <a:rPr b="0" lang="en-IN" sz="2800" spc="-1" strike="noStrike">
                <a:solidFill>
                  <a:srgbClr val="000000"/>
                </a:solidFill>
                <a:latin typeface="Times New Roman"/>
                <a:ea typeface="DejaVu Sans"/>
              </a:rPr>
              <a:t> system(</a:t>
            </a:r>
            <a:r>
              <a:rPr b="0" lang="en-IN" sz="2800" spc="-1" strike="noStrike">
                <a:solidFill>
                  <a:srgbClr val="0000ff"/>
                </a:solidFill>
                <a:latin typeface="Times New Roman"/>
                <a:ea typeface="DejaVu Sans"/>
              </a:rPr>
              <a:t>const char *</a:t>
            </a:r>
            <a:r>
              <a:rPr b="0" lang="en-IN" sz="2800" spc="-1" strike="noStrike" u="sng">
                <a:solidFill>
                  <a:srgbClr val="000000"/>
                </a:solidFill>
                <a:uFillTx/>
                <a:latin typeface="Times New Roman"/>
                <a:ea typeface="DejaVu Sans"/>
              </a:rPr>
              <a:t>command</a:t>
            </a: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executes a  specific in command by calling /bin/sh-c command and returns after the command has been completed.</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system() internally connects to the sh shell</a:t>
            </a:r>
            <a:r>
              <a:rPr b="0" lang="en-IN" sz="2800" spc="-1" strike="noStrike">
                <a:solidFill>
                  <a:srgbClr val="0000ff"/>
                </a:solidFill>
                <a:latin typeface="Times New Roman"/>
                <a:ea typeface="DejaVu Sans"/>
              </a:rPr>
              <a:t> [/bin/sh-c]</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using system() possible to execute any command by calling internally sh shell.</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u="sng">
                <a:solidFill>
                  <a:srgbClr val="800000"/>
                </a:solidFill>
                <a:uFillTx/>
                <a:latin typeface="Times New Roman"/>
                <a:ea typeface="DejaVu Sans"/>
              </a:rPr>
              <a:t>Ex</a:t>
            </a: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#include&lt;stdio.h&gt;</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int main()</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printf("hello.. \n");</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system("ls");</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system("pwd");</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printf("hi..\n");</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endParaRPr b="0" lang="en-IN" sz="2800" spc="-1" strike="noStrike">
              <a:latin typeface="Arial"/>
            </a:endParaRPr>
          </a:p>
        </p:txBody>
      </p:sp>
      <p:sp>
        <p:nvSpPr>
          <p:cNvPr id="423" name="CustomShape 2"/>
          <p:cNvSpPr/>
          <p:nvPr/>
        </p:nvSpPr>
        <p:spPr>
          <a:xfrm>
            <a:off x="288000" y="360"/>
            <a:ext cx="9055080" cy="56016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System function</a:t>
            </a:r>
            <a:endParaRPr b="0" lang="en-IN" sz="4000" spc="-1" strike="noStrike">
              <a:latin typeface="Arial"/>
            </a:endParaRPr>
          </a:p>
        </p:txBody>
      </p:sp>
    </p:spTree>
  </p:cSld>
  <p:timing>
    <p:tnLst>
      <p:par>
        <p:cTn id="79" dur="indefinite" restart="never" nodeType="tmRoot">
          <p:childTnLst>
            <p:seq>
              <p:cTn id="80" dur="indefinite" nodeType="mainSeq"/>
              <p:prevCondLst>
                <p:cond delay="0" evt="onPrev">
                  <p:tgtEl>
                    <p:sldTgt/>
                  </p:tgtEl>
                </p:cond>
              </p:prevCondLst>
              <p:nextCondLst>
                <p:cond delay="0"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CustomShape 1"/>
          <p:cNvSpPr/>
          <p:nvPr/>
        </p:nvSpPr>
        <p:spPr>
          <a:xfrm>
            <a:off x="144000" y="646920"/>
            <a:ext cx="9415080" cy="646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600" spc="-1" strike="noStrike">
                <a:solidFill>
                  <a:srgbClr val="000000"/>
                </a:solidFill>
                <a:latin typeface="Times New Roman"/>
                <a:ea typeface="DejaVu Sans"/>
              </a:rPr>
              <a:t>System() usually loads the new process into the memory.</a:t>
            </a:r>
            <a:endParaRPr b="0" lang="en-IN" sz="2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600" spc="-1" strike="noStrike">
                <a:solidFill>
                  <a:srgbClr val="000000"/>
                </a:solidFill>
                <a:latin typeface="Times New Roman"/>
                <a:ea typeface="DejaVu Sans"/>
              </a:rPr>
              <a:t>(like c program (executable) or any process)</a:t>
            </a:r>
            <a:r>
              <a:rPr b="0" lang="en-IN" sz="2600" spc="-1" strike="noStrike">
                <a:solidFill>
                  <a:srgbClr val="00cc00"/>
                </a:solidFill>
                <a:latin typeface="Times New Roman"/>
                <a:ea typeface="DejaVu Sans"/>
              </a:rPr>
              <a:t>.</a:t>
            </a:r>
            <a:endParaRPr b="0" lang="en-IN" sz="2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600" spc="-1" strike="noStrike" u="sng">
                <a:solidFill>
                  <a:srgbClr val="a3238e"/>
                </a:solidFill>
                <a:uFillTx/>
                <a:latin typeface="Times New Roman"/>
                <a:ea typeface="DejaVu Sans"/>
              </a:rPr>
              <a:t>Ex:</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#include&lt;stdio.h&gt;</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#include&lt;stdlib.h&gt;</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int main()</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printf("hello..\n");</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system("./p1");</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system("pwd");</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printf("hi..\n");</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spcBef>
                <a:spcPts val="283"/>
              </a:spcBef>
            </a:pPr>
            <a:endParaRPr b="0" lang="en-IN" sz="2600" spc="-1" strike="noStrike">
              <a:latin typeface="Arial"/>
            </a:endParaRPr>
          </a:p>
        </p:txBody>
      </p:sp>
      <p:sp>
        <p:nvSpPr>
          <p:cNvPr id="425" name="CustomShape 2"/>
          <p:cNvSpPr/>
          <p:nvPr/>
        </p:nvSpPr>
        <p:spPr>
          <a:xfrm>
            <a:off x="4463640" y="1747800"/>
            <a:ext cx="4087800" cy="2915640"/>
          </a:xfrm>
          <a:prstGeom prst="rect">
            <a:avLst/>
          </a:prstGeom>
          <a:noFill/>
          <a:ln>
            <a:noFill/>
          </a:ln>
        </p:spPr>
        <p:style>
          <a:lnRef idx="0"/>
          <a:fillRef idx="0"/>
          <a:effectRef idx="0"/>
          <a:fontRef idx="minor"/>
        </p:style>
        <p:txBody>
          <a:bodyPr lIns="0" rIns="0" tIns="0" bIns="0"/>
          <a:p>
            <a:pPr>
              <a:lnSpc>
                <a:spcPct val="100000"/>
              </a:lnSpc>
            </a:pPr>
            <a:r>
              <a:rPr b="0" lang="en-IN" sz="2600" spc="-1" strike="noStrike" u="sng">
                <a:solidFill>
                  <a:srgbClr val="a3238e"/>
                </a:solidFill>
                <a:uFillTx/>
                <a:latin typeface="Arial"/>
                <a:ea typeface="DejaVu Sans"/>
              </a:rPr>
              <a:t>.</a:t>
            </a:r>
            <a:r>
              <a:rPr b="0" lang="en-IN" sz="2600" spc="-1" strike="noStrike" u="sng">
                <a:solidFill>
                  <a:srgbClr val="a3238e"/>
                </a:solidFill>
                <a:uFillTx/>
                <a:latin typeface="Times New Roman"/>
                <a:ea typeface="DejaVu Sans"/>
              </a:rPr>
              <a:t>/p1:</a:t>
            </a:r>
            <a:br/>
            <a:r>
              <a:rPr b="0" lang="en-IN" sz="2600" spc="-1" strike="noStrike">
                <a:solidFill>
                  <a:srgbClr val="a3238e"/>
                </a:solidFill>
                <a:latin typeface="Times New Roman"/>
                <a:ea typeface="DejaVu Sans"/>
              </a:rPr>
              <a:t> </a:t>
            </a:r>
            <a:r>
              <a:rPr b="0" lang="en-IN" sz="2600" spc="-1" strike="noStrike">
                <a:solidFill>
                  <a:srgbClr val="000000"/>
                </a:solidFill>
                <a:latin typeface="Times New Roman"/>
                <a:ea typeface="DejaVu Sans"/>
              </a:rPr>
              <a:t>#include&lt;stdio.h&gt;</a:t>
            </a:r>
            <a:br/>
            <a:r>
              <a:rPr b="0" lang="en-IN" sz="2600" spc="-1" strike="noStrike">
                <a:solidFill>
                  <a:srgbClr val="000000"/>
                </a:solidFill>
                <a:latin typeface="Times New Roman"/>
                <a:ea typeface="DejaVu Sans"/>
              </a:rPr>
              <a:t> int main()</a:t>
            </a:r>
            <a:br/>
            <a:r>
              <a:rPr b="0" lang="en-IN" sz="2600" spc="-1" strike="noStrike">
                <a:solidFill>
                  <a:srgbClr val="000000"/>
                </a:solidFill>
                <a:latin typeface="Times New Roman"/>
                <a:ea typeface="DejaVu Sans"/>
              </a:rPr>
              <a:t>  {</a:t>
            </a:r>
            <a:br/>
            <a:r>
              <a:rPr b="0" lang="en-IN" sz="2600" spc="-1" strike="noStrike">
                <a:solidFill>
                  <a:srgbClr val="000000"/>
                </a:solidFill>
                <a:latin typeface="Times New Roman"/>
                <a:ea typeface="DejaVu Sans"/>
              </a:rPr>
              <a:t>     printf("in p1 process..\n");</a:t>
            </a:r>
            <a:br/>
            <a:r>
              <a:rPr b="0" lang="en-IN" sz="2600" spc="-1" strike="noStrike">
                <a:solidFill>
                  <a:srgbClr val="000000"/>
                </a:solidFill>
                <a:latin typeface="Times New Roman"/>
                <a:ea typeface="DejaVu Sans"/>
              </a:rPr>
              <a:t>     while(1);</a:t>
            </a:r>
            <a:br/>
            <a:r>
              <a:rPr b="0" lang="en-IN" sz="2600" spc="-1" strike="noStrike">
                <a:solidFill>
                  <a:srgbClr val="000000"/>
                </a:solidFill>
                <a:latin typeface="Times New Roman"/>
                <a:ea typeface="DejaVu Sans"/>
              </a:rPr>
              <a:t>  }</a:t>
            </a:r>
            <a:br/>
            <a:endParaRPr b="0" lang="en-IN" sz="2600" spc="-1" strike="noStrike">
              <a:latin typeface="Arial"/>
            </a:endParaRPr>
          </a:p>
        </p:txBody>
      </p:sp>
      <p:sp>
        <p:nvSpPr>
          <p:cNvPr id="426" name="Line 3"/>
          <p:cNvSpPr/>
          <p:nvPr/>
        </p:nvSpPr>
        <p:spPr>
          <a:xfrm>
            <a:off x="2663640" y="4606560"/>
            <a:ext cx="1224000" cy="360"/>
          </a:xfrm>
          <a:prstGeom prst="line">
            <a:avLst/>
          </a:prstGeom>
          <a:ln>
            <a:solidFill>
              <a:srgbClr val="000000"/>
            </a:solidFill>
          </a:ln>
        </p:spPr>
        <p:style>
          <a:lnRef idx="0"/>
          <a:fillRef idx="0"/>
          <a:effectRef idx="0"/>
          <a:fontRef idx="minor"/>
        </p:style>
      </p:sp>
      <p:sp>
        <p:nvSpPr>
          <p:cNvPr id="427" name="Line 4"/>
          <p:cNvSpPr/>
          <p:nvPr/>
        </p:nvSpPr>
        <p:spPr>
          <a:xfrm>
            <a:off x="3887640" y="3238920"/>
            <a:ext cx="360" cy="1368000"/>
          </a:xfrm>
          <a:prstGeom prst="line">
            <a:avLst/>
          </a:prstGeom>
          <a:ln>
            <a:solidFill>
              <a:srgbClr val="000000"/>
            </a:solidFill>
          </a:ln>
        </p:spPr>
        <p:style>
          <a:lnRef idx="0"/>
          <a:fillRef idx="0"/>
          <a:effectRef idx="0"/>
          <a:fontRef idx="minor"/>
        </p:style>
      </p:sp>
      <p:sp>
        <p:nvSpPr>
          <p:cNvPr id="428" name="Line 5"/>
          <p:cNvSpPr/>
          <p:nvPr/>
        </p:nvSpPr>
        <p:spPr>
          <a:xfrm>
            <a:off x="3887640" y="3239280"/>
            <a:ext cx="720000" cy="360"/>
          </a:xfrm>
          <a:prstGeom prst="line">
            <a:avLst/>
          </a:prstGeom>
          <a:ln>
            <a:solidFill>
              <a:srgbClr val="000000"/>
            </a:solidFill>
            <a:tailEnd len="med" type="triangle" w="med"/>
          </a:ln>
        </p:spPr>
        <p:style>
          <a:lnRef idx="0"/>
          <a:fillRef idx="0"/>
          <a:effectRef idx="0"/>
          <a:fontRef idx="minor"/>
        </p:style>
      </p:sp>
      <p:sp>
        <p:nvSpPr>
          <p:cNvPr id="429" name="CustomShape 6"/>
          <p:cNvSpPr/>
          <p:nvPr/>
        </p:nvSpPr>
        <p:spPr>
          <a:xfrm>
            <a:off x="288360" y="360"/>
            <a:ext cx="9055080" cy="56016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System function</a:t>
            </a:r>
            <a:endParaRPr b="0" lang="en-IN" sz="4000" spc="-1" strike="noStrike">
              <a:latin typeface="Arial"/>
            </a:endParaRPr>
          </a:p>
        </p:txBody>
      </p:sp>
      <p:sp>
        <p:nvSpPr>
          <p:cNvPr id="430" name="CustomShape 7"/>
          <p:cNvSpPr/>
          <p:nvPr/>
        </p:nvSpPr>
        <p:spPr>
          <a:xfrm>
            <a:off x="1368000" y="5759640"/>
            <a:ext cx="7471800" cy="17118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1800" spc="-1" strike="noStrike">
                <a:solidFill>
                  <a:srgbClr val="000000"/>
                </a:solidFill>
                <a:latin typeface="Arial"/>
                <a:ea typeface="DejaVu Sans"/>
              </a:rPr>
              <a:t>vector@system:~$</a:t>
            </a:r>
            <a:r>
              <a:rPr b="0" lang="en-IN" sz="1800" spc="-1" strike="noStrike">
                <a:solidFill>
                  <a:srgbClr val="0000ff"/>
                </a:solidFill>
                <a:latin typeface="Arial"/>
                <a:ea typeface="DejaVu Sans"/>
              </a:rPr>
              <a:t> ps -el|grep pts/0</a:t>
            </a:r>
            <a:endParaRPr b="0" lang="en-IN" sz="1800" spc="-1" strike="noStrike">
              <a:latin typeface="Arial"/>
            </a:endParaRPr>
          </a:p>
          <a:p>
            <a:pPr>
              <a:lnSpc>
                <a:spcPct val="100000"/>
              </a:lnSpc>
            </a:pPr>
            <a:r>
              <a:rPr b="0" lang="en-IN" sz="1800" spc="-1" strike="noStrike">
                <a:solidFill>
                  <a:srgbClr val="000000"/>
                </a:solidFill>
                <a:latin typeface="Arial"/>
                <a:ea typeface="DejaVu Sans"/>
              </a:rPr>
              <a:t>0 S  1000    </a:t>
            </a:r>
            <a:r>
              <a:rPr b="0" lang="en-IN" sz="1800" spc="-1" strike="noStrike">
                <a:solidFill>
                  <a:srgbClr val="a3238e"/>
                </a:solidFill>
                <a:latin typeface="Arial"/>
                <a:ea typeface="DejaVu Sans"/>
              </a:rPr>
              <a:t>3927</a:t>
            </a:r>
            <a:r>
              <a:rPr b="0" lang="en-IN" sz="1800" spc="-1" strike="noStrike">
                <a:solidFill>
                  <a:srgbClr val="000000"/>
                </a:solidFill>
                <a:latin typeface="Arial"/>
                <a:ea typeface="DejaVu Sans"/>
              </a:rPr>
              <a:t>   3917    0   80   0 -  5808 wait   pts/0    00:00:00   bash</a:t>
            </a:r>
            <a:endParaRPr b="0" lang="en-IN" sz="1800" spc="-1" strike="noStrike">
              <a:latin typeface="Arial"/>
            </a:endParaRPr>
          </a:p>
          <a:p>
            <a:pPr>
              <a:lnSpc>
                <a:spcPct val="100000"/>
              </a:lnSpc>
            </a:pPr>
            <a:r>
              <a:rPr b="0" lang="en-IN" sz="1800" spc="-1" strike="noStrike">
                <a:solidFill>
                  <a:srgbClr val="000000"/>
                </a:solidFill>
                <a:latin typeface="Arial"/>
                <a:ea typeface="DejaVu Sans"/>
              </a:rPr>
              <a:t>0 S  1000  </a:t>
            </a:r>
            <a:r>
              <a:rPr b="0" lang="en-IN" sz="1800" spc="-1" strike="noStrike">
                <a:solidFill>
                  <a:srgbClr val="a3238e"/>
                </a:solidFill>
                <a:latin typeface="Arial"/>
                <a:ea typeface="DejaVu Sans"/>
              </a:rPr>
              <a:t>16673 </a:t>
            </a:r>
            <a:r>
              <a:rPr b="0" lang="en-IN" sz="1800" spc="-1" strike="noStrike">
                <a:solidFill>
                  <a:srgbClr val="000000"/>
                </a:solidFill>
                <a:latin typeface="Arial"/>
                <a:ea typeface="DejaVu Sans"/>
              </a:rPr>
              <a:t>  </a:t>
            </a:r>
            <a:r>
              <a:rPr b="0" lang="en-IN" sz="1800" spc="-1" strike="noStrike">
                <a:solidFill>
                  <a:srgbClr val="a3238e"/>
                </a:solidFill>
                <a:latin typeface="Arial"/>
                <a:ea typeface="DejaVu Sans"/>
              </a:rPr>
              <a:t>3927</a:t>
            </a:r>
            <a:r>
              <a:rPr b="0" lang="en-IN" sz="1800" spc="-1" strike="noStrike">
                <a:solidFill>
                  <a:srgbClr val="000000"/>
                </a:solidFill>
                <a:latin typeface="Arial"/>
                <a:ea typeface="DejaVu Sans"/>
              </a:rPr>
              <a:t>    0   80   0 -  1129 wait   pts/0    00:00:00   </a:t>
            </a:r>
            <a:r>
              <a:rPr b="0" lang="en-IN" sz="1800" spc="-1" strike="noStrike">
                <a:solidFill>
                  <a:srgbClr val="0000ff"/>
                </a:solidFill>
                <a:latin typeface="Arial"/>
                <a:ea typeface="DejaVu Sans"/>
              </a:rPr>
              <a:t>a.out</a:t>
            </a:r>
            <a:endParaRPr b="0" lang="en-IN" sz="1800" spc="-1" strike="noStrike">
              <a:latin typeface="Arial"/>
            </a:endParaRPr>
          </a:p>
          <a:p>
            <a:pPr>
              <a:lnSpc>
                <a:spcPct val="100000"/>
              </a:lnSpc>
            </a:pPr>
            <a:r>
              <a:rPr b="0" lang="en-IN" sz="1800" spc="-1" strike="noStrike">
                <a:solidFill>
                  <a:srgbClr val="000000"/>
                </a:solidFill>
                <a:latin typeface="Arial"/>
                <a:ea typeface="DejaVu Sans"/>
              </a:rPr>
              <a:t>0 S  1000  </a:t>
            </a:r>
            <a:r>
              <a:rPr b="0" lang="en-IN" sz="1800" spc="-1" strike="noStrike">
                <a:solidFill>
                  <a:srgbClr val="a3238e"/>
                </a:solidFill>
                <a:latin typeface="Arial"/>
                <a:ea typeface="DejaVu Sans"/>
              </a:rPr>
              <a:t>16674 </a:t>
            </a:r>
            <a:r>
              <a:rPr b="0" lang="en-IN" sz="1800" spc="-1" strike="noStrike">
                <a:solidFill>
                  <a:srgbClr val="000000"/>
                </a:solidFill>
                <a:latin typeface="Arial"/>
                <a:ea typeface="DejaVu Sans"/>
              </a:rPr>
              <a:t> </a:t>
            </a:r>
            <a:r>
              <a:rPr b="0" lang="en-IN" sz="1800" spc="-1" strike="noStrike">
                <a:solidFill>
                  <a:srgbClr val="a3238e"/>
                </a:solidFill>
                <a:latin typeface="Arial"/>
                <a:ea typeface="DejaVu Sans"/>
              </a:rPr>
              <a:t>16673 </a:t>
            </a:r>
            <a:r>
              <a:rPr b="0" lang="en-IN" sz="1800" spc="-1" strike="noStrike">
                <a:solidFill>
                  <a:srgbClr val="000000"/>
                </a:solidFill>
                <a:latin typeface="Arial"/>
                <a:ea typeface="DejaVu Sans"/>
              </a:rPr>
              <a:t>  0   80   0 -  1159 wait   pts/0    00:00:00   </a:t>
            </a:r>
            <a:r>
              <a:rPr b="0" lang="en-IN" sz="1800" spc="-1" strike="noStrike">
                <a:solidFill>
                  <a:srgbClr val="0000ff"/>
                </a:solidFill>
                <a:latin typeface="Arial"/>
                <a:ea typeface="DejaVu Sans"/>
              </a:rPr>
              <a:t>sh</a:t>
            </a:r>
            <a:endParaRPr b="0" lang="en-IN" sz="1800" spc="-1" strike="noStrike">
              <a:latin typeface="Arial"/>
            </a:endParaRPr>
          </a:p>
          <a:p>
            <a:pPr>
              <a:lnSpc>
                <a:spcPct val="100000"/>
              </a:lnSpc>
            </a:pPr>
            <a:r>
              <a:rPr b="0" lang="en-IN" sz="1800" spc="-1" strike="noStrike">
                <a:solidFill>
                  <a:srgbClr val="000000"/>
                </a:solidFill>
                <a:latin typeface="Arial"/>
                <a:ea typeface="DejaVu Sans"/>
              </a:rPr>
              <a:t>0 R  1000  </a:t>
            </a:r>
            <a:r>
              <a:rPr b="0" lang="en-IN" sz="1800" spc="-1" strike="noStrike">
                <a:solidFill>
                  <a:srgbClr val="a3238e"/>
                </a:solidFill>
                <a:latin typeface="Arial"/>
                <a:ea typeface="DejaVu Sans"/>
              </a:rPr>
              <a:t>16675</a:t>
            </a:r>
            <a:r>
              <a:rPr b="0" lang="en-IN" sz="1800" spc="-1" strike="noStrike">
                <a:solidFill>
                  <a:srgbClr val="000000"/>
                </a:solidFill>
                <a:latin typeface="Arial"/>
                <a:ea typeface="DejaVu Sans"/>
              </a:rPr>
              <a:t>  </a:t>
            </a:r>
            <a:r>
              <a:rPr b="0" lang="en-IN" sz="1800" spc="-1" strike="noStrike">
                <a:solidFill>
                  <a:srgbClr val="a3238e"/>
                </a:solidFill>
                <a:latin typeface="Arial"/>
                <a:ea typeface="DejaVu Sans"/>
              </a:rPr>
              <a:t>16674</a:t>
            </a:r>
            <a:r>
              <a:rPr b="0" lang="en-IN" sz="1800" spc="-1" strike="noStrike">
                <a:solidFill>
                  <a:srgbClr val="000000"/>
                </a:solidFill>
                <a:latin typeface="Arial"/>
                <a:ea typeface="DejaVu Sans"/>
              </a:rPr>
              <a:t>  96  80   0 -  1129 -        pts/0    00:00:10   </a:t>
            </a:r>
            <a:r>
              <a:rPr b="0" lang="en-IN" sz="1800" spc="-1" strike="noStrike">
                <a:solidFill>
                  <a:srgbClr val="0000ff"/>
                </a:solidFill>
                <a:latin typeface="Arial"/>
                <a:ea typeface="DejaVu Sans"/>
              </a:rPr>
              <a:t>p1</a:t>
            </a:r>
            <a:endParaRPr b="0" lang="en-IN" sz="1800" spc="-1" strike="noStrike">
              <a:latin typeface="Arial"/>
            </a:endParaRPr>
          </a:p>
          <a:p>
            <a:pPr>
              <a:lnSpc>
                <a:spcPct val="100000"/>
              </a:lnSpc>
            </a:pPr>
            <a:endParaRPr b="0" lang="en-IN" sz="1800" spc="-1" strike="noStrike">
              <a:latin typeface="Arial"/>
            </a:endParaRPr>
          </a:p>
        </p:txBody>
      </p:sp>
    </p:spTree>
  </p:cSld>
  <p:timing>
    <p:tnLst>
      <p:par>
        <p:cTn id="81" dur="indefinite" restart="never" nodeType="tmRoot">
          <p:childTnLst>
            <p:seq>
              <p:cTn id="82" dur="indefinite" nodeType="mainSeq"/>
              <p:prevCondLst>
                <p:cond delay="0" evt="onPrev">
                  <p:tgtEl>
                    <p:sldTgt/>
                  </p:tgtEl>
                </p:cond>
              </p:prevCondLst>
              <p:nextCondLst>
                <p:cond delay="0"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CustomShape 1"/>
          <p:cNvSpPr/>
          <p:nvPr/>
        </p:nvSpPr>
        <p:spPr>
          <a:xfrm>
            <a:off x="359640" y="28764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Arial"/>
                <a:ea typeface="DejaVu Sans"/>
              </a:rPr>
              <a:t>Library functions     Vs        System calls</a:t>
            </a:r>
            <a:endParaRPr b="0" lang="en-IN" sz="3600" spc="-1" strike="noStrike">
              <a:latin typeface="Arial"/>
            </a:endParaRPr>
          </a:p>
        </p:txBody>
      </p:sp>
      <p:sp>
        <p:nvSpPr>
          <p:cNvPr id="432" name="CustomShape 2"/>
          <p:cNvSpPr/>
          <p:nvPr/>
        </p:nvSpPr>
        <p:spPr>
          <a:xfrm>
            <a:off x="324720" y="1078920"/>
            <a:ext cx="4626720" cy="624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These are functions.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Supported by library (or) compiler supported function.</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Library functions are portable.</a:t>
            </a:r>
            <a:endParaRPr b="0" lang="en-IN" sz="2800" spc="-1" strike="noStrike">
              <a:latin typeface="Arial"/>
            </a:endParaRPr>
          </a:p>
          <a:p>
            <a:pPr>
              <a:lnSpc>
                <a:spcPct val="100000"/>
              </a:lnSpc>
              <a:spcBef>
                <a:spcPts val="1417"/>
              </a:spcBef>
            </a:pP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Application implemented by with library functions are called as API - (Application Programming Interface).</a:t>
            </a:r>
            <a:endParaRPr b="0" lang="en-IN" sz="2800" spc="-1" strike="noStrike">
              <a:latin typeface="Arial"/>
            </a:endParaRPr>
          </a:p>
          <a:p>
            <a:pPr>
              <a:lnSpc>
                <a:spcPct val="100000"/>
              </a:lnSpc>
            </a:pP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It supports buffered I/O concept.</a:t>
            </a:r>
            <a:endParaRPr b="0" lang="en-IN" sz="2800" spc="-1" strike="noStrike">
              <a:latin typeface="Arial"/>
            </a:endParaRPr>
          </a:p>
        </p:txBody>
      </p:sp>
      <p:sp>
        <p:nvSpPr>
          <p:cNvPr id="433" name="CustomShape 3"/>
          <p:cNvSpPr/>
          <p:nvPr/>
        </p:nvSpPr>
        <p:spPr>
          <a:xfrm>
            <a:off x="5471280" y="1151280"/>
            <a:ext cx="4519800" cy="6104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calls also functions.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calls are supported OS(kernel).</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calls are not portable(every OS having diffrent interface).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Applications implemented by system calls are called as SCI - (system call interface).</a:t>
            </a:r>
            <a:endParaRPr b="0" lang="en-IN" sz="2800" spc="-1" strike="noStrike">
              <a:latin typeface="Arial"/>
            </a:endParaRPr>
          </a:p>
          <a:p>
            <a:pPr>
              <a:lnSpc>
                <a:spcPct val="100000"/>
              </a:lnSpc>
              <a:spcBef>
                <a:spcPts val="1417"/>
              </a:spcBef>
            </a:pP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 are not supporting buffered-I/O.</a:t>
            </a:r>
            <a:endParaRPr b="0" lang="en-IN" sz="2800" spc="-1" strike="noStrike">
              <a:latin typeface="Arial"/>
            </a:endParaRPr>
          </a:p>
        </p:txBody>
      </p:sp>
    </p:spTree>
  </p:cSld>
  <p:timing>
    <p:tnLst>
      <p:par>
        <p:cTn id="83" dur="indefinite" restart="never" nodeType="tmRoot">
          <p:childTnLst>
            <p:seq>
              <p:cTn id="84" dur="indefinite" nodeType="mainSeq"/>
              <p:prevCondLst>
                <p:cond delay="0" evt="onPrev">
                  <p:tgtEl>
                    <p:sldTgt/>
                  </p:tgtEl>
                </p:cond>
              </p:prevCondLst>
              <p:nextCondLst>
                <p:cond delay="0"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CustomShape 1"/>
          <p:cNvSpPr/>
          <p:nvPr/>
        </p:nvSpPr>
        <p:spPr>
          <a:xfrm>
            <a:off x="143640" y="719640"/>
            <a:ext cx="9847440" cy="6608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User calls (library functions) are always executed in user space.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Systemcalls are always executed in kernel space.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calls are interface between userspace &amp; kernel space.</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System call pulls burden of CPU more than library functions.</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u="sng">
                <a:solidFill>
                  <a:srgbClr val="0000ff"/>
                </a:solidFill>
                <a:uFillTx/>
                <a:latin typeface="Times New Roman"/>
                <a:ea typeface="DejaVu Sans"/>
              </a:rPr>
              <a:t>Note</a:t>
            </a:r>
            <a:r>
              <a:rPr b="0" lang="en-IN" sz="2800" spc="-1" strike="noStrike">
                <a:solidFill>
                  <a:srgbClr val="0000ff"/>
                </a:solidFill>
                <a:latin typeface="Times New Roman"/>
                <a:ea typeface="DejaVu Sans"/>
              </a:rPr>
              <a:t>:  </a:t>
            </a:r>
            <a:r>
              <a:rPr b="0" lang="en-IN" sz="2800" spc="-1" strike="noStrike">
                <a:solidFill>
                  <a:srgbClr val="000000"/>
                </a:solidFill>
                <a:latin typeface="Times New Roman"/>
                <a:ea typeface="DejaVu Sans"/>
              </a:rPr>
              <a:t>For Applications, if we wanted to use OS kernel space dirrectly, then system calls are madatory to use. </a:t>
            </a:r>
            <a:endParaRPr b="0" lang="en-IN" sz="2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Ex : Sockets - (sockets are used for end system communication. These sockets works directly on kernel space).</a:t>
            </a:r>
            <a:endParaRPr b="0" lang="en-IN" sz="2800" spc="-1" strike="noStrike">
              <a:latin typeface="Arial"/>
            </a:endParaRPr>
          </a:p>
          <a:p>
            <a:pPr>
              <a:lnSpc>
                <a:spcPct val="100000"/>
              </a:lnSpc>
              <a:spcBef>
                <a:spcPts val="1417"/>
              </a:spcBef>
            </a:pPr>
            <a:endParaRPr b="0" lang="en-IN" sz="2800" spc="-1" strike="noStrike">
              <a:latin typeface="Arial"/>
            </a:endParaRPr>
          </a:p>
        </p:txBody>
      </p:sp>
      <p:sp>
        <p:nvSpPr>
          <p:cNvPr id="435" name="CustomShape 2"/>
          <p:cNvSpPr/>
          <p:nvPr/>
        </p:nvSpPr>
        <p:spPr>
          <a:xfrm>
            <a:off x="503640" y="143280"/>
            <a:ext cx="9055080" cy="4968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Arial"/>
                <a:ea typeface="DejaVu Sans"/>
              </a:rPr>
              <a:t>Library functions     Vs        System calls</a:t>
            </a:r>
            <a:endParaRPr b="0" lang="en-IN" sz="3600" spc="-1" strike="noStrike">
              <a:latin typeface="Arial"/>
            </a:endParaRPr>
          </a:p>
        </p:txBody>
      </p:sp>
    </p:spTree>
  </p:cSld>
  <p:timing>
    <p:tnLst>
      <p:par>
        <p:cTn id="85" dur="indefinite" restart="never" nodeType="tmRoot">
          <p:childTnLst>
            <p:seq>
              <p:cTn id="86" dur="indefinite" nodeType="mainSeq"/>
              <p:prevCondLst>
                <p:cond delay="0" evt="onPrev">
                  <p:tgtEl>
                    <p:sldTgt/>
                  </p:tgtEl>
                </p:cond>
              </p:prevCondLst>
              <p:nextCondLst>
                <p:cond delay="0"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CustomShape 1"/>
          <p:cNvSpPr/>
          <p:nvPr/>
        </p:nvSpPr>
        <p:spPr>
          <a:xfrm>
            <a:off x="504000" y="7164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Types of Programming</a:t>
            </a:r>
            <a:endParaRPr b="0" lang="en-IN" sz="3600" spc="-1" strike="noStrike">
              <a:latin typeface="Arial"/>
            </a:endParaRPr>
          </a:p>
        </p:txBody>
      </p:sp>
      <p:sp>
        <p:nvSpPr>
          <p:cNvPr id="437" name="CustomShape 2"/>
          <p:cNvSpPr/>
          <p:nvPr/>
        </p:nvSpPr>
        <p:spPr>
          <a:xfrm>
            <a:off x="432000" y="1294920"/>
            <a:ext cx="9055080" cy="6032520"/>
          </a:xfrm>
          <a:prstGeom prst="rect">
            <a:avLst/>
          </a:prstGeom>
          <a:noFill/>
          <a:ln>
            <a:noFill/>
          </a:ln>
        </p:spPr>
        <p:style>
          <a:lnRef idx="0"/>
          <a:fillRef idx="0"/>
          <a:effectRef idx="0"/>
          <a:fontRef idx="minor"/>
        </p:style>
        <p:txBody>
          <a:bodyPr lIns="0" rIns="0" tIns="0" bIns="0">
            <a:normAutofit/>
          </a:bodyPr>
          <a:p>
            <a:pPr>
              <a:lnSpc>
                <a:spcPct val="100000"/>
              </a:lnSpc>
              <a:spcBef>
                <a:spcPts val="1417"/>
              </a:spcBef>
            </a:pPr>
            <a:endParaRPr b="0" lang="en-IN" sz="1800" spc="-1" strike="noStrike">
              <a:latin typeface="Arial"/>
            </a:endParaRPr>
          </a:p>
          <a:p>
            <a:pPr>
              <a:lnSpc>
                <a:spcPct val="100000"/>
              </a:lnSpc>
              <a:spcBef>
                <a:spcPts val="1417"/>
              </a:spcBef>
            </a:pPr>
            <a:endParaRPr b="0" lang="en-IN" sz="1800" spc="-1" strike="noStrike">
              <a:latin typeface="Arial"/>
            </a:endParaRPr>
          </a:p>
          <a:p>
            <a:pPr>
              <a:lnSpc>
                <a:spcPct val="100000"/>
              </a:lnSpc>
              <a:spcBef>
                <a:spcPts val="1417"/>
              </a:spcBef>
            </a:pPr>
            <a:endParaRPr b="0" lang="en-IN" sz="1800" spc="-1" strike="noStrike">
              <a:latin typeface="Arial"/>
            </a:endParaRPr>
          </a:p>
          <a:p>
            <a:pPr>
              <a:lnSpc>
                <a:spcPct val="100000"/>
              </a:lnSpc>
              <a:spcBef>
                <a:spcPts val="1417"/>
              </a:spcBef>
            </a:pPr>
            <a:endParaRPr b="0" lang="en-IN" sz="1800" spc="-1" strike="noStrike">
              <a:latin typeface="Arial"/>
            </a:endParaRPr>
          </a:p>
        </p:txBody>
      </p:sp>
      <p:graphicFrame>
        <p:nvGraphicFramePr>
          <p:cNvPr id="438" name="Table 3"/>
          <p:cNvGraphicFramePr/>
          <p:nvPr/>
        </p:nvGraphicFramePr>
        <p:xfrm>
          <a:off x="3728520" y="1383120"/>
          <a:ext cx="1727640" cy="416520"/>
        </p:xfrm>
        <a:graphic>
          <a:graphicData uri="http://schemas.openxmlformats.org/drawingml/2006/table">
            <a:tbl>
              <a:tblPr/>
              <a:tblGrid>
                <a:gridCol w="1728000"/>
              </a:tblGrid>
              <a:tr h="416880">
                <a:tc>
                  <a:txBody>
                    <a:bodyPr lIns="90000" rIns="90000"/>
                    <a:p>
                      <a:pPr>
                        <a:lnSpc>
                          <a:spcPct val="100000"/>
                        </a:lnSpc>
                      </a:pPr>
                      <a:r>
                        <a:rPr b="0" lang="en-IN" sz="2000" spc="-1" strike="noStrike">
                          <a:latin typeface="Arial"/>
                        </a:rPr>
                        <a:t>programming</a:t>
                      </a:r>
                      <a:endParaRPr b="0" lang="en-IN" sz="20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439" name="Table 4"/>
          <p:cNvGraphicFramePr/>
          <p:nvPr/>
        </p:nvGraphicFramePr>
        <p:xfrm>
          <a:off x="2434680" y="2526120"/>
          <a:ext cx="1727640" cy="658080"/>
        </p:xfrm>
        <a:graphic>
          <a:graphicData uri="http://schemas.openxmlformats.org/drawingml/2006/table">
            <a:tbl>
              <a:tblPr/>
              <a:tblGrid>
                <a:gridCol w="1728000"/>
              </a:tblGrid>
              <a:tr h="658440">
                <a:tc>
                  <a:txBody>
                    <a:bodyPr lIns="90000" rIns="90000"/>
                    <a:p>
                      <a:pPr>
                        <a:lnSpc>
                          <a:spcPct val="100000"/>
                        </a:lnSpc>
                      </a:pPr>
                      <a:r>
                        <a:rPr b="0" lang="en-IN" sz="2000" spc="-1" strike="noStrike">
                          <a:latin typeface="Arial"/>
                        </a:rPr>
                        <a:t>Application programming</a:t>
                      </a:r>
                      <a:endParaRPr b="0" lang="en-IN" sz="20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440" name="Table 5"/>
          <p:cNvGraphicFramePr/>
          <p:nvPr/>
        </p:nvGraphicFramePr>
        <p:xfrm>
          <a:off x="5251680" y="2551680"/>
          <a:ext cx="1727640" cy="658080"/>
        </p:xfrm>
        <a:graphic>
          <a:graphicData uri="http://schemas.openxmlformats.org/drawingml/2006/table">
            <a:tbl>
              <a:tblPr/>
              <a:tblGrid>
                <a:gridCol w="1728000"/>
              </a:tblGrid>
              <a:tr h="658440">
                <a:tc>
                  <a:txBody>
                    <a:bodyPr lIns="90000" rIns="90000"/>
                    <a:p>
                      <a:pPr>
                        <a:lnSpc>
                          <a:spcPct val="100000"/>
                        </a:lnSpc>
                      </a:pPr>
                      <a:r>
                        <a:rPr b="0" lang="en-IN" sz="2000" spc="-1" strike="noStrike">
                          <a:latin typeface="Arial"/>
                        </a:rPr>
                        <a:t>System</a:t>
                      </a:r>
                      <a:endParaRPr b="0" lang="en-IN" sz="2000" spc="-1" strike="noStrike">
                        <a:latin typeface="Arial"/>
                      </a:endParaRPr>
                    </a:p>
                    <a:p>
                      <a:pPr>
                        <a:lnSpc>
                          <a:spcPct val="100000"/>
                        </a:lnSpc>
                      </a:pPr>
                      <a:r>
                        <a:rPr b="0" lang="en-IN" sz="2000" spc="-1" strike="noStrike">
                          <a:latin typeface="Arial"/>
                        </a:rPr>
                        <a:t>programming</a:t>
                      </a:r>
                      <a:endParaRPr b="0" lang="en-IN" sz="20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441" name="Line 6"/>
          <p:cNvSpPr/>
          <p:nvPr/>
        </p:nvSpPr>
        <p:spPr>
          <a:xfrm>
            <a:off x="6191280" y="2158920"/>
            <a:ext cx="360" cy="317880"/>
          </a:xfrm>
          <a:prstGeom prst="line">
            <a:avLst/>
          </a:prstGeom>
          <a:ln>
            <a:solidFill>
              <a:srgbClr val="000000"/>
            </a:solidFill>
            <a:tailEnd len="med" type="triangle" w="med"/>
          </a:ln>
        </p:spPr>
        <p:style>
          <a:lnRef idx="0"/>
          <a:fillRef idx="0"/>
          <a:effectRef idx="0"/>
          <a:fontRef idx="minor"/>
        </p:style>
      </p:sp>
      <p:sp>
        <p:nvSpPr>
          <p:cNvPr id="442" name="Line 7"/>
          <p:cNvSpPr/>
          <p:nvPr/>
        </p:nvSpPr>
        <p:spPr>
          <a:xfrm>
            <a:off x="3167640" y="2158920"/>
            <a:ext cx="360" cy="367200"/>
          </a:xfrm>
          <a:prstGeom prst="line">
            <a:avLst/>
          </a:prstGeom>
          <a:ln>
            <a:solidFill>
              <a:srgbClr val="000000"/>
            </a:solidFill>
            <a:tailEnd len="med" type="triangle" w="med"/>
          </a:ln>
        </p:spPr>
        <p:style>
          <a:lnRef idx="0"/>
          <a:fillRef idx="0"/>
          <a:effectRef idx="0"/>
          <a:fontRef idx="minor"/>
        </p:style>
      </p:sp>
      <p:sp>
        <p:nvSpPr>
          <p:cNvPr id="443" name="Line 8"/>
          <p:cNvSpPr/>
          <p:nvPr/>
        </p:nvSpPr>
        <p:spPr>
          <a:xfrm>
            <a:off x="4535640" y="1799640"/>
            <a:ext cx="360" cy="360000"/>
          </a:xfrm>
          <a:prstGeom prst="line">
            <a:avLst/>
          </a:prstGeom>
          <a:ln>
            <a:solidFill>
              <a:srgbClr val="000000"/>
            </a:solidFill>
          </a:ln>
        </p:spPr>
        <p:style>
          <a:lnRef idx="0"/>
          <a:fillRef idx="0"/>
          <a:effectRef idx="0"/>
          <a:fontRef idx="minor"/>
        </p:style>
      </p:sp>
      <p:sp>
        <p:nvSpPr>
          <p:cNvPr id="444" name="Line 9"/>
          <p:cNvSpPr/>
          <p:nvPr/>
        </p:nvSpPr>
        <p:spPr>
          <a:xfrm flipH="1">
            <a:off x="3167640" y="2158920"/>
            <a:ext cx="3023640" cy="360"/>
          </a:xfrm>
          <a:prstGeom prst="line">
            <a:avLst/>
          </a:prstGeom>
          <a:ln>
            <a:solidFill>
              <a:srgbClr val="000000"/>
            </a:solidFill>
          </a:ln>
        </p:spPr>
        <p:style>
          <a:lnRef idx="0"/>
          <a:fillRef idx="0"/>
          <a:effectRef idx="0"/>
          <a:fontRef idx="minor"/>
        </p:style>
      </p:sp>
      <p:sp>
        <p:nvSpPr>
          <p:cNvPr id="445" name="CustomShape 10"/>
          <p:cNvSpPr/>
          <p:nvPr/>
        </p:nvSpPr>
        <p:spPr>
          <a:xfrm>
            <a:off x="2707920" y="3365640"/>
            <a:ext cx="703800" cy="297360"/>
          </a:xfrm>
          <a:prstGeom prst="rect">
            <a:avLst/>
          </a:prstGeom>
          <a:noFill/>
          <a:ln>
            <a:noFill/>
          </a:ln>
        </p:spPr>
        <p:style>
          <a:lnRef idx="0"/>
          <a:fillRef idx="0"/>
          <a:effectRef idx="0"/>
          <a:fontRef idx="minor"/>
        </p:style>
        <p:txBody>
          <a:bodyPr lIns="0" rIns="0" tIns="0" bIns="0" anchor="ctr"/>
          <a:p>
            <a:pPr algn="ctr">
              <a:lnSpc>
                <a:spcPct val="100000"/>
              </a:lnSpc>
            </a:pPr>
            <a:r>
              <a:rPr b="1" lang="en-IN" sz="2200" spc="-1" strike="noStrike">
                <a:solidFill>
                  <a:srgbClr val="000000"/>
                </a:solidFill>
                <a:latin typeface="Arial"/>
                <a:ea typeface="DejaVu Sans"/>
              </a:rPr>
              <a:t>* API</a:t>
            </a:r>
            <a:endParaRPr b="0" lang="en-IN" sz="2200" spc="-1" strike="noStrike">
              <a:latin typeface="Arial"/>
            </a:endParaRPr>
          </a:p>
        </p:txBody>
      </p:sp>
      <p:sp>
        <p:nvSpPr>
          <p:cNvPr id="446" name="CustomShape 11"/>
          <p:cNvSpPr/>
          <p:nvPr/>
        </p:nvSpPr>
        <p:spPr>
          <a:xfrm>
            <a:off x="5327280" y="3383280"/>
            <a:ext cx="3439800" cy="344160"/>
          </a:xfrm>
          <a:prstGeom prst="rect">
            <a:avLst/>
          </a:prstGeom>
          <a:noFill/>
          <a:ln>
            <a:noFill/>
          </a:ln>
        </p:spPr>
        <p:style>
          <a:lnRef idx="0"/>
          <a:fillRef idx="0"/>
          <a:effectRef idx="0"/>
          <a:fontRef idx="minor"/>
        </p:style>
        <p:txBody>
          <a:bodyPr lIns="0" rIns="0" tIns="0" bIns="0" anchor="ctr"/>
          <a:p>
            <a:pPr algn="ctr">
              <a:lnSpc>
                <a:spcPct val="100000"/>
              </a:lnSpc>
            </a:pPr>
            <a:r>
              <a:rPr b="1" lang="en-IN" sz="2000" spc="-1" strike="noStrike">
                <a:solidFill>
                  <a:srgbClr val="000000"/>
                </a:solidFill>
                <a:latin typeface="Arial"/>
                <a:ea typeface="DejaVu Sans"/>
              </a:rPr>
              <a:t>* Device driver</a:t>
            </a:r>
            <a:r>
              <a:rPr b="0" lang="en-IN" sz="2000" spc="-1" strike="noStrike">
                <a:solidFill>
                  <a:srgbClr val="000000"/>
                </a:solidFill>
                <a:latin typeface="Arial"/>
                <a:ea typeface="DejaVu Sans"/>
              </a:rPr>
              <a:t> programming</a:t>
            </a:r>
            <a:endParaRPr b="0" lang="en-IN" sz="2000" spc="-1" strike="noStrike">
              <a:latin typeface="Arial"/>
            </a:endParaRPr>
          </a:p>
        </p:txBody>
      </p:sp>
      <p:sp>
        <p:nvSpPr>
          <p:cNvPr id="447" name="CustomShape 12"/>
          <p:cNvSpPr/>
          <p:nvPr/>
        </p:nvSpPr>
        <p:spPr>
          <a:xfrm>
            <a:off x="4895640" y="3672000"/>
            <a:ext cx="3439800" cy="344160"/>
          </a:xfrm>
          <a:prstGeom prst="rect">
            <a:avLst/>
          </a:prstGeom>
          <a:noFill/>
          <a:ln>
            <a:noFill/>
          </a:ln>
        </p:spPr>
        <p:style>
          <a:lnRef idx="0"/>
          <a:fillRef idx="0"/>
          <a:effectRef idx="0"/>
          <a:fontRef idx="minor"/>
        </p:style>
        <p:txBody>
          <a:bodyPr lIns="0" rIns="0" tIns="0" bIns="0" anchor="ctr"/>
          <a:p>
            <a:pPr algn="ctr">
              <a:lnSpc>
                <a:spcPct val="100000"/>
              </a:lnSpc>
            </a:pPr>
            <a:r>
              <a:rPr b="1" lang="en-IN" sz="2000" spc="-1" strike="noStrike">
                <a:solidFill>
                  <a:srgbClr val="000000"/>
                </a:solidFill>
                <a:latin typeface="Arial"/>
                <a:ea typeface="DejaVu Sans"/>
              </a:rPr>
              <a:t>* Kernel</a:t>
            </a:r>
            <a:r>
              <a:rPr b="0" lang="en-IN" sz="2000" spc="-1" strike="noStrike">
                <a:solidFill>
                  <a:srgbClr val="000000"/>
                </a:solidFill>
                <a:latin typeface="Arial"/>
                <a:ea typeface="DejaVu Sans"/>
              </a:rPr>
              <a:t> programming</a:t>
            </a:r>
            <a:endParaRPr b="0" lang="en-IN" sz="2000" spc="-1" strike="noStrike">
              <a:latin typeface="Arial"/>
            </a:endParaRPr>
          </a:p>
        </p:txBody>
      </p:sp>
      <p:graphicFrame>
        <p:nvGraphicFramePr>
          <p:cNvPr id="448" name="Table 13"/>
          <p:cNvGraphicFramePr/>
          <p:nvPr/>
        </p:nvGraphicFramePr>
        <p:xfrm>
          <a:off x="416520" y="5571720"/>
          <a:ext cx="6644880" cy="861120"/>
        </p:xfrm>
        <a:graphic>
          <a:graphicData uri="http://schemas.openxmlformats.org/drawingml/2006/table">
            <a:tbl>
              <a:tblPr/>
              <a:tblGrid>
                <a:gridCol w="6645240"/>
              </a:tblGrid>
              <a:tr h="861480">
                <a:tc>
                  <a:txBody>
                    <a:bodyPr lIns="90000" rIns="90000"/>
                    <a:p>
                      <a:pPr>
                        <a:lnSpc>
                          <a:spcPct val="100000"/>
                        </a:lnSpc>
                      </a:pPr>
                      <a:endParaRPr b="0" lang="en-IN" sz="1800" spc="-1" strike="noStrike">
                        <a:latin typeface="Arial"/>
                      </a:endParaRPr>
                    </a:p>
                    <a:p>
                      <a:pPr>
                        <a:lnSpc>
                          <a:spcPct val="100000"/>
                        </a:lnSpc>
                      </a:pPr>
                      <a:r>
                        <a:rPr b="0" lang="en-IN" sz="1800" spc="-1" strike="noStrike">
                          <a:latin typeface="Arial"/>
                        </a:rPr>
                        <a:t> </a:t>
                      </a:r>
                      <a:r>
                        <a:rPr b="0" lang="en-IN" sz="1800" spc="-1" strike="noStrike">
                          <a:latin typeface="Arial"/>
                        </a:rPr>
                        <a:t>brk(or)                               open()                                  read()</a:t>
                      </a:r>
                      <a:endParaRPr b="0" lang="en-IN" sz="1800" spc="-1" strike="noStrike">
                        <a:latin typeface="Arial"/>
                      </a:endParaRPr>
                    </a:p>
                    <a:p>
                      <a:pPr>
                        <a:lnSpc>
                          <a:spcPct val="100000"/>
                        </a:lnSpc>
                      </a:pPr>
                      <a:r>
                        <a:rPr b="0" lang="en-IN" sz="1800" spc="-1" strike="noStrike">
                          <a:latin typeface="Arial"/>
                        </a:rPr>
                        <a:t>  </a:t>
                      </a:r>
                      <a:r>
                        <a:rPr b="0" lang="en-IN" sz="1800" spc="-1" strike="noStrike">
                          <a:latin typeface="Arial"/>
                        </a:rPr>
                        <a:t>sbrk()</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449" name="Table 14"/>
          <p:cNvGraphicFramePr/>
          <p:nvPr/>
        </p:nvGraphicFramePr>
        <p:xfrm>
          <a:off x="215640" y="4584600"/>
          <a:ext cx="6645600" cy="347400"/>
        </p:xfrm>
        <a:graphic>
          <a:graphicData uri="http://schemas.openxmlformats.org/drawingml/2006/table">
            <a:tbl>
              <a:tblPr/>
              <a:tblGrid>
                <a:gridCol w="6645960"/>
              </a:tblGrid>
              <a:tr h="347760">
                <a:tc>
                  <a:txBody>
                    <a:bodyPr lIns="90000" rIns="90000"/>
                    <a:p>
                      <a:pPr>
                        <a:lnSpc>
                          <a:spcPct val="100000"/>
                        </a:lnSpc>
                      </a:pPr>
                      <a:r>
                        <a:rPr b="0" lang="en-IN" sz="1800" spc="-1" strike="noStrike">
                          <a:latin typeface="Arial"/>
                        </a:rPr>
                        <a:t>     </a:t>
                      </a:r>
                      <a:r>
                        <a:rPr b="0" lang="en-IN" sz="1800" spc="-1" strike="noStrike">
                          <a:latin typeface="Arial"/>
                        </a:rPr>
                        <a:t>malloc()                          fopen()                                fread()</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450" name="Line 15"/>
          <p:cNvSpPr/>
          <p:nvPr/>
        </p:nvSpPr>
        <p:spPr>
          <a:xfrm>
            <a:off x="968760" y="4934160"/>
            <a:ext cx="360" cy="586080"/>
          </a:xfrm>
          <a:prstGeom prst="line">
            <a:avLst/>
          </a:prstGeom>
          <a:ln>
            <a:solidFill>
              <a:srgbClr val="000000"/>
            </a:solidFill>
            <a:tailEnd len="med" type="triangle" w="med"/>
          </a:ln>
        </p:spPr>
        <p:style>
          <a:lnRef idx="0"/>
          <a:fillRef idx="0"/>
          <a:effectRef idx="0"/>
          <a:fontRef idx="minor"/>
        </p:style>
      </p:sp>
      <p:sp>
        <p:nvSpPr>
          <p:cNvPr id="451" name="Line 16"/>
          <p:cNvSpPr/>
          <p:nvPr/>
        </p:nvSpPr>
        <p:spPr>
          <a:xfrm>
            <a:off x="3488760" y="4934160"/>
            <a:ext cx="360" cy="586080"/>
          </a:xfrm>
          <a:prstGeom prst="line">
            <a:avLst/>
          </a:prstGeom>
          <a:ln>
            <a:solidFill>
              <a:srgbClr val="000000"/>
            </a:solidFill>
            <a:tailEnd len="med" type="triangle" w="med"/>
          </a:ln>
        </p:spPr>
        <p:style>
          <a:lnRef idx="0"/>
          <a:fillRef idx="0"/>
          <a:effectRef idx="0"/>
          <a:fontRef idx="minor"/>
        </p:style>
      </p:sp>
      <p:sp>
        <p:nvSpPr>
          <p:cNvPr id="452" name="Line 17"/>
          <p:cNvSpPr/>
          <p:nvPr/>
        </p:nvSpPr>
        <p:spPr>
          <a:xfrm>
            <a:off x="6224400" y="4915080"/>
            <a:ext cx="360" cy="586080"/>
          </a:xfrm>
          <a:prstGeom prst="line">
            <a:avLst/>
          </a:prstGeom>
          <a:ln>
            <a:solidFill>
              <a:srgbClr val="000000"/>
            </a:solidFill>
            <a:tailEnd len="med" type="triangle" w="med"/>
          </a:ln>
        </p:spPr>
        <p:style>
          <a:lnRef idx="0"/>
          <a:fillRef idx="0"/>
          <a:effectRef idx="0"/>
          <a:fontRef idx="minor"/>
        </p:style>
      </p:sp>
      <p:sp>
        <p:nvSpPr>
          <p:cNvPr id="453" name="Line 18"/>
          <p:cNvSpPr/>
          <p:nvPr/>
        </p:nvSpPr>
        <p:spPr>
          <a:xfrm flipH="1">
            <a:off x="3632760" y="6433200"/>
            <a:ext cx="432000" cy="436320"/>
          </a:xfrm>
          <a:prstGeom prst="line">
            <a:avLst/>
          </a:prstGeom>
          <a:ln>
            <a:solidFill>
              <a:srgbClr val="000000"/>
            </a:solidFill>
            <a:tailEnd len="med" type="triangle" w="med"/>
          </a:ln>
        </p:spPr>
        <p:style>
          <a:lnRef idx="0"/>
          <a:fillRef idx="0"/>
          <a:effectRef idx="0"/>
          <a:fontRef idx="minor"/>
        </p:style>
      </p:sp>
      <p:graphicFrame>
        <p:nvGraphicFramePr>
          <p:cNvPr id="454" name="Table 19"/>
          <p:cNvGraphicFramePr/>
          <p:nvPr/>
        </p:nvGraphicFramePr>
        <p:xfrm>
          <a:off x="2336400" y="6850080"/>
          <a:ext cx="2231280" cy="349200"/>
        </p:xfrm>
        <a:graphic>
          <a:graphicData uri="http://schemas.openxmlformats.org/drawingml/2006/table">
            <a:tbl>
              <a:tblPr/>
              <a:tblGrid>
                <a:gridCol w="2231640"/>
              </a:tblGrid>
              <a:tr h="349560">
                <a:tc>
                  <a:txBody>
                    <a:bodyPr lIns="90000" rIns="90000"/>
                    <a:p>
                      <a:pPr>
                        <a:lnSpc>
                          <a:spcPct val="100000"/>
                        </a:lnSpc>
                      </a:pPr>
                      <a:r>
                        <a:rPr b="0" lang="en-IN" sz="1800" spc="-1" strike="noStrike">
                          <a:latin typeface="Arial"/>
                        </a:rPr>
                        <a:t>Supported by os</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455" name="CustomShape 20"/>
          <p:cNvSpPr/>
          <p:nvPr/>
        </p:nvSpPr>
        <p:spPr>
          <a:xfrm>
            <a:off x="935640" y="4966920"/>
            <a:ext cx="360" cy="56160"/>
          </a:xfrm>
          <a:prstGeom prst="wedgeRectCallout">
            <a:avLst>
              <a:gd name="adj1" fmla="val -40601"/>
              <a:gd name="adj2" fmla="val 152546"/>
            </a:avLst>
          </a:prstGeom>
          <a:solidFill>
            <a:srgbClr val="729fcf"/>
          </a:solidFill>
          <a:ln>
            <a:solidFill>
              <a:srgbClr val="3465a4"/>
            </a:solidFill>
          </a:ln>
        </p:spPr>
        <p:style>
          <a:lnRef idx="0"/>
          <a:fillRef idx="0"/>
          <a:effectRef idx="0"/>
          <a:fontRef idx="minor"/>
        </p:style>
      </p:sp>
      <p:sp>
        <p:nvSpPr>
          <p:cNvPr id="456" name="CustomShape 21"/>
          <p:cNvSpPr/>
          <p:nvPr/>
        </p:nvSpPr>
        <p:spPr>
          <a:xfrm>
            <a:off x="7775280" y="4607640"/>
            <a:ext cx="2072160" cy="416160"/>
          </a:xfrm>
          <a:prstGeom prst="rect">
            <a:avLst/>
          </a:prstGeom>
          <a:solidFill>
            <a:srgbClr val="dddddd"/>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1800" spc="-1" strike="noStrike">
                <a:solidFill>
                  <a:srgbClr val="ce181e"/>
                </a:solidFill>
                <a:latin typeface="Arial"/>
                <a:ea typeface="DejaVu Sans"/>
              </a:rPr>
              <a:t>Library functions</a:t>
            </a:r>
            <a:endParaRPr b="0" lang="en-IN" sz="1800" spc="-1" strike="noStrike">
              <a:latin typeface="Arial"/>
            </a:endParaRPr>
          </a:p>
        </p:txBody>
      </p:sp>
      <p:sp>
        <p:nvSpPr>
          <p:cNvPr id="457" name="CustomShape 22"/>
          <p:cNvSpPr/>
          <p:nvPr/>
        </p:nvSpPr>
        <p:spPr>
          <a:xfrm>
            <a:off x="7703280" y="5688000"/>
            <a:ext cx="1928160" cy="560160"/>
          </a:xfrm>
          <a:prstGeom prst="rect">
            <a:avLst/>
          </a:prstGeom>
          <a:solidFill>
            <a:srgbClr val="eeeeee"/>
          </a:solidFill>
          <a:ln>
            <a:solidFill>
              <a:srgbClr val="3465a4"/>
            </a:solidFill>
          </a:ln>
        </p:spPr>
        <p:style>
          <a:lnRef idx="0"/>
          <a:fillRef idx="0"/>
          <a:effectRef idx="0"/>
          <a:fontRef idx="minor"/>
        </p:style>
        <p:txBody>
          <a:bodyPr wrap="none" lIns="90000" rIns="90000" tIns="45000" bIns="45000" anchor="ctr"/>
          <a:p>
            <a:pPr algn="ctr">
              <a:lnSpc>
                <a:spcPct val="100000"/>
              </a:lnSpc>
            </a:pPr>
            <a:r>
              <a:rPr b="1" lang="en-IN" sz="1800" spc="-1" strike="noStrike">
                <a:solidFill>
                  <a:srgbClr val="ce181e"/>
                </a:solidFill>
                <a:latin typeface="Arial"/>
                <a:ea typeface="DejaVu Sans"/>
              </a:rPr>
              <a:t>System Calls</a:t>
            </a:r>
            <a:endParaRPr b="0" lang="en-IN" sz="1800" spc="-1" strike="noStrike">
              <a:latin typeface="Arial"/>
            </a:endParaRPr>
          </a:p>
        </p:txBody>
      </p:sp>
      <p:sp>
        <p:nvSpPr>
          <p:cNvPr id="458" name="Line 23"/>
          <p:cNvSpPr/>
          <p:nvPr/>
        </p:nvSpPr>
        <p:spPr>
          <a:xfrm>
            <a:off x="6861600" y="4823640"/>
            <a:ext cx="913680" cy="360"/>
          </a:xfrm>
          <a:prstGeom prst="line">
            <a:avLst/>
          </a:prstGeom>
          <a:ln>
            <a:solidFill>
              <a:srgbClr val="000000"/>
            </a:solidFill>
            <a:tailEnd len="med" type="triangle" w="med"/>
          </a:ln>
        </p:spPr>
        <p:style>
          <a:lnRef idx="0"/>
          <a:fillRef idx="0"/>
          <a:effectRef idx="0"/>
          <a:fontRef idx="minor"/>
        </p:style>
      </p:sp>
      <p:sp>
        <p:nvSpPr>
          <p:cNvPr id="459" name="Line 24"/>
          <p:cNvSpPr/>
          <p:nvPr/>
        </p:nvSpPr>
        <p:spPr>
          <a:xfrm>
            <a:off x="7061760" y="5975280"/>
            <a:ext cx="641520" cy="360"/>
          </a:xfrm>
          <a:prstGeom prst="line">
            <a:avLst/>
          </a:prstGeom>
          <a:ln>
            <a:solidFill>
              <a:srgbClr val="000000"/>
            </a:solidFill>
            <a:tailEnd len="med" type="triangle" w="med"/>
          </a:ln>
        </p:spPr>
        <p:style>
          <a:lnRef idx="0"/>
          <a:fillRef idx="0"/>
          <a:effectRef idx="0"/>
          <a:fontRef idx="minor"/>
        </p:style>
      </p:sp>
    </p:spTree>
  </p:cSld>
  <p:timing>
    <p:tnLst>
      <p:par>
        <p:cTn id="87" dur="indefinite" restart="never" nodeType="tmRoot">
          <p:childTnLst>
            <p:seq>
              <p:cTn id="88" dur="indefinite" nodeType="mainSeq"/>
              <p:prevCondLst>
                <p:cond delay="0" evt="onPrev">
                  <p:tgtEl>
                    <p:sldTgt/>
                  </p:tgtEl>
                </p:cond>
              </p:prevCondLst>
              <p:nextCondLst>
                <p:cond delay="0"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CustomShape 1"/>
          <p:cNvSpPr/>
          <p:nvPr/>
        </p:nvSpPr>
        <p:spPr>
          <a:xfrm>
            <a:off x="445320" y="30960"/>
            <a:ext cx="9055080" cy="600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Creating a Process</a:t>
            </a:r>
            <a:endParaRPr b="0" lang="en-IN" sz="3600" spc="-1" strike="noStrike">
              <a:latin typeface="Arial"/>
            </a:endParaRPr>
          </a:p>
        </p:txBody>
      </p:sp>
      <p:sp>
        <p:nvSpPr>
          <p:cNvPr id="461" name="CustomShape 2"/>
          <p:cNvSpPr/>
          <p:nvPr/>
        </p:nvSpPr>
        <p:spPr>
          <a:xfrm>
            <a:off x="143640" y="646920"/>
            <a:ext cx="9703440" cy="6752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134"/>
              </a:spcBef>
              <a:buClr>
                <a:srgbClr val="000000"/>
              </a:buClr>
              <a:buSzPct val="45000"/>
              <a:buFont typeface="Wingdings" charset="2"/>
              <a:buChar char=""/>
            </a:pPr>
            <a:r>
              <a:rPr b="0" lang="en-IN" sz="3200" spc="-1" strike="noStrike">
                <a:solidFill>
                  <a:srgbClr val="0000ff"/>
                </a:solidFill>
                <a:latin typeface="Times New Roman"/>
                <a:ea typeface="DejaVu Sans"/>
              </a:rPr>
              <a:t>How to create process?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a3238e"/>
                </a:solidFill>
                <a:latin typeface="Times New Roman"/>
                <a:ea typeface="DejaVu Sans"/>
              </a:rPr>
              <a:t>     </a:t>
            </a:r>
            <a:r>
              <a:rPr b="0" lang="en-IN" sz="3200" spc="-1" strike="noStrike">
                <a:solidFill>
                  <a:srgbClr val="000000"/>
                </a:solidFill>
                <a:latin typeface="Times New Roman"/>
                <a:ea typeface="DejaVu Sans"/>
              </a:rPr>
              <a:t>Using</a:t>
            </a:r>
            <a:r>
              <a:rPr b="0" lang="en-IN" sz="3200" spc="-1" strike="noStrike">
                <a:solidFill>
                  <a:srgbClr val="a3238e"/>
                </a:solidFill>
                <a:latin typeface="Times New Roman"/>
                <a:ea typeface="DejaVu Sans"/>
              </a:rPr>
              <a:t> </a:t>
            </a:r>
            <a:r>
              <a:rPr b="0" lang="en-IN" sz="3200" spc="-1" strike="noStrike">
                <a:solidFill>
                  <a:srgbClr val="0000ff"/>
                </a:solidFill>
                <a:latin typeface="Times New Roman"/>
                <a:ea typeface="DejaVu Sans"/>
              </a:rPr>
              <a:t>fork().</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800000"/>
                </a:solidFill>
                <a:latin typeface="Times New Roman"/>
                <a:ea typeface="DejaVu Sans"/>
              </a:rPr>
              <a:t>     </a:t>
            </a:r>
            <a:r>
              <a:rPr b="0" lang="en-IN" sz="3200" spc="-1" strike="noStrike">
                <a:solidFill>
                  <a:srgbClr val="0000ff"/>
                </a:solidFill>
                <a:latin typeface="Times New Roman"/>
                <a:ea typeface="DejaVu Sans"/>
              </a:rPr>
              <a:t>fork</a:t>
            </a:r>
            <a:r>
              <a:rPr b="0" lang="en-IN" sz="3200" spc="-1" strike="noStrike">
                <a:solidFill>
                  <a:srgbClr val="000000"/>
                </a:solidFill>
                <a:latin typeface="Times New Roman"/>
                <a:ea typeface="DejaVu Sans"/>
              </a:rPr>
              <a:t> - create a child process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u="sng">
                <a:solidFill>
                  <a:srgbClr val="0000cc"/>
                </a:solidFill>
                <a:uFillTx/>
                <a:latin typeface="Times New Roman"/>
                <a:ea typeface="DejaVu Sans"/>
              </a:rPr>
              <a:t>SYNOPSIS</a:t>
            </a:r>
            <a:r>
              <a:rPr b="0" lang="en-IN" sz="3200" spc="-1" strike="noStrike" u="sng">
                <a:solidFill>
                  <a:srgbClr val="000000"/>
                </a:solidFill>
                <a:uFillTx/>
                <a:latin typeface="Times New Roman"/>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#include &lt;unistd.h&gt;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ff"/>
                </a:solidFill>
                <a:latin typeface="Times New Roman"/>
                <a:ea typeface="DejaVu Sans"/>
              </a:rPr>
              <a:t>pid_t</a:t>
            </a:r>
            <a:r>
              <a:rPr b="0" lang="en-IN" sz="3200" spc="-1" strike="noStrike">
                <a:solidFill>
                  <a:srgbClr val="000000"/>
                </a:solidFill>
                <a:latin typeface="Times New Roman"/>
                <a:ea typeface="DejaVu Sans"/>
              </a:rPr>
              <a:t> fork(</a:t>
            </a:r>
            <a:r>
              <a:rPr b="0" lang="en-IN" sz="3200" spc="-1" strike="noStrike">
                <a:solidFill>
                  <a:srgbClr val="0000ff"/>
                </a:solidFill>
                <a:latin typeface="Times New Roman"/>
                <a:ea typeface="DejaVu Sans"/>
              </a:rPr>
              <a:t>void</a:t>
            </a:r>
            <a:r>
              <a:rPr b="0" lang="en-IN" sz="3200" spc="-1" strike="noStrike">
                <a:solidFill>
                  <a:srgbClr val="000000"/>
                </a:solidFill>
                <a:latin typeface="Times New Roman"/>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u="sng">
                <a:solidFill>
                  <a:srgbClr val="0000cc"/>
                </a:solidFill>
                <a:uFillTx/>
                <a:latin typeface="Times New Roman"/>
                <a:ea typeface="DejaVu Sans"/>
              </a:rPr>
              <a:t>DESCRIPTION</a:t>
            </a:r>
            <a:r>
              <a:rPr b="0" lang="en-IN" sz="3200" spc="-1" strike="noStrike" u="sng">
                <a:solidFill>
                  <a:srgbClr val="000000"/>
                </a:solidFill>
                <a:uFillTx/>
                <a:latin typeface="Times New Roman"/>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fork()  creates  a new process by duplicating the calling process.  The new process is referred to as the child process.  The  calling  process is referred to as the parent process.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u="sng">
                <a:solidFill>
                  <a:srgbClr val="0000ff"/>
                </a:solidFill>
                <a:uFillTx/>
                <a:latin typeface="Times New Roman"/>
                <a:ea typeface="DejaVu Sans"/>
              </a:rPr>
              <a:t>RETURN VALUE:</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On  success,  the  PID  of  the child process is returned in the parent, and 0 is returned in the child.  On failure, -1  is  returned  in  the  parent,  no  child  process is created, and errno is set appropriately.</a:t>
            </a:r>
            <a:endParaRPr b="0" lang="en-IN" sz="3200" spc="-1" strike="noStrike">
              <a:latin typeface="Arial"/>
            </a:endParaRPr>
          </a:p>
          <a:p>
            <a:pPr>
              <a:lnSpc>
                <a:spcPct val="100000"/>
              </a:lnSpc>
              <a:spcBef>
                <a:spcPts val="1417"/>
              </a:spcBef>
            </a:pP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89" dur="indefinite" restart="never" nodeType="tmRoot">
          <p:childTnLst>
            <p:seq>
              <p:cTn id="90" dur="indefinite" nodeType="mainSeq"/>
              <p:prevCondLst>
                <p:cond delay="0" evt="onPrev">
                  <p:tgtEl>
                    <p:sldTgt/>
                  </p:tgtEl>
                </p:cond>
              </p:prevCondLst>
              <p:nextCondLst>
                <p:cond delay="0"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CustomShape 1"/>
          <p:cNvSpPr/>
          <p:nvPr/>
        </p:nvSpPr>
        <p:spPr>
          <a:xfrm>
            <a:off x="503640" y="862920"/>
            <a:ext cx="9055080" cy="6320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Arial"/>
                <a:ea typeface="DejaVu Sans"/>
              </a:rPr>
              <a:t>Ex</a:t>
            </a:r>
            <a:r>
              <a:rPr b="0" lang="en-IN" sz="3200" spc="-1" strike="noStrike">
                <a:solidFill>
                  <a:srgbClr val="a3238e"/>
                </a:solidFill>
                <a:latin typeface="Arial"/>
                <a:ea typeface="DejaVu Sans"/>
              </a:rPr>
              <a:t>:</a:t>
            </a:r>
            <a:endParaRPr b="0" lang="en-IN" sz="3200" spc="-1" strike="noStrike">
              <a:latin typeface="Arial"/>
            </a:endParaRPr>
          </a:p>
          <a:p>
            <a:pPr>
              <a:lnSpc>
                <a:spcPct val="100000"/>
              </a:lnSpc>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printf("hi..\n");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printf("hello..\n");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Using fork when a process(child) is created it’s exactly the Duplicate of parent.</a:t>
            </a:r>
            <a:endParaRPr b="0" lang="en-IN" sz="2800" spc="-1" strike="noStrike">
              <a:latin typeface="Arial"/>
            </a:endParaRPr>
          </a:p>
          <a:p>
            <a:pPr marL="432000" indent="-308160">
              <a:lnSpc>
                <a:spcPct val="100000"/>
              </a:lnSpc>
              <a:buClr>
                <a:srgbClr val="000000"/>
              </a:buClr>
              <a:buSzPct val="45000"/>
              <a:buFont typeface="Wingdings" charset="2"/>
              <a:buChar char=""/>
            </a:pPr>
            <a:r>
              <a:rPr b="0" lang="en-IN" sz="2800" spc="-1" strike="noStrike">
                <a:solidFill>
                  <a:srgbClr val="000000"/>
                </a:solidFill>
                <a:latin typeface="Times New Roman"/>
                <a:ea typeface="DejaVu Sans"/>
              </a:rPr>
              <a:t>Duplicating all section of the parent process (code,data,heap,stack).</a:t>
            </a:r>
            <a:endParaRPr b="0" lang="en-IN" sz="2800" spc="-1" strike="noStrike">
              <a:latin typeface="Arial"/>
            </a:endParaRPr>
          </a:p>
        </p:txBody>
      </p:sp>
      <p:sp>
        <p:nvSpPr>
          <p:cNvPr id="463" name="CustomShape 2"/>
          <p:cNvSpPr/>
          <p:nvPr/>
        </p:nvSpPr>
        <p:spPr>
          <a:xfrm>
            <a:off x="445680" y="30960"/>
            <a:ext cx="9055080" cy="600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Creating a Process using fork()</a:t>
            </a:r>
            <a:endParaRPr b="0" lang="en-IN" sz="3600" spc="-1" strike="noStrike">
              <a:latin typeface="Arial"/>
            </a:endParaRPr>
          </a:p>
        </p:txBody>
      </p:sp>
      <p:sp>
        <p:nvSpPr>
          <p:cNvPr id="464" name="CustomShape 3"/>
          <p:cNvSpPr/>
          <p:nvPr/>
        </p:nvSpPr>
        <p:spPr>
          <a:xfrm>
            <a:off x="5543280" y="2158920"/>
            <a:ext cx="3728160" cy="221652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1" lang="en-IN" sz="2800" spc="-1" strike="noStrike">
                <a:solidFill>
                  <a:srgbClr val="21409a"/>
                </a:solidFill>
                <a:latin typeface="Times New Roman"/>
                <a:ea typeface="DejaVu Sans"/>
              </a:rPr>
              <a:t>Output :</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p:txBody>
      </p:sp>
    </p:spTree>
  </p:cSld>
  <p:timing>
    <p:tnLst>
      <p:par>
        <p:cTn id="91" dur="indefinite" restart="never" nodeType="tmRoot">
          <p:childTnLst>
            <p:seq>
              <p:cTn id="92" dur="indefinite" nodeType="mainSeq">
                <p:childTnLst>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CustomShape 1"/>
          <p:cNvSpPr/>
          <p:nvPr/>
        </p:nvSpPr>
        <p:spPr>
          <a:xfrm>
            <a:off x="260640" y="756360"/>
            <a:ext cx="4547520" cy="4988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Arial"/>
                <a:ea typeface="DejaVu Sans"/>
              </a:rPr>
              <a:t>Ex</a:t>
            </a:r>
            <a:r>
              <a:rPr b="0" lang="en-IN" sz="3200" spc="-1" strike="noStrike">
                <a:solidFill>
                  <a:srgbClr val="a3238e"/>
                </a:solidFill>
                <a:latin typeface="Arial"/>
                <a:ea typeface="DejaVu Sans"/>
              </a:rPr>
              <a:t>:</a:t>
            </a:r>
            <a:endParaRPr b="0" lang="en-IN" sz="3200" spc="-1" strike="noStrike">
              <a:latin typeface="Arial"/>
            </a:endParaRPr>
          </a:p>
          <a:p>
            <a:pPr>
              <a:lnSpc>
                <a:spcPct val="100000"/>
              </a:lnSpc>
            </a:pPr>
            <a:r>
              <a:rPr b="0" lang="en-IN" sz="2800" spc="-1" strike="noStrike">
                <a:solidFill>
                  <a:srgbClr val="0000cc"/>
                </a:solidFill>
                <a:latin typeface="Times New Roman"/>
                <a:ea typeface="DejaVu Sans"/>
              </a:rPr>
              <a:t>0x1000 :</a:t>
            </a:r>
            <a:r>
              <a:rPr b="0" lang="en-IN" sz="2800" spc="-1" strike="noStrike">
                <a:solidFill>
                  <a:srgbClr val="000000"/>
                </a:solidFill>
                <a:latin typeface="Times New Roman"/>
                <a:ea typeface="DejaVu Sans"/>
              </a:rPr>
              <a:t> #include&lt;stdio.h&gt;</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0x1001 :</a:t>
            </a:r>
            <a:r>
              <a:rPr b="0" lang="en-IN" sz="2800" spc="-1" strike="noStrike">
                <a:solidFill>
                  <a:srgbClr val="000000"/>
                </a:solidFill>
                <a:latin typeface="Times New Roman"/>
                <a:ea typeface="DejaVu Sans"/>
              </a:rPr>
              <a:t> #include&lt;unistd.h&gt;</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0x1002 :</a:t>
            </a:r>
            <a:r>
              <a:rPr b="0" lang="en-IN" sz="2800" spc="-1" strike="noStrike">
                <a:solidFill>
                  <a:srgbClr val="000000"/>
                </a:solidFill>
                <a:latin typeface="Times New Roman"/>
                <a:ea typeface="DejaVu Sans"/>
              </a:rPr>
              <a:t> int main()</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0x1003 :</a:t>
            </a:r>
            <a:r>
              <a:rPr b="0" lang="en-IN" sz="2800" spc="-1" strike="noStrike">
                <a:solidFill>
                  <a:srgbClr val="000000"/>
                </a:solidFill>
                <a:latin typeface="Times New Roman"/>
                <a:ea typeface="DejaVu Sans"/>
              </a:rPr>
              <a:t> {</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0x1004 :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printf("hi..\n");</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0x1005 : </a:t>
            </a:r>
            <a:r>
              <a:rPr b="0" lang="en-IN" sz="2800" spc="-1" strike="noStrike">
                <a:solidFill>
                  <a:srgbClr val="000000"/>
                </a:solidFill>
                <a:latin typeface="Times New Roman"/>
                <a:ea typeface="DejaVu Sans"/>
              </a:rPr>
              <a:t>      fork();</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0x1006 :</a:t>
            </a:r>
            <a:r>
              <a:rPr b="0" lang="en-IN" sz="2800" spc="-1" strike="noStrike">
                <a:solidFill>
                  <a:srgbClr val="000000"/>
                </a:solidFill>
                <a:latin typeface="Times New Roman"/>
                <a:ea typeface="DejaVu Sans"/>
              </a:rPr>
              <a:t>       printf("hello..\n");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endParaRPr b="0" lang="en-IN" sz="2800" spc="-1" strike="noStrike">
              <a:latin typeface="Arial"/>
            </a:endParaRPr>
          </a:p>
        </p:txBody>
      </p:sp>
      <p:sp>
        <p:nvSpPr>
          <p:cNvPr id="466" name="CustomShape 2"/>
          <p:cNvSpPr/>
          <p:nvPr/>
        </p:nvSpPr>
        <p:spPr>
          <a:xfrm>
            <a:off x="445680" y="30960"/>
            <a:ext cx="9055080" cy="600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Creating a Process using fork()</a:t>
            </a:r>
            <a:endParaRPr b="0" lang="en-IN" sz="3600" spc="-1" strike="noStrike">
              <a:latin typeface="Arial"/>
            </a:endParaRPr>
          </a:p>
        </p:txBody>
      </p:sp>
      <p:sp>
        <p:nvSpPr>
          <p:cNvPr id="467" name="CustomShape 3"/>
          <p:cNvSpPr/>
          <p:nvPr/>
        </p:nvSpPr>
        <p:spPr>
          <a:xfrm>
            <a:off x="5111280" y="791280"/>
            <a:ext cx="4736520" cy="4736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Arial"/>
                <a:ea typeface="DejaVu Sans"/>
              </a:rPr>
              <a:t>Ex</a:t>
            </a:r>
            <a:r>
              <a:rPr b="0" lang="en-IN" sz="3200" spc="-1" strike="noStrike">
                <a:solidFill>
                  <a:srgbClr val="a3238e"/>
                </a:solidFill>
                <a:latin typeface="Arial"/>
                <a:ea typeface="DejaVu Sans"/>
              </a:rPr>
              <a:t>:</a:t>
            </a:r>
            <a:endParaRPr b="0" lang="en-IN" sz="3200" spc="-1" strike="noStrike">
              <a:latin typeface="Arial"/>
            </a:endParaRPr>
          </a:p>
          <a:p>
            <a:pPr>
              <a:lnSpc>
                <a:spcPct val="100000"/>
              </a:lnSpc>
            </a:pPr>
            <a:r>
              <a:rPr b="0" lang="en-IN" sz="2800" spc="-1" strike="noStrike">
                <a:solidFill>
                  <a:srgbClr val="0000cc"/>
                </a:solidFill>
                <a:latin typeface="Times New Roman"/>
                <a:ea typeface="DejaVu Sans"/>
              </a:rPr>
              <a:t>0x1000 :</a:t>
            </a:r>
            <a:r>
              <a:rPr b="0" lang="en-IN" sz="2800" spc="-1" strike="noStrike">
                <a:solidFill>
                  <a:srgbClr val="ed1c24"/>
                </a:solidFill>
                <a:latin typeface="Times New Roman"/>
                <a:ea typeface="DejaVu Sans"/>
              </a:rPr>
              <a:t> #include&lt;stdio.h&gt;</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0x1001 :</a:t>
            </a:r>
            <a:r>
              <a:rPr b="0" lang="en-IN" sz="2800" spc="-1" strike="noStrike">
                <a:solidFill>
                  <a:srgbClr val="000000"/>
                </a:solidFill>
                <a:latin typeface="Times New Roman"/>
                <a:ea typeface="DejaVu Sans"/>
              </a:rPr>
              <a:t> </a:t>
            </a:r>
            <a:r>
              <a:rPr b="0" lang="en-IN" sz="2800" spc="-1" strike="noStrike">
                <a:solidFill>
                  <a:srgbClr val="ce181e"/>
                </a:solidFill>
                <a:latin typeface="Times New Roman"/>
                <a:ea typeface="DejaVu Sans"/>
              </a:rPr>
              <a:t>#include&lt;unistd.h&gt;</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0x1002 :</a:t>
            </a:r>
            <a:r>
              <a:rPr b="0" lang="en-IN" sz="2800" spc="-1" strike="noStrike">
                <a:solidFill>
                  <a:srgbClr val="000000"/>
                </a:solidFill>
                <a:latin typeface="Times New Roman"/>
                <a:ea typeface="DejaVu Sans"/>
              </a:rPr>
              <a:t> </a:t>
            </a:r>
            <a:r>
              <a:rPr b="0" lang="en-IN" sz="2800" spc="-1" strike="noStrike">
                <a:solidFill>
                  <a:srgbClr val="ce181e"/>
                </a:solidFill>
                <a:latin typeface="Times New Roman"/>
                <a:ea typeface="DejaVu Sans"/>
              </a:rPr>
              <a:t>int main()</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0x1003 :</a:t>
            </a:r>
            <a:r>
              <a:rPr b="0" lang="en-IN" sz="2800" spc="-1" strike="noStrike">
                <a:solidFill>
                  <a:srgbClr val="ce181e"/>
                </a:solidFill>
                <a:latin typeface="Times New Roman"/>
                <a:ea typeface="DejaVu Sans"/>
              </a:rPr>
              <a:t> {</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0x1004 :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ce181e"/>
                </a:solidFill>
                <a:latin typeface="Times New Roman"/>
                <a:ea typeface="DejaVu Sans"/>
              </a:rPr>
              <a:t> printf("hi..\n");</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0x1005 : </a:t>
            </a:r>
            <a:r>
              <a:rPr b="0" lang="en-IN" sz="2800" spc="-1" strike="noStrike">
                <a:solidFill>
                  <a:srgbClr val="000000"/>
                </a:solidFill>
                <a:latin typeface="Times New Roman"/>
                <a:ea typeface="DejaVu Sans"/>
              </a:rPr>
              <a:t>      </a:t>
            </a:r>
            <a:r>
              <a:rPr b="0" lang="en-IN" sz="2800" spc="-1" strike="noStrike">
                <a:solidFill>
                  <a:srgbClr val="ce181e"/>
                </a:solidFill>
                <a:latin typeface="Times New Roman"/>
                <a:ea typeface="DejaVu Sans"/>
              </a:rPr>
              <a:t>fork();</a:t>
            </a:r>
            <a:endParaRPr b="0" lang="en-IN" sz="2800" spc="-1" strike="noStrike">
              <a:latin typeface="Arial"/>
            </a:endParaRPr>
          </a:p>
          <a:p>
            <a:pPr>
              <a:lnSpc>
                <a:spcPct val="100000"/>
              </a:lnSpc>
            </a:pPr>
            <a:r>
              <a:rPr b="0" lang="en-IN" sz="2800" spc="-1" strike="noStrike">
                <a:solidFill>
                  <a:srgbClr val="0000cc"/>
                </a:solidFill>
                <a:latin typeface="Times New Roman"/>
                <a:ea typeface="DejaVu Sans"/>
              </a:rPr>
              <a:t>0x1006 :</a:t>
            </a:r>
            <a:r>
              <a:rPr b="0" lang="en-IN" sz="2800" spc="-1" strike="noStrike">
                <a:solidFill>
                  <a:srgbClr val="000000"/>
                </a:solidFill>
                <a:latin typeface="Times New Roman"/>
                <a:ea typeface="DejaVu Sans"/>
              </a:rPr>
              <a:t>       printf("hello..\n");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endParaRPr b="0" lang="en-IN" sz="2800" spc="-1" strike="noStrike">
              <a:latin typeface="Arial"/>
            </a:endParaRPr>
          </a:p>
        </p:txBody>
      </p:sp>
      <p:sp>
        <p:nvSpPr>
          <p:cNvPr id="468" name="Line 4"/>
          <p:cNvSpPr/>
          <p:nvPr/>
        </p:nvSpPr>
        <p:spPr>
          <a:xfrm>
            <a:off x="4823640" y="646200"/>
            <a:ext cx="360" cy="4249080"/>
          </a:xfrm>
          <a:prstGeom prst="line">
            <a:avLst/>
          </a:prstGeom>
          <a:ln>
            <a:solidFill>
              <a:srgbClr val="000000"/>
            </a:solidFill>
          </a:ln>
        </p:spPr>
        <p:style>
          <a:lnRef idx="0"/>
          <a:fillRef idx="0"/>
          <a:effectRef idx="0"/>
          <a:fontRef idx="minor"/>
        </p:style>
      </p:sp>
      <p:sp>
        <p:nvSpPr>
          <p:cNvPr id="469" name="Line 5"/>
          <p:cNvSpPr/>
          <p:nvPr/>
        </p:nvSpPr>
        <p:spPr>
          <a:xfrm>
            <a:off x="71640" y="4895280"/>
            <a:ext cx="9791280" cy="360"/>
          </a:xfrm>
          <a:prstGeom prst="line">
            <a:avLst/>
          </a:prstGeom>
          <a:ln>
            <a:solidFill>
              <a:srgbClr val="000000"/>
            </a:solidFill>
          </a:ln>
        </p:spPr>
        <p:style>
          <a:lnRef idx="0"/>
          <a:fillRef idx="0"/>
          <a:effectRef idx="0"/>
          <a:fontRef idx="minor"/>
        </p:style>
      </p:sp>
      <p:sp>
        <p:nvSpPr>
          <p:cNvPr id="470" name="Line 6"/>
          <p:cNvSpPr/>
          <p:nvPr/>
        </p:nvSpPr>
        <p:spPr>
          <a:xfrm>
            <a:off x="71640" y="646920"/>
            <a:ext cx="360" cy="4248360"/>
          </a:xfrm>
          <a:prstGeom prst="line">
            <a:avLst/>
          </a:prstGeom>
          <a:ln>
            <a:solidFill>
              <a:srgbClr val="000000"/>
            </a:solidFill>
          </a:ln>
        </p:spPr>
        <p:style>
          <a:lnRef idx="0"/>
          <a:fillRef idx="0"/>
          <a:effectRef idx="0"/>
          <a:fontRef idx="minor"/>
        </p:style>
      </p:sp>
      <p:sp>
        <p:nvSpPr>
          <p:cNvPr id="471" name="Line 7"/>
          <p:cNvSpPr/>
          <p:nvPr/>
        </p:nvSpPr>
        <p:spPr>
          <a:xfrm>
            <a:off x="9863280" y="646920"/>
            <a:ext cx="360" cy="4249080"/>
          </a:xfrm>
          <a:prstGeom prst="line">
            <a:avLst/>
          </a:prstGeom>
          <a:ln>
            <a:solidFill>
              <a:srgbClr val="000000"/>
            </a:solidFill>
          </a:ln>
        </p:spPr>
        <p:style>
          <a:lnRef idx="0"/>
          <a:fillRef idx="0"/>
          <a:effectRef idx="0"/>
          <a:fontRef idx="minor"/>
        </p:style>
      </p:sp>
      <p:sp>
        <p:nvSpPr>
          <p:cNvPr id="472" name="Line 8"/>
          <p:cNvSpPr/>
          <p:nvPr/>
        </p:nvSpPr>
        <p:spPr>
          <a:xfrm>
            <a:off x="71640" y="646920"/>
            <a:ext cx="9791280" cy="360"/>
          </a:xfrm>
          <a:prstGeom prst="line">
            <a:avLst/>
          </a:prstGeom>
          <a:ln>
            <a:solidFill>
              <a:srgbClr val="000000"/>
            </a:solidFill>
          </a:ln>
        </p:spPr>
        <p:style>
          <a:lnRef idx="0"/>
          <a:fillRef idx="0"/>
          <a:effectRef idx="0"/>
          <a:fontRef idx="minor"/>
        </p:style>
      </p:sp>
      <p:sp>
        <p:nvSpPr>
          <p:cNvPr id="473" name="Line 9"/>
          <p:cNvSpPr/>
          <p:nvPr/>
        </p:nvSpPr>
        <p:spPr>
          <a:xfrm>
            <a:off x="3167640" y="3383280"/>
            <a:ext cx="1872000" cy="360"/>
          </a:xfrm>
          <a:prstGeom prst="line">
            <a:avLst/>
          </a:prstGeom>
          <a:ln>
            <a:solidFill>
              <a:srgbClr val="000000"/>
            </a:solidFill>
            <a:tailEnd len="med" type="triangle" w="med"/>
          </a:ln>
        </p:spPr>
        <p:style>
          <a:lnRef idx="0"/>
          <a:fillRef idx="0"/>
          <a:effectRef idx="0"/>
          <a:fontRef idx="minor"/>
        </p:style>
      </p:sp>
      <p:sp>
        <p:nvSpPr>
          <p:cNvPr id="474" name="CustomShape 10"/>
          <p:cNvSpPr/>
          <p:nvPr/>
        </p:nvSpPr>
        <p:spPr>
          <a:xfrm>
            <a:off x="1223640" y="525600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PID</a:t>
            </a:r>
            <a:endParaRPr b="0" lang="en-IN" sz="1800" spc="-1" strike="noStrike">
              <a:latin typeface="Arial"/>
            </a:endParaRPr>
          </a:p>
        </p:txBody>
      </p:sp>
      <p:sp>
        <p:nvSpPr>
          <p:cNvPr id="475" name="CustomShape 11"/>
          <p:cNvSpPr/>
          <p:nvPr/>
        </p:nvSpPr>
        <p:spPr>
          <a:xfrm>
            <a:off x="2042640" y="525600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2288</a:t>
            </a:r>
            <a:endParaRPr b="0" lang="en-IN" sz="1800" spc="-1" strike="noStrike">
              <a:latin typeface="Arial"/>
            </a:endParaRPr>
          </a:p>
        </p:txBody>
      </p:sp>
      <p:sp>
        <p:nvSpPr>
          <p:cNvPr id="476" name="CustomShape 12"/>
          <p:cNvSpPr/>
          <p:nvPr/>
        </p:nvSpPr>
        <p:spPr>
          <a:xfrm>
            <a:off x="1223640" y="557208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IR</a:t>
            </a:r>
            <a:endParaRPr b="0" lang="en-IN" sz="1800" spc="-1" strike="noStrike">
              <a:latin typeface="Arial"/>
            </a:endParaRPr>
          </a:p>
        </p:txBody>
      </p:sp>
      <p:sp>
        <p:nvSpPr>
          <p:cNvPr id="477" name="CustomShape 13"/>
          <p:cNvSpPr/>
          <p:nvPr/>
        </p:nvSpPr>
        <p:spPr>
          <a:xfrm>
            <a:off x="2042640" y="557208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0x1005</a:t>
            </a:r>
            <a:endParaRPr b="0" lang="en-IN" sz="1800" spc="-1" strike="noStrike">
              <a:latin typeface="Arial"/>
            </a:endParaRPr>
          </a:p>
        </p:txBody>
      </p:sp>
      <p:sp>
        <p:nvSpPr>
          <p:cNvPr id="478" name="CustomShape 14"/>
          <p:cNvSpPr/>
          <p:nvPr/>
        </p:nvSpPr>
        <p:spPr>
          <a:xfrm>
            <a:off x="1223640" y="588924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PC</a:t>
            </a:r>
            <a:endParaRPr b="0" lang="en-IN" sz="1800" spc="-1" strike="noStrike">
              <a:latin typeface="Arial"/>
            </a:endParaRPr>
          </a:p>
        </p:txBody>
      </p:sp>
      <p:sp>
        <p:nvSpPr>
          <p:cNvPr id="479" name="CustomShape 15"/>
          <p:cNvSpPr/>
          <p:nvPr/>
        </p:nvSpPr>
        <p:spPr>
          <a:xfrm>
            <a:off x="2042640" y="588924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0x1006</a:t>
            </a:r>
            <a:endParaRPr b="0" lang="en-IN" sz="1800" spc="-1" strike="noStrike">
              <a:latin typeface="Arial"/>
            </a:endParaRPr>
          </a:p>
        </p:txBody>
      </p:sp>
      <p:sp>
        <p:nvSpPr>
          <p:cNvPr id="480" name="CustomShape 16"/>
          <p:cNvSpPr/>
          <p:nvPr/>
        </p:nvSpPr>
        <p:spPr>
          <a:xfrm>
            <a:off x="1223640" y="620640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SP</a:t>
            </a:r>
            <a:endParaRPr b="0" lang="en-IN" sz="1800" spc="-1" strike="noStrike">
              <a:latin typeface="Arial"/>
            </a:endParaRPr>
          </a:p>
        </p:txBody>
      </p:sp>
      <p:sp>
        <p:nvSpPr>
          <p:cNvPr id="481" name="CustomShape 17"/>
          <p:cNvSpPr/>
          <p:nvPr/>
        </p:nvSpPr>
        <p:spPr>
          <a:xfrm>
            <a:off x="2042640" y="620640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0x2345</a:t>
            </a:r>
            <a:endParaRPr b="0" lang="en-IN" sz="1800" spc="-1" strike="noStrike">
              <a:latin typeface="Arial"/>
            </a:endParaRPr>
          </a:p>
        </p:txBody>
      </p:sp>
      <p:sp>
        <p:nvSpPr>
          <p:cNvPr id="482" name="CustomShape 18"/>
          <p:cNvSpPr/>
          <p:nvPr/>
        </p:nvSpPr>
        <p:spPr>
          <a:xfrm>
            <a:off x="1223640" y="652248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83" name="CustomShape 19"/>
          <p:cNvSpPr/>
          <p:nvPr/>
        </p:nvSpPr>
        <p:spPr>
          <a:xfrm>
            <a:off x="2042640" y="652248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84" name="CustomShape 20"/>
          <p:cNvSpPr/>
          <p:nvPr/>
        </p:nvSpPr>
        <p:spPr>
          <a:xfrm>
            <a:off x="1223640" y="6839640"/>
            <a:ext cx="803880" cy="27252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85" name="CustomShape 21"/>
          <p:cNvSpPr/>
          <p:nvPr/>
        </p:nvSpPr>
        <p:spPr>
          <a:xfrm>
            <a:off x="2042640" y="6839640"/>
            <a:ext cx="1181880" cy="27252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86" name="CustomShape 22"/>
          <p:cNvSpPr/>
          <p:nvPr/>
        </p:nvSpPr>
        <p:spPr>
          <a:xfrm>
            <a:off x="6263280" y="532764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PID</a:t>
            </a:r>
            <a:endParaRPr b="0" lang="en-IN" sz="1800" spc="-1" strike="noStrike">
              <a:latin typeface="Arial"/>
            </a:endParaRPr>
          </a:p>
        </p:txBody>
      </p:sp>
      <p:sp>
        <p:nvSpPr>
          <p:cNvPr id="487" name="CustomShape 23"/>
          <p:cNvSpPr/>
          <p:nvPr/>
        </p:nvSpPr>
        <p:spPr>
          <a:xfrm>
            <a:off x="7082280" y="532764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2289</a:t>
            </a:r>
            <a:endParaRPr b="0" lang="en-IN" sz="1800" spc="-1" strike="noStrike">
              <a:latin typeface="Arial"/>
            </a:endParaRPr>
          </a:p>
        </p:txBody>
      </p:sp>
      <p:sp>
        <p:nvSpPr>
          <p:cNvPr id="488" name="CustomShape 24"/>
          <p:cNvSpPr/>
          <p:nvPr/>
        </p:nvSpPr>
        <p:spPr>
          <a:xfrm>
            <a:off x="6263280" y="564480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IR</a:t>
            </a:r>
            <a:endParaRPr b="0" lang="en-IN" sz="1800" spc="-1" strike="noStrike">
              <a:latin typeface="Arial"/>
            </a:endParaRPr>
          </a:p>
        </p:txBody>
      </p:sp>
      <p:sp>
        <p:nvSpPr>
          <p:cNvPr id="489" name="CustomShape 25"/>
          <p:cNvSpPr/>
          <p:nvPr/>
        </p:nvSpPr>
        <p:spPr>
          <a:xfrm>
            <a:off x="7082280" y="564480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0x1005</a:t>
            </a:r>
            <a:endParaRPr b="0" lang="en-IN" sz="1800" spc="-1" strike="noStrike">
              <a:latin typeface="Arial"/>
            </a:endParaRPr>
          </a:p>
        </p:txBody>
      </p:sp>
      <p:sp>
        <p:nvSpPr>
          <p:cNvPr id="490" name="CustomShape 26"/>
          <p:cNvSpPr/>
          <p:nvPr/>
        </p:nvSpPr>
        <p:spPr>
          <a:xfrm>
            <a:off x="6263280" y="596088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PC</a:t>
            </a:r>
            <a:endParaRPr b="0" lang="en-IN" sz="1800" spc="-1" strike="noStrike">
              <a:latin typeface="Arial"/>
            </a:endParaRPr>
          </a:p>
        </p:txBody>
      </p:sp>
      <p:sp>
        <p:nvSpPr>
          <p:cNvPr id="491" name="CustomShape 27"/>
          <p:cNvSpPr/>
          <p:nvPr/>
        </p:nvSpPr>
        <p:spPr>
          <a:xfrm>
            <a:off x="7082280" y="596088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0x1006</a:t>
            </a:r>
            <a:endParaRPr b="0" lang="en-IN" sz="1800" spc="-1" strike="noStrike">
              <a:latin typeface="Arial"/>
            </a:endParaRPr>
          </a:p>
        </p:txBody>
      </p:sp>
      <p:sp>
        <p:nvSpPr>
          <p:cNvPr id="492" name="CustomShape 28"/>
          <p:cNvSpPr/>
          <p:nvPr/>
        </p:nvSpPr>
        <p:spPr>
          <a:xfrm>
            <a:off x="6263280" y="627804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SP</a:t>
            </a:r>
            <a:endParaRPr b="0" lang="en-IN" sz="1800" spc="-1" strike="noStrike">
              <a:latin typeface="Arial"/>
            </a:endParaRPr>
          </a:p>
        </p:txBody>
      </p:sp>
      <p:sp>
        <p:nvSpPr>
          <p:cNvPr id="493" name="CustomShape 29"/>
          <p:cNvSpPr/>
          <p:nvPr/>
        </p:nvSpPr>
        <p:spPr>
          <a:xfrm>
            <a:off x="7082280" y="627804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0x2345</a:t>
            </a:r>
            <a:endParaRPr b="0" lang="en-IN" sz="1800" spc="-1" strike="noStrike">
              <a:latin typeface="Arial"/>
            </a:endParaRPr>
          </a:p>
        </p:txBody>
      </p:sp>
      <p:sp>
        <p:nvSpPr>
          <p:cNvPr id="494" name="CustomShape 30"/>
          <p:cNvSpPr/>
          <p:nvPr/>
        </p:nvSpPr>
        <p:spPr>
          <a:xfrm>
            <a:off x="6263280" y="6595200"/>
            <a:ext cx="803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95" name="CustomShape 31"/>
          <p:cNvSpPr/>
          <p:nvPr/>
        </p:nvSpPr>
        <p:spPr>
          <a:xfrm>
            <a:off x="7082280" y="6595200"/>
            <a:ext cx="1181880" cy="301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96" name="CustomShape 32"/>
          <p:cNvSpPr/>
          <p:nvPr/>
        </p:nvSpPr>
        <p:spPr>
          <a:xfrm>
            <a:off x="6263280" y="6911280"/>
            <a:ext cx="803880" cy="27252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97" name="CustomShape 33"/>
          <p:cNvSpPr/>
          <p:nvPr/>
        </p:nvSpPr>
        <p:spPr>
          <a:xfrm>
            <a:off x="7082280" y="6911280"/>
            <a:ext cx="1181880" cy="27252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1800" spc="-1" strike="noStrike">
                <a:solidFill>
                  <a:srgbClr val="000000"/>
                </a:solidFill>
                <a:latin typeface="Arial"/>
                <a:ea typeface="DejaVu Sans"/>
              </a:rPr>
              <a:t>--</a:t>
            </a:r>
            <a:endParaRPr b="0" lang="en-IN" sz="1800" spc="-1" strike="noStrike">
              <a:latin typeface="Arial"/>
            </a:endParaRPr>
          </a:p>
        </p:txBody>
      </p:sp>
      <p:sp>
        <p:nvSpPr>
          <p:cNvPr id="498" name="CustomShape 34"/>
          <p:cNvSpPr/>
          <p:nvPr/>
        </p:nvSpPr>
        <p:spPr>
          <a:xfrm>
            <a:off x="1382400" y="4895280"/>
            <a:ext cx="1780920" cy="331200"/>
          </a:xfrm>
          <a:prstGeom prst="rect">
            <a:avLst/>
          </a:prstGeom>
          <a:noFill/>
          <a:ln>
            <a:noFill/>
          </a:ln>
        </p:spPr>
        <p:style>
          <a:lnRef idx="0"/>
          <a:fillRef idx="0"/>
          <a:effectRef idx="0"/>
          <a:fontRef idx="minor"/>
        </p:style>
        <p:txBody>
          <a:bodyPr lIns="90000" rIns="90000" tIns="45000" bIns="45000"/>
          <a:p>
            <a:pPr>
              <a:lnSpc>
                <a:spcPct val="100000"/>
              </a:lnSpc>
            </a:pPr>
            <a:r>
              <a:rPr b="1" lang="en-IN" sz="1800" spc="-1" strike="noStrike">
                <a:solidFill>
                  <a:srgbClr val="a3238e"/>
                </a:solidFill>
                <a:latin typeface="Arial"/>
                <a:ea typeface="DejaVu Sans"/>
              </a:rPr>
              <a:t>Parent PCB</a:t>
            </a:r>
            <a:endParaRPr b="0" lang="en-IN" sz="1800" spc="-1" strike="noStrike">
              <a:latin typeface="Arial"/>
            </a:endParaRPr>
          </a:p>
        </p:txBody>
      </p:sp>
      <p:sp>
        <p:nvSpPr>
          <p:cNvPr id="499" name="CustomShape 35"/>
          <p:cNvSpPr/>
          <p:nvPr/>
        </p:nvSpPr>
        <p:spPr>
          <a:xfrm>
            <a:off x="6480000" y="4981320"/>
            <a:ext cx="1863000" cy="331200"/>
          </a:xfrm>
          <a:prstGeom prst="rect">
            <a:avLst/>
          </a:prstGeom>
          <a:noFill/>
          <a:ln>
            <a:noFill/>
          </a:ln>
        </p:spPr>
        <p:style>
          <a:lnRef idx="0"/>
          <a:fillRef idx="0"/>
          <a:effectRef idx="0"/>
          <a:fontRef idx="minor"/>
        </p:style>
        <p:txBody>
          <a:bodyPr lIns="90000" rIns="90000" tIns="45000" bIns="45000"/>
          <a:p>
            <a:pPr>
              <a:lnSpc>
                <a:spcPct val="100000"/>
              </a:lnSpc>
            </a:pPr>
            <a:r>
              <a:rPr b="1" lang="en-IN" sz="1800" spc="-1" strike="noStrike">
                <a:solidFill>
                  <a:srgbClr val="a3238e"/>
                </a:solidFill>
                <a:latin typeface="Arial"/>
                <a:ea typeface="DejaVu Sans"/>
              </a:rPr>
              <a:t>Child PCB</a:t>
            </a:r>
            <a:endParaRPr b="0" lang="en-IN" sz="1800" spc="-1" strike="noStrike">
              <a:latin typeface="Arial"/>
            </a:endParaRPr>
          </a:p>
        </p:txBody>
      </p:sp>
    </p:spTree>
  </p:cSld>
  <p:timing>
    <p:tnLst>
      <p:par>
        <p:cTn id="97" dur="indefinite" restart="never" nodeType="tmRoot">
          <p:childTnLst>
            <p:seq>
              <p:cTn id="98" dur="indefinite" nodeType="mainSeq"/>
              <p:prevCondLst>
                <p:cond delay="0" evt="onPrev">
                  <p:tgtEl>
                    <p:sldTgt/>
                  </p:tgtEl>
                </p:cond>
              </p:prevCondLst>
              <p:nextCondLst>
                <p:cond delay="0"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CustomShape 1"/>
          <p:cNvSpPr/>
          <p:nvPr/>
        </p:nvSpPr>
        <p:spPr>
          <a:xfrm>
            <a:off x="503640" y="223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fork() process</a:t>
            </a:r>
            <a:endParaRPr b="0" lang="en-IN" sz="4000" spc="-1" strike="noStrike">
              <a:latin typeface="Arial"/>
            </a:endParaRPr>
          </a:p>
        </p:txBody>
      </p:sp>
      <p:sp>
        <p:nvSpPr>
          <p:cNvPr id="501" name="CustomShape 2"/>
          <p:cNvSpPr/>
          <p:nvPr/>
        </p:nvSpPr>
        <p:spPr>
          <a:xfrm>
            <a:off x="431640" y="864000"/>
            <a:ext cx="9415800" cy="61772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Ex</a:t>
            </a:r>
            <a:r>
              <a:rPr b="0" lang="en-IN" sz="3200" spc="-1" strike="noStrike">
                <a:solidFill>
                  <a:srgbClr val="a3238e"/>
                </a:solidFill>
                <a:latin typeface="Times New Roman"/>
                <a:ea typeface="DejaVu Sans"/>
              </a:rPr>
              <a:t>:</a:t>
            </a:r>
            <a:endParaRPr b="0" lang="en-IN" sz="32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printf("hello \n");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printf("bye..\n");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p:txBody>
      </p:sp>
      <p:sp>
        <p:nvSpPr>
          <p:cNvPr id="502" name="CustomShape 3"/>
          <p:cNvSpPr/>
          <p:nvPr/>
        </p:nvSpPr>
        <p:spPr>
          <a:xfrm>
            <a:off x="5111280" y="1294920"/>
            <a:ext cx="3728160" cy="387360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1" lang="en-IN" sz="2800" spc="-1" strike="noStrike">
                <a:solidFill>
                  <a:srgbClr val="21409a"/>
                </a:solidFill>
                <a:latin typeface="Times New Roman"/>
                <a:ea typeface="DejaVu Sans"/>
              </a:rPr>
              <a:t>Output :</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bye..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bye..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bye..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bye..</a:t>
            </a:r>
            <a:endParaRPr b="0" lang="en-IN" sz="2800" spc="-1" strike="noStrike">
              <a:latin typeface="Arial"/>
            </a:endParaRPr>
          </a:p>
        </p:txBody>
      </p:sp>
    </p:spTree>
  </p:cSld>
  <p:timing>
    <p:tnLst>
      <p:par>
        <p:cTn id="99" dur="indefinite" restart="never" nodeType="tmRoot">
          <p:childTnLst>
            <p:seq>
              <p:cTn id="100" dur="indefinite" nodeType="mainSeq">
                <p:childTnLst>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CustomShape 1"/>
          <p:cNvSpPr/>
          <p:nvPr/>
        </p:nvSpPr>
        <p:spPr>
          <a:xfrm>
            <a:off x="73080" y="7128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fork() process       </a:t>
            </a:r>
            <a:endParaRPr b="0" lang="en-IN" sz="4000" spc="-1" strike="noStrike">
              <a:latin typeface="Arial"/>
            </a:endParaRPr>
          </a:p>
        </p:txBody>
      </p:sp>
      <p:sp>
        <p:nvSpPr>
          <p:cNvPr id="504" name="CustomShape 2"/>
          <p:cNvSpPr/>
          <p:nvPr/>
        </p:nvSpPr>
        <p:spPr>
          <a:xfrm>
            <a:off x="431640" y="864000"/>
            <a:ext cx="9415800" cy="61772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Ex</a:t>
            </a:r>
            <a:r>
              <a:rPr b="0" lang="en-IN" sz="3200" spc="-1" strike="noStrike">
                <a:solidFill>
                  <a:srgbClr val="a3238e"/>
                </a:solidFill>
                <a:latin typeface="Times New Roman"/>
                <a:ea typeface="DejaVu Sans"/>
              </a:rPr>
              <a:t>:</a:t>
            </a:r>
            <a:endParaRPr b="0" lang="en-IN" sz="32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printf("hello..\n");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printf("vector\n");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printf("India\n");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endParaRPr b="0" lang="en-IN" sz="2800" spc="-1" strike="noStrike">
              <a:latin typeface="Arial"/>
            </a:endParaRPr>
          </a:p>
        </p:txBody>
      </p:sp>
      <p:sp>
        <p:nvSpPr>
          <p:cNvPr id="505" name="CustomShape 3"/>
          <p:cNvSpPr/>
          <p:nvPr/>
        </p:nvSpPr>
        <p:spPr>
          <a:xfrm>
            <a:off x="5976000" y="1080"/>
            <a:ext cx="3728160" cy="75448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1" lang="en-IN" sz="2800" spc="-1" strike="noStrike">
                <a:solidFill>
                  <a:srgbClr val="21409a"/>
                </a:solidFill>
                <a:latin typeface="Times New Roman"/>
                <a:ea typeface="DejaVu Sans"/>
              </a:rPr>
              <a:t>Output :</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vector</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hello..</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vector</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vector</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vector</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India</a:t>
            </a:r>
            <a:endParaRPr b="0" lang="en-IN" sz="2800" spc="-1" strike="noStrike">
              <a:latin typeface="Arial"/>
            </a:endParaRPr>
          </a:p>
          <a:p>
            <a:pPr>
              <a:lnSpc>
                <a:spcPct val="100000"/>
              </a:lnSpc>
            </a:pPr>
            <a:endParaRPr b="0" lang="en-IN" sz="2800" spc="-1" strike="noStrike">
              <a:latin typeface="Arial"/>
            </a:endParaRPr>
          </a:p>
        </p:txBody>
      </p:sp>
    </p:spTree>
  </p:cSld>
  <p:timing>
    <p:tnLst>
      <p:par>
        <p:cTn id="105" dur="indefinite" restart="never" nodeType="tmRoot">
          <p:childTnLst>
            <p:seq>
              <p:cTn id="106" dur="indefinite" nodeType="mainSeq">
                <p:childTnLst>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505"/>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CustomShape 1"/>
          <p:cNvSpPr/>
          <p:nvPr/>
        </p:nvSpPr>
        <p:spPr>
          <a:xfrm>
            <a:off x="503640" y="223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fork() return value</a:t>
            </a:r>
            <a:endParaRPr b="0" lang="en-IN" sz="4000" spc="-1" strike="noStrike">
              <a:latin typeface="Arial"/>
            </a:endParaRPr>
          </a:p>
        </p:txBody>
      </p:sp>
      <p:sp>
        <p:nvSpPr>
          <p:cNvPr id="507" name="CustomShape 2"/>
          <p:cNvSpPr/>
          <p:nvPr/>
        </p:nvSpPr>
        <p:spPr>
          <a:xfrm>
            <a:off x="71640" y="575280"/>
            <a:ext cx="9775800" cy="66103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buClr>
                <a:srgbClr val="000000"/>
              </a:buClr>
              <a:buFont typeface="Wingdings" charset="2"/>
              <a:buChar char=""/>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ret = fork();</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if(ret == 0) </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printf("Exclusively child process\n");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printf("Exclusively parent process\n");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111" dur="indefinite" restart="never" nodeType="tmRoot">
          <p:childTnLst>
            <p:seq>
              <p:cTn id="112" dur="indefinite" nodeType="mainSeq"/>
              <p:prevCondLst>
                <p:cond delay="0" evt="onPrev">
                  <p:tgtEl>
                    <p:sldTgt/>
                  </p:tgtEl>
                </p:cond>
              </p:prevCondLst>
              <p:nextCondLst>
                <p:cond delay="0"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CustomShape 1"/>
          <p:cNvSpPr/>
          <p:nvPr/>
        </p:nvSpPr>
        <p:spPr>
          <a:xfrm>
            <a:off x="503640" y="30024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system() vs fork()</a:t>
            </a:r>
            <a:endParaRPr b="0" lang="en-IN" sz="4400" spc="-1" strike="noStrike">
              <a:latin typeface="Arial"/>
            </a:endParaRPr>
          </a:p>
        </p:txBody>
      </p:sp>
      <p:sp>
        <p:nvSpPr>
          <p:cNvPr id="509" name="CustomShape 2"/>
          <p:cNvSpPr/>
          <p:nvPr/>
        </p:nvSpPr>
        <p:spPr>
          <a:xfrm>
            <a:off x="503640" y="1223280"/>
            <a:ext cx="9055080" cy="588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with respect to fork()</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u="sng">
                <a:solidFill>
                  <a:srgbClr val="a3238e"/>
                </a:solidFill>
                <a:uFillTx/>
                <a:latin typeface="Times New Roman"/>
                <a:ea typeface="DejaVu Sans"/>
              </a:rPr>
              <a:t>ex</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#include&lt;stdio.h&gt;</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int main()</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system(“./p1”);</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system(“pwd”);</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In fork() used to achive the concurent process.</a:t>
            </a:r>
            <a:endParaRPr b="0" lang="en-IN" sz="28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800" spc="-1" strike="noStrike">
                <a:solidFill>
                  <a:srgbClr val="000000"/>
                </a:solidFill>
                <a:latin typeface="Times New Roman"/>
                <a:ea typeface="DejaVu Sans"/>
              </a:rPr>
              <a:t>In parent &amp; child relation,parent jobs are running as foreground. and child jobs are running as background.</a:t>
            </a:r>
            <a:endParaRPr b="0" lang="en-IN" sz="2800" spc="-1" strike="noStrike">
              <a:latin typeface="Arial"/>
            </a:endParaRPr>
          </a:p>
        </p:txBody>
      </p:sp>
    </p:spTree>
  </p:cSld>
  <p:timing>
    <p:tnLst>
      <p:par>
        <p:cTn id="113" dur="indefinite" restart="never" nodeType="tmRoot">
          <p:childTnLst>
            <p:seq>
              <p:cTn id="114" dur="indefinite" nodeType="mainSeq"/>
              <p:prevCondLst>
                <p:cond delay="0" evt="onPrev">
                  <p:tgtEl>
                    <p:sldTgt/>
                  </p:tgtEl>
                </p:cond>
              </p:prevCondLst>
              <p:nextCondLst>
                <p:cond delay="0"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CustomShape 1"/>
          <p:cNvSpPr/>
          <p:nvPr/>
        </p:nvSpPr>
        <p:spPr>
          <a:xfrm>
            <a:off x="581040" y="1764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system() vs fork()</a:t>
            </a:r>
            <a:endParaRPr b="0" lang="en-IN" sz="4400" spc="-1" strike="noStrike">
              <a:latin typeface="Arial"/>
            </a:endParaRPr>
          </a:p>
        </p:txBody>
      </p:sp>
      <p:sp>
        <p:nvSpPr>
          <p:cNvPr id="511" name="CustomShape 2"/>
          <p:cNvSpPr/>
          <p:nvPr/>
        </p:nvSpPr>
        <p:spPr>
          <a:xfrm>
            <a:off x="215640" y="791280"/>
            <a:ext cx="9564480" cy="64695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Generally PCB’s are stored in kernel stack memory.</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u="sng">
                <a:solidFill>
                  <a:srgbClr val="a3238e"/>
                </a:solidFill>
                <a:uFillTx/>
                <a:latin typeface="Times New Roman"/>
                <a:ea typeface="DejaVu Sans"/>
              </a:rPr>
              <a:t>Command</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ff"/>
                </a:solidFill>
                <a:latin typeface="Times New Roman"/>
                <a:ea typeface="DejaVu Sans"/>
              </a:rPr>
              <a:t>ulimit -u</a:t>
            </a:r>
            <a:r>
              <a:rPr b="0" lang="en-IN" sz="3200" spc="-1" strike="noStrike">
                <a:solidFill>
                  <a:srgbClr val="000000"/>
                </a:solidFill>
                <a:latin typeface="Times New Roman"/>
                <a:ea typeface="DejaVu Sans"/>
              </a:rPr>
              <a:t>  to know the number of user processes can be created.</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ff"/>
                </a:solidFill>
                <a:latin typeface="Times New Roman"/>
                <a:ea typeface="DejaVu Sans"/>
              </a:rPr>
              <a:t>ulimit -a</a:t>
            </a:r>
            <a:r>
              <a:rPr b="0" lang="en-IN" sz="3200" spc="-1" strike="noStrike">
                <a:solidFill>
                  <a:srgbClr val="000000"/>
                </a:solidFill>
                <a:latin typeface="Times New Roman"/>
                <a:ea typeface="DejaVu Sans"/>
              </a:rPr>
              <a:t>   to know all the limitations of the processes.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a3238e"/>
                </a:solidFill>
                <a:latin typeface="Times New Roman"/>
                <a:ea typeface="DejaVu Sans"/>
              </a:rPr>
              <a:t>When fork() fails?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When a process is created PCB is created (stored in kernel stack). if there is no space to create a PCB then it is not possible to create the process.</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Times New Roman"/>
                <a:ea typeface="DejaVu Sans"/>
              </a:rPr>
              <a:t>Every OS is having certain Limitations to handle maximum number of processes. once if it reaches to that max limitation, then it is not possible to create the jobs.</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115" dur="indefinite" restart="never" nodeType="tmRoot">
          <p:childTnLst>
            <p:seq>
              <p:cTn id="116" dur="indefinite" nodeType="mainSeq"/>
              <p:prevCondLst>
                <p:cond delay="0" evt="onPrev">
                  <p:tgtEl>
                    <p:sldTgt/>
                  </p:tgtEl>
                </p:cond>
              </p:prevCondLst>
              <p:nextCondLst>
                <p:cond delay="0"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CustomShape 1"/>
          <p:cNvSpPr/>
          <p:nvPr/>
        </p:nvSpPr>
        <p:spPr>
          <a:xfrm>
            <a:off x="503640" y="223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Program : 1Parent - 2childs</a:t>
            </a:r>
            <a:endParaRPr b="0" lang="en-IN" sz="4000" spc="-1" strike="noStrike">
              <a:latin typeface="Arial"/>
            </a:endParaRPr>
          </a:p>
        </p:txBody>
      </p:sp>
      <p:sp>
        <p:nvSpPr>
          <p:cNvPr id="513" name="CustomShape 2"/>
          <p:cNvSpPr/>
          <p:nvPr/>
        </p:nvSpPr>
        <p:spPr>
          <a:xfrm>
            <a:off x="143640" y="719640"/>
            <a:ext cx="9775800" cy="6610320"/>
          </a:xfrm>
          <a:prstGeom prst="rect">
            <a:avLst/>
          </a:prstGeom>
          <a:noFill/>
          <a:ln>
            <a:noFill/>
          </a:ln>
        </p:spPr>
        <p:style>
          <a:lnRef idx="0"/>
          <a:fillRef idx="0"/>
          <a:effectRef idx="0"/>
          <a:fontRef idx="minor"/>
        </p:style>
        <p:txBody>
          <a:bodyPr lIns="0" rIns="0" tIns="0" bIns="0">
            <a:normAutofit/>
          </a:bodyPr>
          <a:p>
            <a:pPr>
              <a:lnSpc>
                <a:spcPct val="100000"/>
              </a:lnSpc>
              <a:spcBef>
                <a:spcPts val="283"/>
              </a:spcBef>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printf("child-1,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printf("child-2,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117" dur="indefinite" restart="never" nodeType="tmRoot">
          <p:childTnLst>
            <p:seq>
              <p:cTn id="118" dur="indefinite" nodeType="mainSeq"/>
              <p:prevCondLst>
                <p:cond delay="0" evt="onPrev">
                  <p:tgtEl>
                    <p:sldTgt/>
                  </p:tgtEl>
                </p:cond>
              </p:prevCondLst>
              <p:nextCondLst>
                <p:cond delay="0"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CustomShape 1"/>
          <p:cNvSpPr/>
          <p:nvPr/>
        </p:nvSpPr>
        <p:spPr>
          <a:xfrm>
            <a:off x="503640" y="223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Program : 1Parent - 3childs</a:t>
            </a:r>
            <a:endParaRPr b="0" lang="en-IN" sz="4000" spc="-1" strike="noStrike">
              <a:latin typeface="Arial"/>
            </a:endParaRPr>
          </a:p>
        </p:txBody>
      </p:sp>
      <p:sp>
        <p:nvSpPr>
          <p:cNvPr id="515" name="CustomShape 2"/>
          <p:cNvSpPr/>
          <p:nvPr/>
        </p:nvSpPr>
        <p:spPr>
          <a:xfrm>
            <a:off x="143640" y="575280"/>
            <a:ext cx="9775800" cy="6754680"/>
          </a:xfrm>
          <a:prstGeom prst="rect">
            <a:avLst/>
          </a:prstGeom>
          <a:noFill/>
          <a:ln>
            <a:noFill/>
          </a:ln>
        </p:spPr>
        <p:style>
          <a:lnRef idx="0"/>
          <a:fillRef idx="0"/>
          <a:effectRef idx="0"/>
          <a:fontRef idx="minor"/>
        </p:style>
        <p:txBody>
          <a:bodyPr lIns="0" rIns="0" tIns="0" bIns="0">
            <a:normAutofit/>
          </a:bodyPr>
          <a:p>
            <a:pPr>
              <a:lnSpc>
                <a:spcPct val="100000"/>
              </a:lnSpc>
              <a:spcBef>
                <a:spcPts val="283"/>
              </a:spcBef>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printf("child-1,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printf("child-2,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 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printf("child-3,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p:txBody>
      </p:sp>
      <p:sp>
        <p:nvSpPr>
          <p:cNvPr id="516" name="CustomShape 3"/>
          <p:cNvSpPr/>
          <p:nvPr/>
        </p:nvSpPr>
        <p:spPr>
          <a:xfrm>
            <a:off x="6911280" y="718920"/>
            <a:ext cx="2146680" cy="157068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3200" spc="-1" strike="noStrike">
                <a:solidFill>
                  <a:srgbClr val="000000"/>
                </a:solidFill>
                <a:latin typeface="Times New Roman"/>
                <a:ea typeface="DejaVu Sans"/>
              </a:rPr>
              <a:t>X    X+1</a:t>
            </a:r>
            <a:endParaRPr b="0" lang="en-IN" sz="3200" spc="-1" strike="noStrike">
              <a:latin typeface="Arial"/>
            </a:endParaRPr>
          </a:p>
          <a:p>
            <a:pPr algn="ct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X+2</a:t>
            </a:r>
            <a:endParaRPr b="0" lang="en-IN" sz="3200" spc="-1" strike="noStrike">
              <a:latin typeface="Arial"/>
            </a:endParaRPr>
          </a:p>
          <a:p>
            <a:pPr algn="ct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X+3</a:t>
            </a:r>
            <a:endParaRPr b="0" lang="en-IN" sz="3200" spc="-1" strike="noStrike">
              <a:latin typeface="Arial"/>
            </a:endParaRPr>
          </a:p>
        </p:txBody>
      </p:sp>
      <p:sp>
        <p:nvSpPr>
          <p:cNvPr id="517" name="Line 4"/>
          <p:cNvSpPr/>
          <p:nvPr/>
        </p:nvSpPr>
        <p:spPr>
          <a:xfrm>
            <a:off x="7703280" y="1078920"/>
            <a:ext cx="360" cy="1152000"/>
          </a:xfrm>
          <a:prstGeom prst="line">
            <a:avLst/>
          </a:prstGeom>
          <a:ln>
            <a:solidFill>
              <a:srgbClr val="000000"/>
            </a:solidFill>
          </a:ln>
        </p:spPr>
        <p:style>
          <a:lnRef idx="0"/>
          <a:fillRef idx="0"/>
          <a:effectRef idx="0"/>
          <a:fontRef idx="minor"/>
        </p:style>
      </p:sp>
      <p:sp>
        <p:nvSpPr>
          <p:cNvPr id="518" name="Line 5"/>
          <p:cNvSpPr/>
          <p:nvPr/>
        </p:nvSpPr>
        <p:spPr>
          <a:xfrm>
            <a:off x="7703280" y="1511280"/>
            <a:ext cx="432000" cy="360"/>
          </a:xfrm>
          <a:prstGeom prst="line">
            <a:avLst/>
          </a:prstGeom>
          <a:ln>
            <a:solidFill>
              <a:srgbClr val="000000"/>
            </a:solidFill>
            <a:tailEnd len="med" type="triangle" w="med"/>
          </a:ln>
        </p:spPr>
        <p:style>
          <a:lnRef idx="0"/>
          <a:fillRef idx="0"/>
          <a:effectRef idx="0"/>
          <a:fontRef idx="minor"/>
        </p:style>
      </p:sp>
      <p:sp>
        <p:nvSpPr>
          <p:cNvPr id="519" name="Line 6"/>
          <p:cNvSpPr/>
          <p:nvPr/>
        </p:nvSpPr>
        <p:spPr>
          <a:xfrm>
            <a:off x="7703280" y="2015640"/>
            <a:ext cx="432000" cy="360"/>
          </a:xfrm>
          <a:prstGeom prst="line">
            <a:avLst/>
          </a:prstGeom>
          <a:ln>
            <a:solidFill>
              <a:srgbClr val="000000"/>
            </a:solidFill>
            <a:tailEnd len="med" type="triangle" w="med"/>
          </a:ln>
        </p:spPr>
        <p:style>
          <a:lnRef idx="0"/>
          <a:fillRef idx="0"/>
          <a:effectRef idx="0"/>
          <a:fontRef idx="minor"/>
        </p:style>
      </p:sp>
      <p:sp>
        <p:nvSpPr>
          <p:cNvPr id="520" name="Line 7"/>
          <p:cNvSpPr/>
          <p:nvPr/>
        </p:nvSpPr>
        <p:spPr>
          <a:xfrm>
            <a:off x="7559280" y="1079280"/>
            <a:ext cx="504000" cy="360"/>
          </a:xfrm>
          <a:prstGeom prst="line">
            <a:avLst/>
          </a:prstGeom>
          <a:ln>
            <a:solidFill>
              <a:srgbClr val="000000"/>
            </a:solidFill>
            <a:tailEnd len="med" type="triangle" w="med"/>
          </a:ln>
        </p:spPr>
        <p:style>
          <a:lnRef idx="0"/>
          <a:fillRef idx="0"/>
          <a:effectRef idx="0"/>
          <a:fontRef idx="minor"/>
        </p:style>
      </p:sp>
    </p:spTree>
  </p:cSld>
  <p:timing>
    <p:tnLst>
      <p:par>
        <p:cTn id="119" dur="indefinite" restart="never" nodeType="tmRoot">
          <p:childTnLst>
            <p:seq>
              <p:cTn id="120" dur="indefinite" nodeType="mainSeq"/>
              <p:prevCondLst>
                <p:cond delay="0" evt="onPrev">
                  <p:tgtEl>
                    <p:sldTgt/>
                  </p:tgtEl>
                </p:cond>
              </p:prevCondLst>
              <p:nextCondLst>
                <p:cond delay="0"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CustomShape 1"/>
          <p:cNvSpPr/>
          <p:nvPr/>
        </p:nvSpPr>
        <p:spPr>
          <a:xfrm>
            <a:off x="503640" y="223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Program : child as Parent to other child</a:t>
            </a:r>
            <a:endParaRPr b="0" lang="en-IN" sz="4000" spc="-1" strike="noStrike">
              <a:latin typeface="Arial"/>
            </a:endParaRPr>
          </a:p>
        </p:txBody>
      </p:sp>
      <p:sp>
        <p:nvSpPr>
          <p:cNvPr id="522" name="CustomShape 2"/>
          <p:cNvSpPr/>
          <p:nvPr/>
        </p:nvSpPr>
        <p:spPr>
          <a:xfrm>
            <a:off x="143640" y="575280"/>
            <a:ext cx="9775800" cy="6754680"/>
          </a:xfrm>
          <a:prstGeom prst="rect">
            <a:avLst/>
          </a:prstGeom>
          <a:noFill/>
          <a:ln>
            <a:noFill/>
          </a:ln>
        </p:spPr>
        <p:style>
          <a:lnRef idx="0"/>
          <a:fillRef idx="0"/>
          <a:effectRef idx="0"/>
          <a:fontRef idx="minor"/>
        </p:style>
        <p:txBody>
          <a:bodyPr lIns="0" rIns="0" tIns="0" bIns="0">
            <a:normAutofit/>
          </a:bodyPr>
          <a:p>
            <a:pPr>
              <a:lnSpc>
                <a:spcPct val="100000"/>
              </a:lnSpc>
              <a:spcBef>
                <a:spcPts val="283"/>
              </a:spcBef>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printf("child-1,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printf("child-2,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printf("child-3,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r>
              <a:rPr b="0" lang="en-IN" sz="2800" spc="-1" strike="noStrike">
                <a:solidFill>
                  <a:srgbClr val="000000"/>
                </a:solidFill>
                <a:latin typeface="Times New Roman"/>
                <a:ea typeface="DejaVu Sans"/>
              </a:rPr>
              <a:t>	</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pid : %d ppid : %d\n",getpid(),getppid());</a:t>
            </a:r>
            <a:endParaRPr b="0" lang="en-IN" sz="2800" spc="-1" strike="noStrike">
              <a:latin typeface="Arial"/>
            </a:endParaRPr>
          </a:p>
          <a:p>
            <a:pPr>
              <a:lnSpc>
                <a:spcPct val="100000"/>
              </a:lnSpc>
              <a:spcBef>
                <a:spcPts val="283"/>
              </a:spcBef>
            </a:pPr>
            <a:r>
              <a:rPr b="0" lang="en-IN" sz="2800" spc="-1" strike="noStrike">
                <a:solidFill>
                  <a:srgbClr val="000000"/>
                </a:solidFill>
                <a:latin typeface="Times New Roman"/>
                <a:ea typeface="DejaVu Sans"/>
              </a:rPr>
              <a:t>}</a:t>
            </a:r>
            <a:endParaRPr b="0" lang="en-IN" sz="2800" spc="-1" strike="noStrike">
              <a:latin typeface="Arial"/>
            </a:endParaRPr>
          </a:p>
        </p:txBody>
      </p:sp>
      <p:sp>
        <p:nvSpPr>
          <p:cNvPr id="523" name="CustomShape 3"/>
          <p:cNvSpPr/>
          <p:nvPr/>
        </p:nvSpPr>
        <p:spPr>
          <a:xfrm>
            <a:off x="5399280" y="1223280"/>
            <a:ext cx="4450320" cy="56304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IN" sz="3200" spc="-1" strike="noStrike">
                <a:solidFill>
                  <a:srgbClr val="000000"/>
                </a:solidFill>
                <a:latin typeface="Times New Roman"/>
                <a:ea typeface="DejaVu Sans"/>
              </a:rPr>
              <a:t>X        X+1     X+2    X+3</a:t>
            </a:r>
            <a:endParaRPr b="0" lang="en-IN" sz="3200" spc="-1" strike="noStrike">
              <a:latin typeface="Arial"/>
            </a:endParaRPr>
          </a:p>
        </p:txBody>
      </p:sp>
      <p:sp>
        <p:nvSpPr>
          <p:cNvPr id="524" name="Line 4"/>
          <p:cNvSpPr/>
          <p:nvPr/>
        </p:nvSpPr>
        <p:spPr>
          <a:xfrm>
            <a:off x="5903280" y="1511280"/>
            <a:ext cx="648000" cy="360"/>
          </a:xfrm>
          <a:prstGeom prst="line">
            <a:avLst/>
          </a:prstGeom>
          <a:ln>
            <a:solidFill>
              <a:srgbClr val="000000"/>
            </a:solidFill>
            <a:tailEnd len="med" type="triangle" w="med"/>
          </a:ln>
        </p:spPr>
        <p:style>
          <a:lnRef idx="0"/>
          <a:fillRef idx="0"/>
          <a:effectRef idx="0"/>
          <a:fontRef idx="minor"/>
        </p:style>
      </p:sp>
      <p:sp>
        <p:nvSpPr>
          <p:cNvPr id="525" name="Line 5"/>
          <p:cNvSpPr/>
          <p:nvPr/>
        </p:nvSpPr>
        <p:spPr>
          <a:xfrm>
            <a:off x="7415280" y="1511280"/>
            <a:ext cx="360000" cy="360"/>
          </a:xfrm>
          <a:prstGeom prst="line">
            <a:avLst/>
          </a:prstGeom>
          <a:ln>
            <a:solidFill>
              <a:srgbClr val="000000"/>
            </a:solidFill>
            <a:tailEnd len="med" type="triangle" w="med"/>
          </a:ln>
        </p:spPr>
        <p:style>
          <a:lnRef idx="0"/>
          <a:fillRef idx="0"/>
          <a:effectRef idx="0"/>
          <a:fontRef idx="minor"/>
        </p:style>
      </p:sp>
      <p:sp>
        <p:nvSpPr>
          <p:cNvPr id="526" name="Line 6"/>
          <p:cNvSpPr/>
          <p:nvPr/>
        </p:nvSpPr>
        <p:spPr>
          <a:xfrm>
            <a:off x="8639280" y="1511280"/>
            <a:ext cx="360000" cy="360"/>
          </a:xfrm>
          <a:prstGeom prst="line">
            <a:avLst/>
          </a:prstGeom>
          <a:ln>
            <a:solidFill>
              <a:srgbClr val="000000"/>
            </a:solidFill>
            <a:tailEnd len="med" type="triangle" w="med"/>
          </a:ln>
        </p:spPr>
        <p:style>
          <a:lnRef idx="0"/>
          <a:fillRef idx="0"/>
          <a:effectRef idx="0"/>
          <a:fontRef idx="minor"/>
        </p:style>
      </p:sp>
    </p:spTree>
  </p:cSld>
  <p:timing>
    <p:tnLst>
      <p:par>
        <p:cTn id="121" dur="indefinite" restart="never" nodeType="tmRoot">
          <p:childTnLst>
            <p:seq>
              <p:cTn id="122" dur="indefinite" nodeType="mainSeq"/>
              <p:prevCondLst>
                <p:cond delay="0" evt="onPrev">
                  <p:tgtEl>
                    <p:sldTgt/>
                  </p:tgtEl>
                </p:cond>
              </p:prevCondLst>
              <p:nextCondLst>
                <p:cond delay="0"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CustomShape 1"/>
          <p:cNvSpPr/>
          <p:nvPr/>
        </p:nvSpPr>
        <p:spPr>
          <a:xfrm>
            <a:off x="215640" y="1051920"/>
            <a:ext cx="4410720" cy="31834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#include&lt;stdio.h&gt;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main()</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printf(“text msg..\n”);</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while(1);</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u="sng">
                <a:solidFill>
                  <a:srgbClr val="a3238e"/>
                </a:solidFill>
                <a:uFillTx/>
                <a:latin typeface="Arial"/>
                <a:ea typeface="DejaVu Sans"/>
              </a:rPr>
              <a:t>O/p</a:t>
            </a:r>
            <a:r>
              <a:rPr b="0" lang="en-IN" sz="2600" spc="-1" strike="noStrike">
                <a:solidFill>
                  <a:srgbClr val="a3238e"/>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text msg..</a:t>
            </a:r>
            <a:endParaRPr b="0" lang="en-IN" sz="2600" spc="-1" strike="noStrike">
              <a:latin typeface="Arial"/>
            </a:endParaRPr>
          </a:p>
        </p:txBody>
      </p:sp>
      <p:sp>
        <p:nvSpPr>
          <p:cNvPr id="528" name="CustomShape 2"/>
          <p:cNvSpPr/>
          <p:nvPr/>
        </p:nvSpPr>
        <p:spPr>
          <a:xfrm>
            <a:off x="503640" y="300240"/>
            <a:ext cx="9055080" cy="618840"/>
          </a:xfrm>
          <a:prstGeom prst="rect">
            <a:avLst/>
          </a:prstGeom>
          <a:noFill/>
          <a:ln>
            <a:noFill/>
          </a:ln>
        </p:spPr>
        <p:style>
          <a:lnRef idx="0"/>
          <a:fillRef idx="0"/>
          <a:effectRef idx="0"/>
          <a:fontRef idx="minor"/>
        </p:style>
        <p:txBody>
          <a:bodyPr lIns="0" rIns="0" tIns="0" bIns="0" anchor="ctr"/>
          <a:p>
            <a:pPr marL="216000" indent="-200160" algn="ctr">
              <a:lnSpc>
                <a:spcPct val="100000"/>
              </a:lnSpc>
              <a:spcBef>
                <a:spcPts val="567"/>
              </a:spcBef>
              <a:buClr>
                <a:srgbClr val="000000"/>
              </a:buClr>
              <a:buSzPct val="45000"/>
              <a:buFont typeface="Wingdings" charset="2"/>
              <a:buChar char=""/>
            </a:pPr>
            <a:r>
              <a:rPr b="0" lang="en-IN" sz="3600" spc="-1" strike="noStrike">
                <a:solidFill>
                  <a:srgbClr val="a3238e"/>
                </a:solidFill>
                <a:latin typeface="Times New Roman"/>
                <a:ea typeface="DejaVu Sans"/>
              </a:rPr>
              <a:t>Analysis of newline ”\n”</a:t>
            </a:r>
            <a:endParaRPr b="0" lang="en-IN" sz="3600" spc="-1" strike="noStrike">
              <a:latin typeface="Arial"/>
            </a:endParaRPr>
          </a:p>
        </p:txBody>
      </p:sp>
      <p:sp>
        <p:nvSpPr>
          <p:cNvPr id="529" name="CustomShape 3"/>
          <p:cNvSpPr/>
          <p:nvPr/>
        </p:nvSpPr>
        <p:spPr>
          <a:xfrm>
            <a:off x="5223600" y="1078920"/>
            <a:ext cx="4410720" cy="31834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#include&lt;stdio.h&gt;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main()</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printf(“text msg”);</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while(1);</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u="sng">
                <a:solidFill>
                  <a:srgbClr val="a3238e"/>
                </a:solidFill>
                <a:uFillTx/>
                <a:latin typeface="Arial"/>
                <a:ea typeface="DejaVu Sans"/>
              </a:rPr>
              <a:t>O/p</a:t>
            </a:r>
            <a:r>
              <a:rPr b="0" lang="en-IN" sz="2600" spc="-1" strike="noStrike">
                <a:solidFill>
                  <a:srgbClr val="a3238e"/>
                </a:solidFill>
                <a:latin typeface="Arial"/>
                <a:ea typeface="DejaVu Sans"/>
              </a:rPr>
              <a:t>:</a:t>
            </a:r>
            <a:endParaRPr b="0" lang="en-IN" sz="26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No output</a:t>
            </a:r>
            <a:endParaRPr b="0" lang="en-IN" sz="2600" spc="-1" strike="noStrike">
              <a:latin typeface="Arial"/>
            </a:endParaRPr>
          </a:p>
        </p:txBody>
      </p:sp>
      <p:sp>
        <p:nvSpPr>
          <p:cNvPr id="530" name="CustomShape 4"/>
          <p:cNvSpPr/>
          <p:nvPr/>
        </p:nvSpPr>
        <p:spPr>
          <a:xfrm>
            <a:off x="359640" y="4679280"/>
            <a:ext cx="9055080" cy="2023560"/>
          </a:xfrm>
          <a:prstGeom prst="rect">
            <a:avLst/>
          </a:prstGeom>
          <a:noFill/>
          <a:ln>
            <a:noFill/>
          </a:ln>
        </p:spPr>
        <p:style>
          <a:lnRef idx="0"/>
          <a:fillRef idx="0"/>
          <a:effectRef idx="0"/>
          <a:fontRef idx="minor"/>
        </p:style>
        <p:txBody>
          <a:bodyPr lIns="0" rIns="0" tIns="0" bIns="0"/>
          <a:p>
            <a:pPr>
              <a:lnSpc>
                <a:spcPct val="100000"/>
              </a:lnSpc>
            </a:pPr>
            <a:r>
              <a:rPr b="0" lang="en-IN" sz="2400" spc="-1" strike="noStrike">
                <a:solidFill>
                  <a:srgbClr val="000000"/>
                </a:solidFill>
                <a:latin typeface="Arial"/>
                <a:ea typeface="DejaVu Sans"/>
              </a:rPr>
              <a:t>When a process is created by default three process buffers are attached to each process.</a:t>
            </a:r>
            <a:r>
              <a:rPr b="0" lang="en-IN" sz="1800" spc="-1" strike="noStrike">
                <a:solidFill>
                  <a:srgbClr val="000000"/>
                </a:solidFill>
                <a:latin typeface="Arial"/>
                <a:ea typeface="DejaVu Sans"/>
              </a:rPr>
              <a:t> </a:t>
            </a:r>
            <a:r>
              <a:rPr b="0" lang="en-IN" sz="2400" spc="-1" strike="noStrike">
                <a:solidFill>
                  <a:srgbClr val="000000"/>
                </a:solidFill>
                <a:latin typeface="Arial"/>
                <a:ea typeface="DejaVu Sans"/>
              </a:rPr>
              <a:t>They are stdin,stdout,stderr.</a:t>
            </a:r>
            <a:endParaRPr b="0" lang="en-IN" sz="2400" spc="-1" strike="noStrike">
              <a:latin typeface="Arial"/>
            </a:endParaRPr>
          </a:p>
          <a:p>
            <a:pPr>
              <a:lnSpc>
                <a:spcPct val="100000"/>
              </a:lnSpc>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 stdin buffer is  attached with   standard i/p (keyboard).</a:t>
            </a:r>
            <a:br/>
            <a:r>
              <a:rPr b="0" lang="en-IN" sz="2400" spc="-1" strike="noStrike">
                <a:solidFill>
                  <a:srgbClr val="000000"/>
                </a:solidFill>
                <a:latin typeface="Arial"/>
                <a:ea typeface="DejaVu Sans"/>
              </a:rPr>
              <a:t>  * stdout &amp; stderr are attached to standard o/p (Display unit).</a:t>
            </a:r>
            <a:br/>
            <a:endParaRPr b="0" lang="en-IN" sz="2400" spc="-1" strike="noStrike">
              <a:latin typeface="Arial"/>
            </a:endParaRPr>
          </a:p>
        </p:txBody>
      </p:sp>
    </p:spTree>
  </p:cSld>
  <p:timing>
    <p:tnLst>
      <p:par>
        <p:cTn id="123" dur="indefinite" restart="never" nodeType="tmRoot">
          <p:childTnLst>
            <p:seq>
              <p:cTn id="124" dur="indefinite" nodeType="mainSeq"/>
              <p:prevCondLst>
                <p:cond delay="0" evt="onPrev">
                  <p:tgtEl>
                    <p:sldTgt/>
                  </p:tgtEl>
                </p:cond>
              </p:prevCondLst>
              <p:nextCondLst>
                <p:cond delay="0"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CustomShape 1"/>
          <p:cNvSpPr/>
          <p:nvPr/>
        </p:nvSpPr>
        <p:spPr>
          <a:xfrm>
            <a:off x="503640" y="2689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When stdout Buffer flushed out?</a:t>
            </a:r>
            <a:endParaRPr b="0" lang="en-IN" sz="3600" spc="-1" strike="noStrike">
              <a:latin typeface="Arial"/>
            </a:endParaRPr>
          </a:p>
        </p:txBody>
      </p:sp>
      <p:sp>
        <p:nvSpPr>
          <p:cNvPr id="532" name="CustomShape 2"/>
          <p:cNvSpPr/>
          <p:nvPr/>
        </p:nvSpPr>
        <p:spPr>
          <a:xfrm>
            <a:off x="503640" y="1150920"/>
            <a:ext cx="9055080" cy="5816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When process is with normal termination.</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When there is a new line encounters</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When the buffer is full.</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When i/p functions are used.</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fflush(stdout</a:t>
            </a:r>
            <a:r>
              <a:rPr b="0" lang="en-IN" sz="2200" spc="-1" strike="noStrike">
                <a:solidFill>
                  <a:srgbClr val="000000"/>
                </a:solidFill>
                <a:latin typeface="Times New Roman"/>
                <a:ea typeface="DejaVu Sans"/>
              </a:rPr>
              <a:t>).</a:t>
            </a:r>
            <a:endParaRPr b="0" lang="en-IN" sz="2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200" spc="-1" strike="noStrike">
                <a:solidFill>
                  <a:srgbClr val="000000"/>
                </a:solidFill>
                <a:latin typeface="Times New Roman"/>
                <a:ea typeface="DejaVu Sans"/>
              </a:rPr>
              <a:t> </a:t>
            </a:r>
            <a:r>
              <a:rPr b="1" lang="en-IN" sz="2400" spc="-1" strike="noStrike">
                <a:solidFill>
                  <a:srgbClr val="000000"/>
                </a:solidFill>
                <a:latin typeface="Times New Roman"/>
                <a:ea typeface="DejaVu Sans"/>
              </a:rPr>
              <a:t>Buffer size : 1 kb.</a:t>
            </a:r>
            <a:endParaRPr b="0" lang="en-IN" sz="2400" spc="-1" strike="noStrike">
              <a:latin typeface="Arial"/>
            </a:endParaRPr>
          </a:p>
          <a:p>
            <a:pPr>
              <a:lnSpc>
                <a:spcPct val="100000"/>
              </a:lnSpc>
              <a:spcBef>
                <a:spcPts val="283"/>
              </a:spcBef>
            </a:pPr>
            <a:endParaRPr b="0" lang="en-IN" sz="2400" spc="-1" strike="noStrike">
              <a:latin typeface="Arial"/>
            </a:endParaRPr>
          </a:p>
        </p:txBody>
      </p:sp>
    </p:spTree>
  </p:cSld>
  <p:timing>
    <p:tnLst>
      <p:par>
        <p:cTn id="125" dur="indefinite" restart="never" nodeType="tmRoot">
          <p:childTnLst>
            <p:seq>
              <p:cTn id="126" dur="indefinite" nodeType="mainSeq"/>
              <p:prevCondLst>
                <p:cond delay="0" evt="onPrev">
                  <p:tgtEl>
                    <p:sldTgt/>
                  </p:tgtEl>
                </p:cond>
              </p:prevCondLst>
              <p:nextCondLst>
                <p:cond delay="0"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CustomShape 1"/>
          <p:cNvSpPr/>
          <p:nvPr/>
        </p:nvSpPr>
        <p:spPr>
          <a:xfrm>
            <a:off x="503640" y="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Copy on write</a:t>
            </a:r>
            <a:endParaRPr b="0" lang="en-IN" sz="3600" spc="-1" strike="noStrike">
              <a:latin typeface="Arial"/>
            </a:endParaRPr>
          </a:p>
        </p:txBody>
      </p:sp>
      <p:sp>
        <p:nvSpPr>
          <p:cNvPr id="534" name="CustomShape 2"/>
          <p:cNvSpPr/>
          <p:nvPr/>
        </p:nvSpPr>
        <p:spPr>
          <a:xfrm>
            <a:off x="143640" y="719280"/>
            <a:ext cx="9778320" cy="6536520"/>
          </a:xfrm>
          <a:prstGeom prst="rect">
            <a:avLst/>
          </a:prstGeom>
          <a:noFill/>
          <a:ln>
            <a:noFill/>
          </a:ln>
        </p:spPr>
        <p:style>
          <a:lnRef idx="0"/>
          <a:fillRef idx="0"/>
          <a:effectRef idx="0"/>
          <a:fontRef idx="minor"/>
        </p:style>
        <p:txBody>
          <a:bodyPr lIns="0" rIns="0" tIns="0" bIns="0">
            <a:normAutofit/>
          </a:bodyPr>
          <a:p>
            <a:pPr>
              <a:lnSpc>
                <a:spcPct val="100000"/>
              </a:lnSpc>
            </a:pPr>
            <a:r>
              <a:rPr b="0" lang="en-IN" sz="3200" spc="-1" strike="noStrike">
                <a:solidFill>
                  <a:srgbClr val="a3238e"/>
                </a:solidFill>
                <a:latin typeface="Times New Roman"/>
                <a:ea typeface="DejaVu Sans"/>
              </a:rPr>
              <a:t>Q) What is cow mechanism?</a:t>
            </a:r>
            <a:endParaRPr b="0" lang="en-IN" sz="3200" spc="-1" strike="noStrike">
              <a:latin typeface="Arial"/>
            </a:endParaRPr>
          </a:p>
          <a:p>
            <a:pPr>
              <a:lnSpc>
                <a:spcPct val="100000"/>
              </a:lnSpc>
              <a:spcBef>
                <a:spcPts val="1417"/>
              </a:spcBef>
            </a:pPr>
            <a:r>
              <a:rPr b="0" lang="en-IN" sz="3200" spc="-1" strike="noStrike">
                <a:solidFill>
                  <a:srgbClr val="ff3300"/>
                </a:solidFill>
                <a:latin typeface="Times New Roman"/>
                <a:ea typeface="DejaVu Sans"/>
              </a:rPr>
              <a:t>           </a:t>
            </a:r>
            <a:r>
              <a:rPr b="0" lang="en-IN" sz="3200" spc="-1" strike="noStrike">
                <a:solidFill>
                  <a:srgbClr val="000000"/>
                </a:solidFill>
                <a:latin typeface="Times New Roman"/>
                <a:ea typeface="DejaVu Sans"/>
              </a:rPr>
              <a:t>Copy on  write some times refered to as implicit sharing or shadowing, is a  resource management technique used in computer programming to efficiently implement a “duplicate” or “copy” operation on modifiable resources.</a:t>
            </a:r>
            <a:endParaRPr b="0" lang="en-IN" sz="3200" spc="-1" strike="noStrike">
              <a:latin typeface="Arial"/>
            </a:endParaRPr>
          </a:p>
          <a:p>
            <a:pPr>
              <a:lnSpc>
                <a:spcPct val="100000"/>
              </a:lnSpc>
              <a:spcBef>
                <a:spcPts val="1417"/>
              </a:spcBef>
            </a:pPr>
            <a:r>
              <a:rPr b="0" lang="en-IN" sz="3200" spc="-1" strike="noStrike">
                <a:solidFill>
                  <a:srgbClr val="a3238e"/>
                </a:solidFill>
                <a:latin typeface="Times New Roman"/>
                <a:ea typeface="DejaVu Sans"/>
              </a:rPr>
              <a:t>        </a:t>
            </a:r>
            <a:r>
              <a:rPr b="1" lang="en-IN" sz="2400" spc="-1" strike="noStrike">
                <a:solidFill>
                  <a:srgbClr val="a3238e"/>
                </a:solidFill>
                <a:latin typeface="Arial"/>
                <a:ea typeface="DejaVu Sans"/>
              </a:rPr>
              <a:t> </a:t>
            </a:r>
            <a:r>
              <a:rPr b="1" lang="en-IN" sz="2400" spc="-1" strike="noStrike">
                <a:solidFill>
                  <a:srgbClr val="a3238e"/>
                </a:solidFill>
                <a:latin typeface="Arial"/>
                <a:ea typeface="DejaVu Sans"/>
              </a:rPr>
              <a:t>for ex : </a:t>
            </a:r>
            <a:r>
              <a:rPr b="0" lang="en-IN" sz="3200" spc="-1" strike="noStrike">
                <a:solidFill>
                  <a:srgbClr val="000000"/>
                </a:solidFill>
                <a:latin typeface="Times New Roman"/>
                <a:ea typeface="DejaVu Sans"/>
              </a:rPr>
              <a:t>A variable is common to both parent &amp; child process is available in a location which is known by both the process, then accesing that common variable only for reading purpose  is no problem, if any (parent/child) process modifying that common variable data,  then a seperate copy is created for that process is called as copy-on-write.</a:t>
            </a:r>
            <a:endParaRPr b="0" lang="en-IN" sz="3200" spc="-1" strike="noStrike">
              <a:latin typeface="Arial"/>
            </a:endParaRPr>
          </a:p>
        </p:txBody>
      </p:sp>
    </p:spTree>
  </p:cSld>
  <p:timing>
    <p:tnLst>
      <p:par>
        <p:cTn id="127" dur="indefinite" restart="never" nodeType="tmRoot">
          <p:childTnLst>
            <p:seq>
              <p:cTn id="128" dur="indefinite" nodeType="mainSeq"/>
              <p:prevCondLst>
                <p:cond delay="0" evt="onPrev">
                  <p:tgtEl>
                    <p:sldTgt/>
                  </p:tgtEl>
                </p:cond>
              </p:prevCondLst>
              <p:nextCondLst>
                <p:cond delay="0"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CustomShape 1"/>
          <p:cNvSpPr/>
          <p:nvPr/>
        </p:nvSpPr>
        <p:spPr>
          <a:xfrm>
            <a:off x="503640" y="0"/>
            <a:ext cx="9055080" cy="6188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Example for Copy on write</a:t>
            </a:r>
            <a:endParaRPr b="0" lang="en-IN" sz="3600" spc="-1" strike="noStrike">
              <a:latin typeface="Arial"/>
            </a:endParaRPr>
          </a:p>
        </p:txBody>
      </p:sp>
      <p:sp>
        <p:nvSpPr>
          <p:cNvPr id="536" name="CustomShape 2"/>
          <p:cNvSpPr/>
          <p:nvPr/>
        </p:nvSpPr>
        <p:spPr>
          <a:xfrm>
            <a:off x="143640" y="630720"/>
            <a:ext cx="9778320" cy="6843960"/>
          </a:xfrm>
          <a:prstGeom prst="rect">
            <a:avLst/>
          </a:prstGeom>
          <a:noFill/>
          <a:ln>
            <a:noFill/>
          </a:ln>
        </p:spPr>
        <p:style>
          <a:lnRef idx="0"/>
          <a:fillRef idx="0"/>
          <a:effectRef idx="0"/>
          <a:fontRef idx="minor"/>
        </p:style>
        <p:txBody>
          <a:bodyPr lIns="0" rIns="0" tIns="0" bIns="0">
            <a:normAutofit/>
          </a:bodyPr>
          <a:p>
            <a:pPr>
              <a:lnSpc>
                <a:spcPct val="100000"/>
              </a:lnSpc>
            </a:pPr>
            <a:r>
              <a:rPr b="0" lang="en-IN" sz="3200" spc="-1" strike="noStrike">
                <a:solidFill>
                  <a:srgbClr val="000000"/>
                </a:solidFill>
                <a:latin typeface="Times New Roman"/>
                <a:ea typeface="DejaVu Sans"/>
              </a:rPr>
              <a:t>#include&lt;stdio.h&gt;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#include&lt;unistd.h&gt;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int x = 10;</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int main()</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if(fork()==0)</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printf("in child pid = %d ppid = %d\n",getpid(),getppid());</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x = 20;</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printf("in child, x = %d\n",x);</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else</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sleep(1);</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printf("in parent pid = %d ppid = %d\n",getpid(),getppid());</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printf("in parent, x = %d\n",x);</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a:t>
            </a:r>
            <a:endParaRPr b="0" lang="en-IN" sz="3200" spc="-1" strike="noStrike">
              <a:latin typeface="Arial"/>
            </a:endParaRPr>
          </a:p>
        </p:txBody>
      </p:sp>
    </p:spTree>
  </p:cSld>
  <p:timing>
    <p:tnLst>
      <p:par>
        <p:cTn id="129" dur="indefinite" restart="never" nodeType="tmRoot">
          <p:childTnLst>
            <p:seq>
              <p:cTn id="130" dur="indefinite" nodeType="mainSeq"/>
              <p:prevCondLst>
                <p:cond delay="0" evt="onPrev">
                  <p:tgtEl>
                    <p:sldTgt/>
                  </p:tgtEl>
                </p:cond>
              </p:prevCondLst>
              <p:nextCondLst>
                <p:cond delay="0"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CustomShape 1"/>
          <p:cNvSpPr/>
          <p:nvPr/>
        </p:nvSpPr>
        <p:spPr>
          <a:xfrm>
            <a:off x="503640" y="2689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Orphan  Process</a:t>
            </a:r>
            <a:endParaRPr b="0" lang="en-IN" sz="4000" spc="-1" strike="noStrike">
              <a:latin typeface="Arial"/>
            </a:endParaRPr>
          </a:p>
        </p:txBody>
      </p:sp>
      <p:sp>
        <p:nvSpPr>
          <p:cNvPr id="538" name="CustomShape 2"/>
          <p:cNvSpPr/>
          <p:nvPr/>
        </p:nvSpPr>
        <p:spPr>
          <a:xfrm>
            <a:off x="215640" y="1151640"/>
            <a:ext cx="9343080" cy="6176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a3238e"/>
                </a:solidFill>
                <a:latin typeface="Times New Roman"/>
                <a:ea typeface="DejaVu Sans"/>
              </a:rPr>
              <a:t>What is an Orphan Process?</a:t>
            </a:r>
            <a:endParaRPr b="0" lang="en-IN" sz="3200" spc="-1" strike="noStrike">
              <a:latin typeface="Arial"/>
            </a:endParaRPr>
          </a:p>
          <a:p>
            <a:pPr>
              <a:lnSpc>
                <a:spcPct val="100000"/>
              </a:lnSpc>
              <a:spcBef>
                <a:spcPts val="283"/>
              </a:spcBef>
              <a:spcAft>
                <a:spcPts val="283"/>
              </a:spcAft>
            </a:pPr>
            <a:r>
              <a:rPr b="0" lang="en-IN" sz="3200" spc="-1" strike="noStrike">
                <a:solidFill>
                  <a:srgbClr val="ff0000"/>
                </a:solidFill>
                <a:latin typeface="Times New Roman"/>
                <a:ea typeface="DejaVu Sans"/>
              </a:rPr>
              <a:t>    </a:t>
            </a:r>
            <a:r>
              <a:rPr b="0" lang="en-IN" sz="3200" spc="-1" strike="noStrike">
                <a:solidFill>
                  <a:srgbClr val="000000"/>
                </a:solidFill>
                <a:latin typeface="Times New Roman"/>
                <a:ea typeface="DejaVu Sans"/>
              </a:rPr>
              <a:t>An orphan process is a computer process whose parent process has finished (or) terminated, though it remains running itself.(process not having parent).</a:t>
            </a:r>
            <a:endParaRPr b="0" lang="en-IN" sz="3200" spc="-1" strike="noStrike">
              <a:latin typeface="Arial"/>
            </a:endParaRPr>
          </a:p>
          <a:p>
            <a:pPr>
              <a:lnSpc>
                <a:spcPct val="100000"/>
              </a:lnSpc>
              <a:spcBef>
                <a:spcPts val="283"/>
              </a:spcBef>
              <a:spcAft>
                <a:spcPts val="283"/>
              </a:spcAft>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Simply, In parent &amp; child relations, if parent process is completed first, then child becomes Orphan process.    </a:t>
            </a:r>
            <a:endParaRPr b="0" lang="en-IN" sz="3200" spc="-1" strike="noStrike">
              <a:latin typeface="Arial"/>
            </a:endParaRPr>
          </a:p>
          <a:p>
            <a:pPr>
              <a:lnSpc>
                <a:spcPct val="100000"/>
              </a:lnSpc>
              <a:spcBef>
                <a:spcPts val="283"/>
              </a:spcBef>
              <a:spcAft>
                <a:spcPts val="283"/>
              </a:spcAft>
            </a:pPr>
            <a:r>
              <a:rPr b="0" lang="en-IN" sz="3200" spc="-1" strike="noStrike">
                <a:solidFill>
                  <a:srgbClr val="a3238e"/>
                </a:solidFill>
                <a:latin typeface="Times New Roman"/>
                <a:ea typeface="DejaVu Sans"/>
              </a:rPr>
              <a:t> </a:t>
            </a:r>
            <a:r>
              <a:rPr b="0" lang="en-IN" sz="3200" spc="-1" strike="noStrike">
                <a:solidFill>
                  <a:srgbClr val="a3238e"/>
                </a:solidFill>
                <a:latin typeface="Times New Roman"/>
                <a:ea typeface="DejaVu Sans"/>
              </a:rPr>
              <a:t>Note : </a:t>
            </a:r>
            <a:r>
              <a:rPr b="0" lang="en-IN" sz="3200" spc="-1" strike="noStrike">
                <a:solidFill>
                  <a:srgbClr val="000000"/>
                </a:solidFill>
                <a:latin typeface="Times New Roman"/>
                <a:ea typeface="DejaVu Sans"/>
              </a:rPr>
              <a:t> For all orphan process, “init” or “systemd”   process will act as parent. (pid of init process is 1). For latest systems, “systemd” acts as parent. And it’s process id may differs.</a:t>
            </a:r>
            <a:endParaRPr b="0" lang="en-IN" sz="3200" spc="-1" strike="noStrike">
              <a:latin typeface="Arial"/>
            </a:endParaRPr>
          </a:p>
          <a:p>
            <a:pPr>
              <a:lnSpc>
                <a:spcPct val="100000"/>
              </a:lnSpc>
              <a:spcBef>
                <a:spcPts val="283"/>
              </a:spcBef>
              <a:spcAft>
                <a:spcPts val="283"/>
              </a:spcAft>
            </a:pPr>
            <a:endParaRPr b="0" lang="en-IN" sz="3200" spc="-1" strike="noStrike">
              <a:latin typeface="Arial"/>
            </a:endParaRPr>
          </a:p>
        </p:txBody>
      </p:sp>
    </p:spTree>
  </p:cSld>
  <p:timing>
    <p:tnLst>
      <p:par>
        <p:cTn id="131" dur="indefinite" restart="never" nodeType="tmRoot">
          <p:childTnLst>
            <p:seq>
              <p:cTn id="132" dur="indefinite" nodeType="mainSeq"/>
              <p:prevCondLst>
                <p:cond delay="0" evt="onPrev">
                  <p:tgtEl>
                    <p:sldTgt/>
                  </p:tgtEl>
                </p:cond>
              </p:prevCondLst>
              <p:nextCondLst>
                <p:cond delay="0"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CustomShape 1"/>
          <p:cNvSpPr/>
          <p:nvPr/>
        </p:nvSpPr>
        <p:spPr>
          <a:xfrm>
            <a:off x="578880" y="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Orphan  Process</a:t>
            </a:r>
            <a:endParaRPr b="0" lang="en-IN" sz="4000" spc="-1" strike="noStrike">
              <a:latin typeface="Arial"/>
            </a:endParaRPr>
          </a:p>
        </p:txBody>
      </p:sp>
      <p:sp>
        <p:nvSpPr>
          <p:cNvPr id="540" name="CustomShape 2"/>
          <p:cNvSpPr/>
          <p:nvPr/>
        </p:nvSpPr>
        <p:spPr>
          <a:xfrm>
            <a:off x="359640" y="503640"/>
            <a:ext cx="9418320" cy="6971760"/>
          </a:xfrm>
          <a:prstGeom prst="rect">
            <a:avLst/>
          </a:prstGeom>
          <a:noFill/>
          <a:ln>
            <a:noFill/>
          </a:ln>
        </p:spPr>
        <p:style>
          <a:lnRef idx="0"/>
          <a:fillRef idx="0"/>
          <a:effectRef idx="0"/>
          <a:fontRef idx="minor"/>
        </p:style>
        <p:txBody>
          <a:bodyPr lIns="0" rIns="0" tIns="0" bIns="0">
            <a:normAutofit/>
          </a:bodyPr>
          <a:p>
            <a:pPr>
              <a:lnSpc>
                <a:spcPct val="100000"/>
              </a:lnSpc>
              <a:spcAft>
                <a:spcPts val="283"/>
              </a:spcAft>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sleep(2);</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child pid = %d ppid = %d\n",getpid(),getppid());</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process has exited ..\n");</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parent pid = %d ppid = %d\n",getpid(),getppid());</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has exited ..\n");</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Aft>
                <a:spcPts val="283"/>
              </a:spcAft>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spcBef>
                <a:spcPts val="283"/>
              </a:spcBef>
              <a:spcAft>
                <a:spcPts val="283"/>
              </a:spcAft>
            </a:pPr>
            <a:endParaRPr b="0" lang="en-IN" sz="2800" spc="-1" strike="noStrike">
              <a:latin typeface="Arial"/>
            </a:endParaRPr>
          </a:p>
        </p:txBody>
      </p:sp>
    </p:spTree>
  </p:cSld>
  <p:timing>
    <p:tnLst>
      <p:par>
        <p:cTn id="133" dur="indefinite" restart="never" nodeType="tmRoot">
          <p:childTnLst>
            <p:seq>
              <p:cTn id="134" dur="indefinite" nodeType="mainSeq"/>
              <p:prevCondLst>
                <p:cond delay="0" evt="onPrev">
                  <p:tgtEl>
                    <p:sldTgt/>
                  </p:tgtEl>
                </p:cond>
              </p:prevCondLst>
              <p:nextCondLst>
                <p:cond delay="0"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CustomShape 1"/>
          <p:cNvSpPr/>
          <p:nvPr/>
        </p:nvSpPr>
        <p:spPr>
          <a:xfrm>
            <a:off x="503640" y="26892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Zombie Process</a:t>
            </a:r>
            <a:endParaRPr b="0" lang="en-IN" sz="4000" spc="-1" strike="noStrike">
              <a:latin typeface="Arial"/>
            </a:endParaRPr>
          </a:p>
        </p:txBody>
      </p:sp>
      <p:sp>
        <p:nvSpPr>
          <p:cNvPr id="542" name="CustomShape 2"/>
          <p:cNvSpPr/>
          <p:nvPr/>
        </p:nvSpPr>
        <p:spPr>
          <a:xfrm>
            <a:off x="215640" y="892080"/>
            <a:ext cx="9851040" cy="65833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a3238e"/>
                </a:solidFill>
                <a:latin typeface="Times New Roman"/>
                <a:ea typeface="DejaVu Sans"/>
              </a:rPr>
              <a:t>What is Zombie process?</a:t>
            </a:r>
            <a:endParaRPr b="0" lang="en-IN" sz="3200" spc="-1" strike="noStrike">
              <a:latin typeface="Arial"/>
            </a:endParaRPr>
          </a:p>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ff0000"/>
                </a:solidFill>
                <a:latin typeface="Times New Roman"/>
                <a:ea typeface="DejaVu Sans"/>
              </a:rPr>
              <a:t>     </a:t>
            </a:r>
            <a:r>
              <a:rPr b="0" lang="en-IN" sz="3200" spc="-1" strike="noStrike">
                <a:solidFill>
                  <a:srgbClr val="000000"/>
                </a:solidFill>
                <a:latin typeface="Times New Roman"/>
                <a:ea typeface="DejaVu Sans"/>
              </a:rPr>
              <a:t>On unix and unix-like computer operating system a zombie process (or) defunct process is a process that has completed. But still has an entry in the process table. This entry is still needed to allow the parent process to read its childs exit status.</a:t>
            </a:r>
            <a:endParaRPr b="0" lang="en-IN" sz="3200" spc="-1" strike="noStrike">
              <a:latin typeface="Arial"/>
            </a:endParaRPr>
          </a:p>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Simply, In parent &amp; child relation, if child process is completed first &amp; parent is not collecting the status of child, then child becomes zombie.</a:t>
            </a:r>
            <a:endParaRPr b="0" lang="en-IN" sz="3200" spc="-1" strike="noStrike">
              <a:latin typeface="Arial"/>
            </a:endParaRPr>
          </a:p>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000000"/>
                </a:solidFill>
                <a:latin typeface="Times New Roman"/>
                <a:ea typeface="DejaVu Sans"/>
              </a:rPr>
              <a:t>Zombie process is also called as defunct process. That means, process is dead, but resources are not released.</a:t>
            </a:r>
            <a:endParaRPr b="0" lang="en-IN" sz="3200" spc="-1" strike="noStrike">
              <a:latin typeface="Arial"/>
            </a:endParaRPr>
          </a:p>
          <a:p>
            <a:pPr marL="432000" indent="-308160">
              <a:lnSpc>
                <a:spcPct val="100000"/>
              </a:lnSpc>
              <a:spcBef>
                <a:spcPts val="283"/>
              </a:spcBef>
              <a:spcAft>
                <a:spcPts val="283"/>
              </a:spcAft>
              <a:buClr>
                <a:srgbClr val="000000"/>
              </a:buClr>
              <a:buSzPct val="45000"/>
              <a:buFont typeface="Wingdings" charset="2"/>
              <a:buChar char=""/>
            </a:pPr>
            <a:r>
              <a:rPr b="0" lang="en-IN" sz="3200" spc="-1" strike="noStrike">
                <a:solidFill>
                  <a:srgbClr val="000000"/>
                </a:solidFill>
                <a:latin typeface="Times New Roman"/>
                <a:ea typeface="DejaVu Sans"/>
              </a:rPr>
              <a:t>&lt;defunct&gt;            means zombie  or  dead process.</a:t>
            </a:r>
            <a:endParaRPr b="0" lang="en-IN" sz="3200" spc="-1" strike="noStrike">
              <a:latin typeface="Arial"/>
            </a:endParaRPr>
          </a:p>
          <a:p>
            <a:pPr>
              <a:lnSpc>
                <a:spcPct val="100000"/>
              </a:lnSpc>
              <a:spcBef>
                <a:spcPts val="283"/>
              </a:spcBef>
              <a:spcAft>
                <a:spcPts val="283"/>
              </a:spcAft>
            </a:pPr>
            <a:endParaRPr b="0" lang="en-IN" sz="3200" spc="-1" strike="noStrike">
              <a:latin typeface="Arial"/>
            </a:endParaRPr>
          </a:p>
        </p:txBody>
      </p:sp>
      <p:sp>
        <p:nvSpPr>
          <p:cNvPr id="543" name="Line 3"/>
          <p:cNvSpPr/>
          <p:nvPr/>
        </p:nvSpPr>
        <p:spPr>
          <a:xfrm>
            <a:off x="2519640" y="6839280"/>
            <a:ext cx="720000" cy="360"/>
          </a:xfrm>
          <a:prstGeom prst="line">
            <a:avLst/>
          </a:prstGeom>
          <a:ln>
            <a:solidFill>
              <a:srgbClr val="000000"/>
            </a:solidFill>
            <a:tailEnd len="med" type="triangle" w="med"/>
          </a:ln>
        </p:spPr>
        <p:style>
          <a:lnRef idx="0"/>
          <a:fillRef idx="0"/>
          <a:effectRef idx="0"/>
          <a:fontRef idx="minor"/>
        </p:style>
      </p:sp>
    </p:spTree>
  </p:cSld>
  <p:timing>
    <p:tnLst>
      <p:par>
        <p:cTn id="135" dur="indefinite" restart="never" nodeType="tmRoot">
          <p:childTnLst>
            <p:seq>
              <p:cTn id="136" dur="indefinite" nodeType="mainSeq"/>
              <p:prevCondLst>
                <p:cond delay="0" evt="onPrev">
                  <p:tgtEl>
                    <p:sldTgt/>
                  </p:tgtEl>
                </p:cond>
              </p:prevCondLst>
              <p:nextCondLst>
                <p:cond delay="0"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CustomShape 1"/>
          <p:cNvSpPr/>
          <p:nvPr/>
        </p:nvSpPr>
        <p:spPr>
          <a:xfrm>
            <a:off x="575640" y="0"/>
            <a:ext cx="9055080" cy="60948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Zombie Process program</a:t>
            </a:r>
            <a:endParaRPr b="0" lang="en-IN" sz="4000" spc="-1" strike="noStrike">
              <a:latin typeface="Arial"/>
            </a:endParaRPr>
          </a:p>
        </p:txBody>
      </p:sp>
      <p:sp>
        <p:nvSpPr>
          <p:cNvPr id="545" name="CustomShape 2"/>
          <p:cNvSpPr/>
          <p:nvPr/>
        </p:nvSpPr>
        <p:spPr>
          <a:xfrm>
            <a:off x="143640" y="621720"/>
            <a:ext cx="9923040" cy="6924600"/>
          </a:xfrm>
          <a:prstGeom prst="rect">
            <a:avLst/>
          </a:prstGeom>
          <a:noFill/>
          <a:ln>
            <a:noFill/>
          </a:ln>
        </p:spPr>
        <p:style>
          <a:lnRef idx="0"/>
          <a:fillRef idx="0"/>
          <a:effectRef idx="0"/>
          <a:fontRef idx="minor"/>
        </p:style>
        <p:txBody>
          <a:bodyPr lIns="0" rIns="0" tIns="0" bIns="0" anchor="ctr"/>
          <a:p>
            <a:pPr>
              <a:lnSpc>
                <a:spcPct val="100000"/>
              </a:lnSpc>
            </a:pPr>
            <a:r>
              <a:rPr b="0" lang="en-IN" sz="3200" spc="-1" strike="noStrike">
                <a:solidFill>
                  <a:srgbClr val="000000"/>
                </a:solidFill>
                <a:latin typeface="Arial"/>
                <a:ea typeface="DejaVu Sans"/>
              </a:rPr>
              <a:t> </a:t>
            </a: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child pid = %d ppid = %d\n",getpid(),getppid());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process has exited ..\n");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parent pid = %d ppid = %d\n",getpid(),getppid());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sleep(10);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process has exited ..\n");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137" dur="indefinite" restart="never" nodeType="tmRoot">
          <p:childTnLst>
            <p:seq>
              <p:cTn id="138" dur="indefinite" nodeType="mainSeq"/>
              <p:prevCondLst>
                <p:cond delay="0" evt="onPrev">
                  <p:tgtEl>
                    <p:sldTgt/>
                  </p:tgtEl>
                </p:cond>
              </p:prevCondLst>
              <p:nextCondLst>
                <p:cond delay="0"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CustomShape 1"/>
          <p:cNvSpPr/>
          <p:nvPr/>
        </p:nvSpPr>
        <p:spPr>
          <a:xfrm>
            <a:off x="360" y="153720"/>
            <a:ext cx="10077120" cy="7106400"/>
          </a:xfrm>
          <a:prstGeom prst="rect">
            <a:avLst/>
          </a:prstGeom>
          <a:noFill/>
          <a:ln>
            <a:noFill/>
          </a:ln>
        </p:spPr>
        <p:style>
          <a:lnRef idx="0"/>
          <a:fillRef idx="0"/>
          <a:effectRef idx="0"/>
          <a:fontRef idx="minor"/>
        </p:style>
        <p:txBody>
          <a:bodyPr lIns="90000" rIns="90000" tIns="45000" bIns="45000"/>
          <a:p>
            <a:pPr>
              <a:lnSpc>
                <a:spcPct val="100000"/>
              </a:lnSpc>
            </a:pPr>
            <a:r>
              <a:rPr b="0" lang="en-IN" sz="3200" spc="-1" strike="noStrike">
                <a:solidFill>
                  <a:srgbClr val="a3238e"/>
                </a:solidFill>
                <a:latin typeface="Times New Roman"/>
                <a:ea typeface="DejaVu Sans"/>
              </a:rPr>
              <a:t>Q) When the child process exit status is collected ?</a:t>
            </a:r>
            <a:endParaRPr b="0" lang="en-IN" sz="3200" spc="-1" strike="noStrike">
              <a:latin typeface="Arial"/>
            </a:endParaRPr>
          </a:p>
          <a:p>
            <a:pPr>
              <a:lnSpc>
                <a:spcPct val="100000"/>
              </a:lnSpc>
            </a:pPr>
            <a:r>
              <a:rPr b="0" lang="en-IN" sz="3200" spc="-1" strike="noStrike">
                <a:solidFill>
                  <a:srgbClr val="a3238e"/>
                </a:solidFill>
                <a:latin typeface="Times New Roman"/>
                <a:ea typeface="DejaVu Sans"/>
              </a:rPr>
              <a:t>A)  </a:t>
            </a:r>
            <a:r>
              <a:rPr b="0" lang="en-IN" sz="3200" spc="-1" strike="noStrike">
                <a:solidFill>
                  <a:srgbClr val="000000"/>
                </a:solidFill>
                <a:latin typeface="Times New Roman"/>
                <a:ea typeface="DejaVu Sans"/>
              </a:rPr>
              <a:t>Bydefault, child exit status is collected, at the time of</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parent process termination.</a:t>
            </a:r>
            <a:endParaRPr b="0" lang="en-IN" sz="3200" spc="-1" strike="noStrike">
              <a:latin typeface="Arial"/>
            </a:endParaRPr>
          </a:p>
          <a:p>
            <a:pPr>
              <a:lnSpc>
                <a:spcPct val="100000"/>
              </a:lnSpc>
            </a:pPr>
            <a:endParaRPr b="0" lang="en-IN" sz="3200" spc="-1" strike="noStrike">
              <a:latin typeface="Arial"/>
            </a:endParaRPr>
          </a:p>
          <a:p>
            <a:pPr>
              <a:lnSpc>
                <a:spcPct val="100000"/>
              </a:lnSpc>
            </a:pPr>
            <a:r>
              <a:rPr b="0" lang="en-IN" sz="3200" spc="-1" strike="noStrike">
                <a:solidFill>
                  <a:srgbClr val="a3238e"/>
                </a:solidFill>
                <a:latin typeface="Times New Roman"/>
                <a:ea typeface="DejaVu Sans"/>
              </a:rPr>
              <a:t>Q) What is the problem of Zombie state?</a:t>
            </a:r>
            <a:endParaRPr b="0" lang="en-IN" sz="3200" spc="-1" strike="noStrike">
              <a:latin typeface="Arial"/>
            </a:endParaRPr>
          </a:p>
          <a:p>
            <a:pPr>
              <a:lnSpc>
                <a:spcPct val="100000"/>
              </a:lnSpc>
            </a:pPr>
            <a:r>
              <a:rPr b="0" lang="en-IN" sz="3200" spc="-1" strike="noStrike">
                <a:solidFill>
                  <a:srgbClr val="a3238e"/>
                </a:solidFill>
                <a:latin typeface="Times New Roman"/>
                <a:ea typeface="DejaVu Sans"/>
              </a:rPr>
              <a:t>A)  </a:t>
            </a:r>
            <a:r>
              <a:rPr b="0" lang="en-IN" sz="3200" spc="-1" strike="noStrike">
                <a:solidFill>
                  <a:srgbClr val="000000"/>
                </a:solidFill>
                <a:latin typeface="Times New Roman"/>
                <a:ea typeface="DejaVu Sans"/>
              </a:rPr>
              <a:t>The process resources are not released untill the child</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exit status is collected by parent. If resources are not</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released means, they are simply wasted and can not be</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used for other Processes.</a:t>
            </a:r>
            <a:endParaRPr b="0" lang="en-IN" sz="3200" spc="-1" strike="noStrike">
              <a:latin typeface="Arial"/>
            </a:endParaRPr>
          </a:p>
          <a:p>
            <a:pPr>
              <a:lnSpc>
                <a:spcPct val="100000"/>
              </a:lnSpc>
            </a:pPr>
            <a:endParaRPr b="0" lang="en-IN" sz="3200" spc="-1" strike="noStrike">
              <a:latin typeface="Arial"/>
            </a:endParaRPr>
          </a:p>
          <a:p>
            <a:pPr>
              <a:lnSpc>
                <a:spcPct val="100000"/>
              </a:lnSpc>
            </a:pPr>
            <a:r>
              <a:rPr b="0" lang="en-IN" sz="3200" spc="-1" strike="noStrike">
                <a:solidFill>
                  <a:srgbClr val="a3238e"/>
                </a:solidFill>
                <a:latin typeface="Times New Roman"/>
                <a:ea typeface="DejaVu Sans"/>
              </a:rPr>
              <a:t>       </a:t>
            </a:r>
            <a:r>
              <a:rPr b="0" lang="en-IN" sz="3200" spc="-1" strike="noStrike">
                <a:solidFill>
                  <a:srgbClr val="000000"/>
                </a:solidFill>
                <a:latin typeface="Times New Roman"/>
                <a:ea typeface="DejaVu Sans"/>
              </a:rPr>
              <a:t>Generally,  Process resources are </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RAM (STACK, DATA, HEAP, CODE), CPU, FILE, </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PIPE, MESSAGE QUEUE, SHARED MEMORY... etc. </a:t>
            </a:r>
            <a:endParaRPr b="0" lang="en-IN" sz="3200" spc="-1" strike="noStrike">
              <a:latin typeface="Arial"/>
            </a:endParaRPr>
          </a:p>
          <a:p>
            <a:pPr>
              <a:lnSpc>
                <a:spcPct val="100000"/>
              </a:lnSpc>
            </a:pPr>
            <a:endParaRPr b="0" lang="en-IN" sz="3200" spc="-1" strike="noStrike">
              <a:latin typeface="Arial"/>
            </a:endParaRPr>
          </a:p>
          <a:p>
            <a:pPr>
              <a:lnSpc>
                <a:spcPct val="100000"/>
              </a:lnSpc>
            </a:pPr>
            <a:endParaRPr b="0" lang="en-IN" sz="3200" spc="-1" strike="noStrike">
              <a:latin typeface="Arial"/>
            </a:endParaRPr>
          </a:p>
          <a:p>
            <a:pPr>
              <a:lnSpc>
                <a:spcPct val="100000"/>
              </a:lnSpc>
            </a:pPr>
            <a:endParaRPr b="0" lang="en-IN" sz="3200" spc="-1" strike="noStrike">
              <a:latin typeface="Arial"/>
            </a:endParaRPr>
          </a:p>
        </p:txBody>
      </p:sp>
    </p:spTree>
  </p:cSld>
  <p:timing>
    <p:tnLst>
      <p:par>
        <p:cTn id="139" dur="indefinite" restart="never" nodeType="tmRoot">
          <p:childTnLst>
            <p:seq>
              <p:cTn id="140" dur="indefinite" nodeType="mainSeq"/>
              <p:prevCondLst>
                <p:cond delay="0" evt="onPrev">
                  <p:tgtEl>
                    <p:sldTgt/>
                  </p:tgtEl>
                </p:cond>
              </p:prevCondLst>
              <p:nextCondLst>
                <p:cond delay="0"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CustomShape 1"/>
          <p:cNvSpPr/>
          <p:nvPr/>
        </p:nvSpPr>
        <p:spPr>
          <a:xfrm>
            <a:off x="14040" y="8640"/>
            <a:ext cx="10054800" cy="2786760"/>
          </a:xfrm>
          <a:prstGeom prst="rect">
            <a:avLst/>
          </a:prstGeom>
          <a:noFill/>
          <a:ln>
            <a:noFill/>
          </a:ln>
        </p:spPr>
        <p:style>
          <a:lnRef idx="0"/>
          <a:fillRef idx="0"/>
          <a:effectRef idx="0"/>
          <a:fontRef idx="minor"/>
        </p:style>
        <p:txBody>
          <a:bodyPr lIns="90000" rIns="90000" tIns="45000" bIns="45000"/>
          <a:p>
            <a:pPr>
              <a:lnSpc>
                <a:spcPct val="100000"/>
              </a:lnSpc>
            </a:pPr>
            <a:r>
              <a:rPr b="0" lang="en-IN" sz="32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Q) Why Parent process has to collect the child exit status?</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A)  </a:t>
            </a:r>
            <a:r>
              <a:rPr b="0" lang="en-IN" sz="2800" spc="-1" strike="noStrike">
                <a:solidFill>
                  <a:srgbClr val="000000"/>
                </a:solidFill>
                <a:latin typeface="Times New Roman"/>
                <a:ea typeface="DejaVu Sans"/>
              </a:rPr>
              <a:t>   To know, child process termination is normal process</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termination or abnormal termination.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Generally, normal process termination means, process</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task is successful, and abnormal process termination </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means, process task is unsuccessful.</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a3238e"/>
                </a:solidFill>
                <a:latin typeface="Times New Roman"/>
                <a:ea typeface="DejaVu Sans"/>
              </a:rPr>
              <a:t>Q) What is the use avoiding Zombie process to child?</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A) </a:t>
            </a:r>
            <a:r>
              <a:rPr b="0" lang="en-IN" sz="2800" spc="-1" strike="noStrike">
                <a:solidFill>
                  <a:srgbClr val="000000"/>
                </a:solidFill>
                <a:latin typeface="Times New Roman"/>
                <a:ea typeface="DejaVu Sans"/>
              </a:rPr>
              <a:t>The process resources are released, so that they can be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reused for other new processes.</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Q) How to avoid Zombie process to child?</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A)  </a:t>
            </a:r>
            <a:r>
              <a:rPr b="0" lang="en-IN" sz="2800" spc="-1" strike="noStrike">
                <a:solidFill>
                  <a:srgbClr val="000000"/>
                </a:solidFill>
                <a:latin typeface="Times New Roman"/>
                <a:ea typeface="DejaVu Sans"/>
              </a:rPr>
              <a:t>using wait() &amp; waitpid()  system calls.</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Q) What is wait() system call?</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a3238e"/>
                </a:solidFill>
                <a:latin typeface="Times New Roman"/>
                <a:ea typeface="DejaVu Sans"/>
              </a:rPr>
              <a:t>A) </a:t>
            </a:r>
            <a:r>
              <a:rPr b="0" lang="en-IN" sz="2800" spc="-1" strike="noStrike">
                <a:solidFill>
                  <a:srgbClr val="000000"/>
                </a:solidFill>
                <a:latin typeface="Times New Roman"/>
                <a:ea typeface="DejaVu Sans"/>
              </a:rPr>
              <a:t>A call to wait() blocks the calling process until one of of it’s child process exits or a signal is received after child process terminates, parent continues its execution after wait system call instruction.</a:t>
            </a:r>
            <a:endParaRPr b="0" lang="en-IN" sz="2800" spc="-1" strike="noStrike">
              <a:latin typeface="Arial"/>
            </a:endParaRPr>
          </a:p>
          <a:p>
            <a:pPr>
              <a:lnSpc>
                <a:spcPct val="100000"/>
              </a:lnSpc>
            </a:pPr>
            <a:endParaRPr b="0" lang="en-IN" sz="2800" spc="-1" strike="noStrike">
              <a:latin typeface="Arial"/>
            </a:endParaRPr>
          </a:p>
        </p:txBody>
      </p:sp>
    </p:spTree>
  </p:cSld>
  <p:timing>
    <p:tnLst>
      <p:par>
        <p:cTn id="141" dur="indefinite" restart="never" nodeType="tmRoot">
          <p:childTnLst>
            <p:seq>
              <p:cTn id="142" dur="indefinite" nodeType="mainSeq"/>
              <p:prevCondLst>
                <p:cond delay="0" evt="onPrev">
                  <p:tgtEl>
                    <p:sldTgt/>
                  </p:tgtEl>
                </p:cond>
              </p:prevCondLst>
              <p:nextCondLst>
                <p:cond delay="0"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CustomShape 1"/>
          <p:cNvSpPr/>
          <p:nvPr/>
        </p:nvSpPr>
        <p:spPr>
          <a:xfrm>
            <a:off x="503640" y="1764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Diffrence between return &amp; exit()</a:t>
            </a:r>
            <a:endParaRPr b="0" lang="en-IN" sz="4400" spc="-1" strike="noStrike">
              <a:latin typeface="Arial"/>
            </a:endParaRPr>
          </a:p>
        </p:txBody>
      </p:sp>
      <p:sp>
        <p:nvSpPr>
          <p:cNvPr id="549" name="CustomShape 2"/>
          <p:cNvSpPr/>
          <p:nvPr/>
        </p:nvSpPr>
        <p:spPr>
          <a:xfrm>
            <a:off x="503640" y="1073880"/>
            <a:ext cx="9055080" cy="61092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buClr>
                <a:srgbClr val="000000"/>
              </a:buClr>
              <a:buSzPct val="45000"/>
              <a:buFont typeface="Wingdings" charset="2"/>
              <a:buChar char=""/>
            </a:pPr>
            <a:r>
              <a:rPr b="0" lang="en-IN" sz="3200" spc="-1" strike="noStrike" u="sng">
                <a:solidFill>
                  <a:srgbClr val="a3238e"/>
                </a:solidFill>
                <a:uFillTx/>
                <a:latin typeface="Arial"/>
                <a:ea typeface="DejaVu Sans"/>
              </a:rPr>
              <a:t>Ex</a:t>
            </a:r>
            <a:r>
              <a:rPr b="0" lang="en-IN" sz="3200" spc="-1" strike="noStrike">
                <a:solidFill>
                  <a:srgbClr val="a3238e"/>
                </a:solidFill>
                <a:latin typeface="Arial"/>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#include&lt;stdio.h&gt;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int main()</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printf(“hi..\n”);</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abc();</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printf(“hello..\n”);</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void abc(void)</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printf(“in abc..\n”);</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return;  //exit(0);</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printf(“After Return..\n”);</a:t>
            </a:r>
            <a:endParaRPr b="0" lang="en-IN" sz="32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143" dur="indefinite" restart="never" nodeType="tmRoot">
          <p:childTnLst>
            <p:seq>
              <p:cTn id="144" dur="indefinite" nodeType="mainSeq"/>
              <p:prevCondLst>
                <p:cond delay="0" evt="onPrev">
                  <p:tgtEl>
                    <p:sldTgt/>
                  </p:tgtEl>
                </p:cond>
              </p:prevCondLst>
              <p:nextCondLst>
                <p:cond delay="0"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CustomShape 1"/>
          <p:cNvSpPr/>
          <p:nvPr/>
        </p:nvSpPr>
        <p:spPr>
          <a:xfrm>
            <a:off x="503640" y="8928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Process Termination</a:t>
            </a:r>
            <a:endParaRPr b="0" lang="en-IN" sz="3600" spc="-1" strike="noStrike">
              <a:latin typeface="Arial"/>
            </a:endParaRPr>
          </a:p>
        </p:txBody>
      </p:sp>
      <p:sp>
        <p:nvSpPr>
          <p:cNvPr id="551" name="CustomShape 2"/>
          <p:cNvSpPr/>
          <p:nvPr/>
        </p:nvSpPr>
        <p:spPr>
          <a:xfrm>
            <a:off x="503640" y="1223280"/>
            <a:ext cx="9055080" cy="588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endParaRPr b="0" lang="en-IN" sz="3200" spc="-1" strike="noStrike">
              <a:latin typeface="Arial"/>
            </a:endParaRPr>
          </a:p>
        </p:txBody>
      </p:sp>
      <p:graphicFrame>
        <p:nvGraphicFramePr>
          <p:cNvPr id="552" name="Table 3"/>
          <p:cNvGraphicFramePr/>
          <p:nvPr/>
        </p:nvGraphicFramePr>
        <p:xfrm>
          <a:off x="3457800" y="1366920"/>
          <a:ext cx="1653480" cy="607320"/>
        </p:xfrm>
        <a:graphic>
          <a:graphicData uri="http://schemas.openxmlformats.org/drawingml/2006/table">
            <a:tbl>
              <a:tblPr/>
              <a:tblGrid>
                <a:gridCol w="1653840"/>
              </a:tblGrid>
              <a:tr h="607680">
                <a:tc>
                  <a:txBody>
                    <a:bodyPr lIns="90000" rIns="90000"/>
                    <a:p>
                      <a:pPr>
                        <a:lnSpc>
                          <a:spcPct val="100000"/>
                        </a:lnSpc>
                      </a:pPr>
                      <a:r>
                        <a:rPr b="0" lang="en-IN" sz="1800" spc="-1" strike="noStrike">
                          <a:latin typeface="Arial"/>
                        </a:rPr>
                        <a:t>PROCESS</a:t>
                      </a:r>
                      <a:endParaRPr b="0" lang="en-IN" sz="1800" spc="-1" strike="noStrike">
                        <a:latin typeface="Arial"/>
                      </a:endParaRPr>
                    </a:p>
                    <a:p>
                      <a:pPr>
                        <a:lnSpc>
                          <a:spcPct val="100000"/>
                        </a:lnSpc>
                      </a:pPr>
                      <a:r>
                        <a:rPr b="0" lang="en-IN" sz="1800" spc="-1" strike="noStrike">
                          <a:latin typeface="Arial"/>
                        </a:rPr>
                        <a:t>Termination</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53" name="Table 4"/>
          <p:cNvGraphicFramePr/>
          <p:nvPr/>
        </p:nvGraphicFramePr>
        <p:xfrm>
          <a:off x="1630080" y="2435040"/>
          <a:ext cx="1609200" cy="349200"/>
        </p:xfrm>
        <a:graphic>
          <a:graphicData uri="http://schemas.openxmlformats.org/drawingml/2006/table">
            <a:tbl>
              <a:tblPr/>
              <a:tblGrid>
                <a:gridCol w="1609560"/>
              </a:tblGrid>
              <a:tr h="349560">
                <a:tc>
                  <a:txBody>
                    <a:bodyPr lIns="90000" rIns="90000"/>
                    <a:p>
                      <a:pPr>
                        <a:lnSpc>
                          <a:spcPct val="100000"/>
                        </a:lnSpc>
                      </a:pPr>
                      <a:r>
                        <a:rPr b="0" lang="en-IN" sz="1800" spc="-1" strike="noStrike">
                          <a:latin typeface="Arial"/>
                        </a:rPr>
                        <a:t>AB-NORMAL</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54" name="Table 5"/>
          <p:cNvGraphicFramePr/>
          <p:nvPr/>
        </p:nvGraphicFramePr>
        <p:xfrm>
          <a:off x="4495320" y="2433600"/>
          <a:ext cx="1307160" cy="347400"/>
        </p:xfrm>
        <a:graphic>
          <a:graphicData uri="http://schemas.openxmlformats.org/drawingml/2006/table">
            <a:tbl>
              <a:tblPr/>
              <a:tblGrid>
                <a:gridCol w="1307520"/>
              </a:tblGrid>
              <a:tr h="347760">
                <a:tc>
                  <a:txBody>
                    <a:bodyPr lIns="90000" rIns="90000"/>
                    <a:p>
                      <a:pPr>
                        <a:lnSpc>
                          <a:spcPct val="100000"/>
                        </a:lnSpc>
                      </a:pPr>
                      <a:r>
                        <a:rPr b="0" lang="en-IN" sz="1800" spc="-1" strike="noStrike">
                          <a:latin typeface="Arial"/>
                        </a:rPr>
                        <a:t>NORMAL</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55" name="Table 6"/>
          <p:cNvGraphicFramePr/>
          <p:nvPr/>
        </p:nvGraphicFramePr>
        <p:xfrm>
          <a:off x="5776200" y="3180240"/>
          <a:ext cx="1285200" cy="349200"/>
        </p:xfrm>
        <a:graphic>
          <a:graphicData uri="http://schemas.openxmlformats.org/drawingml/2006/table">
            <a:tbl>
              <a:tblPr/>
              <a:tblGrid>
                <a:gridCol w="1285560"/>
              </a:tblGrid>
              <a:tr h="349560">
                <a:tc>
                  <a:txBody>
                    <a:bodyPr lIns="90000" rIns="90000"/>
                    <a:p>
                      <a:pPr>
                        <a:lnSpc>
                          <a:spcPct val="100000"/>
                        </a:lnSpc>
                      </a:pPr>
                      <a:r>
                        <a:rPr b="0" lang="en-IN" sz="1800" spc="-1" strike="noStrike">
                          <a:latin typeface="Arial"/>
                        </a:rPr>
                        <a:t>FAILURE</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56" name="Table 7"/>
          <p:cNvGraphicFramePr/>
          <p:nvPr/>
        </p:nvGraphicFramePr>
        <p:xfrm>
          <a:off x="4247640" y="3249360"/>
          <a:ext cx="1183680" cy="348120"/>
        </p:xfrm>
        <a:graphic>
          <a:graphicData uri="http://schemas.openxmlformats.org/drawingml/2006/table">
            <a:tbl>
              <a:tblPr/>
              <a:tblGrid>
                <a:gridCol w="1184040"/>
              </a:tblGrid>
              <a:tr h="348480">
                <a:tc>
                  <a:txBody>
                    <a:bodyPr lIns="90000" rIns="90000"/>
                    <a:p>
                      <a:pPr>
                        <a:lnSpc>
                          <a:spcPct val="100000"/>
                        </a:lnSpc>
                      </a:pPr>
                      <a:r>
                        <a:rPr b="0" lang="en-IN" sz="1800" spc="-1" strike="noStrike">
                          <a:latin typeface="Arial"/>
                        </a:rPr>
                        <a:t>SUCESS</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57" name="Table 8"/>
          <p:cNvGraphicFramePr/>
          <p:nvPr/>
        </p:nvGraphicFramePr>
        <p:xfrm>
          <a:off x="821880" y="3310920"/>
          <a:ext cx="2316960" cy="603360"/>
        </p:xfrm>
        <a:graphic>
          <a:graphicData uri="http://schemas.openxmlformats.org/drawingml/2006/table">
            <a:tbl>
              <a:tblPr/>
              <a:tblGrid>
                <a:gridCol w="2317320"/>
              </a:tblGrid>
              <a:tr h="603720">
                <a:tc>
                  <a:txBody>
                    <a:bodyPr lIns="90000" rIns="90000"/>
                    <a:p>
                      <a:pPr>
                        <a:lnSpc>
                          <a:spcPct val="100000"/>
                        </a:lnSpc>
                      </a:pPr>
                      <a:r>
                        <a:rPr b="0" lang="en-IN" sz="1800" spc="-1" strike="noStrike">
                          <a:latin typeface="Arial"/>
                        </a:rPr>
                        <a:t>BECAUSE OF RECEIVED SIGNAL</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558" name="Line 9"/>
          <p:cNvSpPr/>
          <p:nvPr/>
        </p:nvSpPr>
        <p:spPr>
          <a:xfrm flipH="1">
            <a:off x="3239640" y="1942560"/>
            <a:ext cx="360000" cy="492120"/>
          </a:xfrm>
          <a:prstGeom prst="line">
            <a:avLst/>
          </a:prstGeom>
          <a:ln>
            <a:solidFill>
              <a:srgbClr val="000000"/>
            </a:solidFill>
            <a:tailEnd len="med" type="triangle" w="med"/>
          </a:ln>
        </p:spPr>
        <p:style>
          <a:lnRef idx="0"/>
          <a:fillRef idx="0"/>
          <a:effectRef idx="0"/>
          <a:fontRef idx="minor"/>
        </p:style>
      </p:sp>
      <p:sp>
        <p:nvSpPr>
          <p:cNvPr id="559" name="Line 10"/>
          <p:cNvSpPr/>
          <p:nvPr/>
        </p:nvSpPr>
        <p:spPr>
          <a:xfrm>
            <a:off x="4607640" y="1942560"/>
            <a:ext cx="432000" cy="490680"/>
          </a:xfrm>
          <a:prstGeom prst="line">
            <a:avLst/>
          </a:prstGeom>
          <a:ln>
            <a:solidFill>
              <a:srgbClr val="000000"/>
            </a:solidFill>
            <a:tailEnd len="med" type="triangle" w="med"/>
          </a:ln>
        </p:spPr>
        <p:style>
          <a:lnRef idx="0"/>
          <a:fillRef idx="0"/>
          <a:effectRef idx="0"/>
          <a:fontRef idx="minor"/>
        </p:style>
      </p:sp>
      <p:sp>
        <p:nvSpPr>
          <p:cNvPr id="560" name="Line 11"/>
          <p:cNvSpPr/>
          <p:nvPr/>
        </p:nvSpPr>
        <p:spPr>
          <a:xfrm flipH="1">
            <a:off x="2159640" y="2806920"/>
            <a:ext cx="288000" cy="525960"/>
          </a:xfrm>
          <a:prstGeom prst="line">
            <a:avLst/>
          </a:prstGeom>
          <a:ln>
            <a:solidFill>
              <a:srgbClr val="000000"/>
            </a:solidFill>
            <a:tailEnd len="med" type="triangle" w="med"/>
          </a:ln>
        </p:spPr>
        <p:style>
          <a:lnRef idx="0"/>
          <a:fillRef idx="0"/>
          <a:effectRef idx="0"/>
          <a:fontRef idx="minor"/>
        </p:style>
      </p:sp>
      <p:sp>
        <p:nvSpPr>
          <p:cNvPr id="561" name="Line 12"/>
          <p:cNvSpPr/>
          <p:nvPr/>
        </p:nvSpPr>
        <p:spPr>
          <a:xfrm flipH="1">
            <a:off x="4679640" y="2783160"/>
            <a:ext cx="648000" cy="407160"/>
          </a:xfrm>
          <a:prstGeom prst="line">
            <a:avLst/>
          </a:prstGeom>
          <a:ln>
            <a:solidFill>
              <a:srgbClr val="000000"/>
            </a:solidFill>
            <a:tailEnd len="med" type="triangle" w="med"/>
          </a:ln>
        </p:spPr>
        <p:style>
          <a:lnRef idx="0"/>
          <a:fillRef idx="0"/>
          <a:effectRef idx="0"/>
          <a:fontRef idx="minor"/>
        </p:style>
      </p:sp>
      <p:sp>
        <p:nvSpPr>
          <p:cNvPr id="562" name="Line 13"/>
          <p:cNvSpPr/>
          <p:nvPr/>
        </p:nvSpPr>
        <p:spPr>
          <a:xfrm>
            <a:off x="5327280" y="2783160"/>
            <a:ext cx="864000" cy="370080"/>
          </a:xfrm>
          <a:prstGeom prst="line">
            <a:avLst/>
          </a:prstGeom>
          <a:ln>
            <a:solidFill>
              <a:srgbClr val="000000"/>
            </a:solidFill>
            <a:tailEnd len="med" type="triangle" w="med"/>
          </a:ln>
        </p:spPr>
        <p:style>
          <a:lnRef idx="0"/>
          <a:fillRef idx="0"/>
          <a:effectRef idx="0"/>
          <a:fontRef idx="minor"/>
        </p:style>
      </p:sp>
      <p:sp>
        <p:nvSpPr>
          <p:cNvPr id="563" name="CustomShape 14"/>
          <p:cNvSpPr/>
          <p:nvPr/>
        </p:nvSpPr>
        <p:spPr>
          <a:xfrm>
            <a:off x="791640" y="4318920"/>
            <a:ext cx="8551440" cy="3109680"/>
          </a:xfrm>
          <a:prstGeom prst="rect">
            <a:avLst/>
          </a:prstGeom>
          <a:noFill/>
          <a:ln>
            <a:noFill/>
          </a:ln>
        </p:spPr>
        <p:style>
          <a:lnRef idx="0"/>
          <a:fillRef idx="0"/>
          <a:effectRef idx="0"/>
          <a:fontRef idx="minor"/>
        </p:style>
        <p:txBody>
          <a:bodyPr lIns="0" rIns="0" tIns="0" bIns="0"/>
          <a:p>
            <a:pPr>
              <a:lnSpc>
                <a:spcPct val="100000"/>
              </a:lnSpc>
            </a:pPr>
            <a:r>
              <a:rPr b="0" lang="en-IN" sz="2200" spc="-1" strike="noStrike" u="sng">
                <a:solidFill>
                  <a:srgbClr val="000000"/>
                </a:solidFill>
                <a:uFillTx/>
                <a:latin typeface="Arial"/>
                <a:ea typeface="DejaVu Sans"/>
              </a:rPr>
              <a:t>Ex</a:t>
            </a:r>
            <a:r>
              <a:rPr b="0" lang="en-IN" sz="2200" spc="-1" strike="noStrike">
                <a:solidFill>
                  <a:srgbClr val="000000"/>
                </a:solidFill>
                <a:latin typeface="Arial"/>
                <a:ea typeface="DejaVu Sans"/>
              </a:rPr>
              <a:t>:</a:t>
            </a:r>
            <a:br/>
            <a:r>
              <a:rPr b="0" lang="en-IN" sz="2200" spc="-1" strike="noStrike">
                <a:solidFill>
                  <a:srgbClr val="000000"/>
                </a:solidFill>
                <a:latin typeface="Arial"/>
                <a:ea typeface="DejaVu Sans"/>
              </a:rPr>
              <a:t>    </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if(fork() == 0)</a:t>
            </a:r>
            <a:endParaRPr b="0" lang="en-IN" sz="2200" spc="-1" strike="noStrike">
              <a:latin typeface="Arial"/>
            </a:endParaRPr>
          </a:p>
          <a:p>
            <a:pPr>
              <a:lnSpc>
                <a:spcPct val="100000"/>
              </a:lnSpc>
            </a:pPr>
            <a:r>
              <a:rPr b="0" lang="en-IN" sz="2200" spc="-1" strike="noStrike">
                <a:solidFill>
                  <a:srgbClr val="000000"/>
                </a:solidFill>
                <a:latin typeface="Arial"/>
                <a:ea typeface="DejaVu Sans"/>
              </a:rPr>
              <a:t>  </a:t>
            </a:r>
            <a:r>
              <a:rPr b="0" lang="en-IN" sz="2200" spc="-1" strike="noStrike">
                <a:solidFill>
                  <a:srgbClr val="000000"/>
                </a:solidFill>
                <a:latin typeface="Arial"/>
                <a:ea typeface="DejaVu Sans"/>
              </a:rPr>
              <a:t>{</a:t>
            </a:r>
            <a:br/>
            <a:r>
              <a:rPr b="0" lang="en-IN" sz="2200" spc="-1" strike="noStrike">
                <a:solidFill>
                  <a:srgbClr val="000000"/>
                </a:solidFill>
                <a:latin typeface="Arial"/>
                <a:ea typeface="DejaVu Sans"/>
              </a:rPr>
              <a:t>    if(work done())    </a:t>
            </a:r>
            <a:br/>
            <a:r>
              <a:rPr b="0" lang="en-IN" sz="2200" spc="-1" strike="noStrike">
                <a:solidFill>
                  <a:srgbClr val="000000"/>
                </a:solidFill>
                <a:latin typeface="Arial"/>
                <a:ea typeface="DejaVu Sans"/>
              </a:rPr>
              <a:t>     exit(0);   //normal success</a:t>
            </a:r>
            <a:br/>
            <a:r>
              <a:rPr b="0" lang="en-IN" sz="2200" spc="-1" strike="noStrike">
                <a:solidFill>
                  <a:srgbClr val="000000"/>
                </a:solidFill>
                <a:latin typeface="Arial"/>
                <a:ea typeface="DejaVu Sans"/>
              </a:rPr>
              <a:t>    </a:t>
            </a:r>
            <a:r>
              <a:rPr b="0" lang="en-IN" sz="1800" spc="-1" strike="noStrike">
                <a:solidFill>
                  <a:srgbClr val="000000"/>
                </a:solidFill>
                <a:latin typeface="Arial"/>
                <a:ea typeface="DejaVu Sans"/>
              </a:rPr>
              <a:t> </a:t>
            </a:r>
            <a:r>
              <a:rPr b="0" lang="en-IN" sz="2200" spc="-1" strike="noStrike">
                <a:solidFill>
                  <a:srgbClr val="000000"/>
                </a:solidFill>
                <a:latin typeface="Arial"/>
                <a:ea typeface="DejaVu Sans"/>
              </a:rPr>
              <a:t>else</a:t>
            </a:r>
            <a:br/>
            <a:r>
              <a:rPr b="0" lang="en-IN" sz="2200" spc="-1" strike="noStrike">
                <a:solidFill>
                  <a:srgbClr val="000000"/>
                </a:solidFill>
                <a:latin typeface="Arial"/>
                <a:ea typeface="DejaVu Sans"/>
              </a:rPr>
              <a:t>     exit(1);    // normal failure</a:t>
            </a:r>
            <a:br/>
            <a:r>
              <a:rPr b="0" lang="en-IN" sz="2200" spc="-1" strike="noStrike">
                <a:solidFill>
                  <a:srgbClr val="000000"/>
                </a:solidFill>
                <a:latin typeface="Arial"/>
                <a:ea typeface="DejaVu Sans"/>
              </a:rPr>
              <a:t>   }   </a:t>
            </a:r>
            <a:endParaRPr b="0" lang="en-IN" sz="2200" spc="-1" strike="noStrike">
              <a:latin typeface="Arial"/>
            </a:endParaRPr>
          </a:p>
        </p:txBody>
      </p:sp>
    </p:spTree>
  </p:cSld>
  <p:timing>
    <p:tnLst>
      <p:par>
        <p:cTn id="145" dur="indefinite" restart="never" nodeType="tmRoot">
          <p:childTnLst>
            <p:seq>
              <p:cTn id="146" dur="indefinite" nodeType="mainSeq"/>
              <p:prevCondLst>
                <p:cond delay="0" evt="onPrev">
                  <p:tgtEl>
                    <p:sldTgt/>
                  </p:tgtEl>
                </p:cond>
              </p:prevCondLst>
              <p:nextCondLst>
                <p:cond delay="0"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CustomShape 1"/>
          <p:cNvSpPr/>
          <p:nvPr/>
        </p:nvSpPr>
        <p:spPr>
          <a:xfrm>
            <a:off x="503640" y="36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exit()</a:t>
            </a:r>
            <a:endParaRPr b="0" lang="en-IN" sz="4400" spc="-1" strike="noStrike">
              <a:latin typeface="Arial"/>
            </a:endParaRPr>
          </a:p>
        </p:txBody>
      </p:sp>
      <p:sp>
        <p:nvSpPr>
          <p:cNvPr id="565" name="CustomShape 2"/>
          <p:cNvSpPr/>
          <p:nvPr/>
        </p:nvSpPr>
        <p:spPr>
          <a:xfrm>
            <a:off x="143640" y="862920"/>
            <a:ext cx="9780480" cy="6253560"/>
          </a:xfrm>
          <a:prstGeom prst="rect">
            <a:avLst/>
          </a:prstGeom>
          <a:noFill/>
          <a:ln>
            <a:noFill/>
          </a:ln>
        </p:spPr>
        <p:style>
          <a:lnRef idx="0"/>
          <a:fillRef idx="0"/>
          <a:effectRef idx="0"/>
          <a:fontRef idx="minor"/>
        </p:style>
        <p:txBody>
          <a:bodyPr lIns="90000" rIns="90000" tIns="45000" bIns="45000"/>
          <a:p>
            <a:pPr>
              <a:lnSpc>
                <a:spcPct val="100000"/>
              </a:lnSpc>
            </a:pPr>
            <a:endParaRPr b="0" lang="en-IN" sz="1800" spc="-1" strike="noStrike">
              <a:latin typeface="Arial"/>
            </a:endParaRPr>
          </a:p>
          <a:p>
            <a:pPr>
              <a:lnSpc>
                <a:spcPct val="100000"/>
              </a:lnSpc>
            </a:pPr>
            <a:r>
              <a:rPr b="0" lang="en-IN" sz="2800" spc="-1" strike="noStrike">
                <a:solidFill>
                  <a:srgbClr val="a3238e"/>
                </a:solidFill>
                <a:latin typeface="Times New Roman"/>
                <a:ea typeface="DejaVu Sans"/>
              </a:rPr>
              <a:t>NAME</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exit - cause normal process termination</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SYNOPSIS</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000000"/>
                </a:solidFill>
                <a:latin typeface="Times New Roman"/>
                <a:ea typeface="DejaVu Sans"/>
              </a:rPr>
              <a:t>#include &lt;stdlib.h&gt;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void exit(int status);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DESCRIPTION</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000000"/>
                </a:solidFill>
                <a:latin typeface="Times New Roman"/>
                <a:ea typeface="DejaVu Sans"/>
              </a:rPr>
              <a:t>The  exit()  function causes normal process termination and the value of status &amp; 0377 is returned to the parent (see wait(2)).</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RETURN VALUE</a:t>
            </a: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       </a:t>
            </a:r>
            <a:r>
              <a:rPr b="0" lang="en-IN" sz="2800" spc="-1" strike="noStrike">
                <a:solidFill>
                  <a:srgbClr val="000000"/>
                </a:solidFill>
                <a:latin typeface="Times New Roman"/>
                <a:ea typeface="DejaVu Sans"/>
              </a:rPr>
              <a:t>The exit() function does not return.</a:t>
            </a:r>
            <a:endParaRPr b="0" lang="en-IN" sz="2800" spc="-1" strike="noStrike">
              <a:latin typeface="Arial"/>
            </a:endParaRPr>
          </a:p>
        </p:txBody>
      </p:sp>
    </p:spTree>
  </p:cSld>
  <p:timing>
    <p:tnLst>
      <p:par>
        <p:cTn id="147" dur="indefinite" restart="never" nodeType="tmRoot">
          <p:childTnLst>
            <p:seq>
              <p:cTn id="148" dur="indefinite" nodeType="mainSeq"/>
              <p:prevCondLst>
                <p:cond delay="0" evt="onPrev">
                  <p:tgtEl>
                    <p:sldTgt/>
                  </p:tgtEl>
                </p:cond>
              </p:prevCondLst>
              <p:nextCondLst>
                <p:cond delay="0"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CustomShape 1"/>
          <p:cNvSpPr/>
          <p:nvPr/>
        </p:nvSpPr>
        <p:spPr>
          <a:xfrm>
            <a:off x="503640" y="8928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Diffrence between return &amp; exit()</a:t>
            </a:r>
            <a:endParaRPr b="0" lang="en-IN" sz="3600" spc="-1" strike="noStrike">
              <a:latin typeface="Arial"/>
            </a:endParaRPr>
          </a:p>
        </p:txBody>
      </p:sp>
      <p:sp>
        <p:nvSpPr>
          <p:cNvPr id="567" name="CustomShape 2"/>
          <p:cNvSpPr/>
          <p:nvPr/>
        </p:nvSpPr>
        <p:spPr>
          <a:xfrm>
            <a:off x="503640" y="1078920"/>
            <a:ext cx="9055080" cy="6176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0000ff"/>
                </a:solidFill>
                <a:uFillTx/>
                <a:latin typeface="Arial"/>
                <a:ea typeface="DejaVu Sans"/>
              </a:rPr>
              <a:t>Note</a:t>
            </a:r>
            <a:r>
              <a:rPr b="0" lang="en-IN" sz="3200" spc="-1" strike="noStrike">
                <a:solidFill>
                  <a:srgbClr val="0000ff"/>
                </a:solidFill>
                <a:latin typeface="Arial"/>
                <a:ea typeface="DejaVu Sans"/>
              </a:rPr>
              <a:t>: </a:t>
            </a:r>
            <a:r>
              <a:rPr b="0" lang="en-IN" sz="3200" spc="-1" strike="noStrike">
                <a:solidFill>
                  <a:srgbClr val="000000"/>
                </a:solidFill>
                <a:latin typeface="Times New Roman"/>
                <a:ea typeface="DejaVu Sans"/>
              </a:rPr>
              <a:t> return is used for immediate exit from the function. exit() is used for immediate exit from the program.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exit() value Range(0 to 255).</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r>
              <a:rPr b="0" lang="en-IN" sz="3200" spc="-1" strike="noStrike">
                <a:solidFill>
                  <a:srgbClr val="000000"/>
                </a:solidFill>
                <a:latin typeface="Arial"/>
                <a:ea typeface="DejaVu Sans"/>
              </a:rPr>
              <a:t>exit value is stored in 2</a:t>
            </a:r>
            <a:r>
              <a:rPr b="0" lang="en-IN" sz="3200" spc="-1" strike="noStrike" baseline="101000">
                <a:solidFill>
                  <a:srgbClr val="000000"/>
                </a:solidFill>
                <a:latin typeface="Arial"/>
                <a:ea typeface="DejaVu Sans"/>
              </a:rPr>
              <a:t>nd</a:t>
            </a:r>
            <a:r>
              <a:rPr b="0" lang="en-IN" sz="3200" spc="-1" strike="noStrike">
                <a:solidFill>
                  <a:srgbClr val="000000"/>
                </a:solidFill>
                <a:latin typeface="Arial"/>
                <a:ea typeface="DejaVu Sans"/>
              </a:rPr>
              <a:t> bye of 4 byte integer of wait() status variable.</a:t>
            </a:r>
            <a:endParaRPr b="0" lang="en-IN" sz="3200" spc="-1" strike="noStrike">
              <a:latin typeface="Arial"/>
            </a:endParaRPr>
          </a:p>
          <a:p>
            <a:pPr>
              <a:lnSpc>
                <a:spcPct val="100000"/>
              </a:lnSpc>
              <a:spcBef>
                <a:spcPts val="1417"/>
              </a:spcBef>
            </a:pPr>
            <a:r>
              <a:rPr b="0" lang="en-IN" sz="3200" spc="-1" strike="noStrike">
                <a:solidFill>
                  <a:srgbClr val="000000"/>
                </a:solidFill>
                <a:latin typeface="Arial"/>
                <a:ea typeface="DejaVu Sans"/>
              </a:rPr>
              <a:t> </a:t>
            </a:r>
            <a:endParaRPr b="0" lang="en-IN" sz="3200" spc="-1" strike="noStrike">
              <a:latin typeface="Arial"/>
            </a:endParaRPr>
          </a:p>
          <a:p>
            <a:pPr>
              <a:lnSpc>
                <a:spcPct val="100000"/>
              </a:lnSpc>
              <a:spcBef>
                <a:spcPts val="1417"/>
              </a:spcBef>
            </a:pPr>
            <a:endParaRPr b="0" lang="en-IN" sz="3200" spc="-1" strike="noStrike">
              <a:latin typeface="Arial"/>
            </a:endParaRPr>
          </a:p>
          <a:p>
            <a:pPr>
              <a:lnSpc>
                <a:spcPct val="100000"/>
              </a:lnSpc>
              <a:spcBef>
                <a:spcPts val="1417"/>
              </a:spcBef>
            </a:pPr>
            <a:endParaRPr b="0" lang="en-IN" sz="3200" spc="-1" strike="noStrike">
              <a:latin typeface="Arial"/>
            </a:endParaRPr>
          </a:p>
        </p:txBody>
      </p:sp>
      <p:graphicFrame>
        <p:nvGraphicFramePr>
          <p:cNvPr id="568" name="Table 3"/>
          <p:cNvGraphicFramePr/>
          <p:nvPr/>
        </p:nvGraphicFramePr>
        <p:xfrm>
          <a:off x="1455120" y="5040000"/>
          <a:ext cx="5074560" cy="492120"/>
        </p:xfrm>
        <a:graphic>
          <a:graphicData uri="http://schemas.openxmlformats.org/drawingml/2006/table">
            <a:tbl>
              <a:tblPr/>
              <a:tblGrid>
                <a:gridCol w="1268640"/>
                <a:gridCol w="1268640"/>
                <a:gridCol w="1268640"/>
                <a:gridCol w="1269000"/>
              </a:tblGrid>
              <a:tr h="492480">
                <a:tc>
                  <a:txBody>
                    <a:bodyPr lIns="90000" rIns="90000"/>
                    <a:p>
                      <a:pPr>
                        <a:lnSpc>
                          <a:spcPct val="100000"/>
                        </a:lnSpc>
                      </a:pPr>
                      <a:r>
                        <a:rPr b="0" lang="en-IN" sz="1800" spc="-1" strike="noStrike">
                          <a:latin typeface="Arial"/>
                        </a:rPr>
                        <a:t>4</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p>
                      <a:pPr>
                        <a:lnSpc>
                          <a:spcPct val="100000"/>
                        </a:lnSpc>
                      </a:pPr>
                      <a:r>
                        <a:rPr b="0" lang="en-IN" sz="1800" spc="-1" strike="noStrike">
                          <a:latin typeface="Arial"/>
                        </a:rPr>
                        <a:t>3</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p>
                      <a:pPr>
                        <a:lnSpc>
                          <a:spcPct val="100000"/>
                        </a:lnSpc>
                      </a:pPr>
                      <a:r>
                        <a:rPr b="0" lang="en-IN" sz="1800" spc="-1" strike="noStrike">
                          <a:latin typeface="Arial"/>
                        </a:rPr>
                        <a:t>2</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p>
                      <a:pPr>
                        <a:lnSpc>
                          <a:spcPct val="100000"/>
                        </a:lnSpc>
                      </a:pPr>
                      <a:r>
                        <a:rPr b="0" lang="en-IN" sz="1800" spc="-1" strike="noStrike">
                          <a:latin typeface="Arial"/>
                        </a:rPr>
                        <a:t>1</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569" name="Line 4"/>
          <p:cNvSpPr/>
          <p:nvPr/>
        </p:nvSpPr>
        <p:spPr>
          <a:xfrm flipH="1" flipV="1">
            <a:off x="4518720" y="5532120"/>
            <a:ext cx="1440000" cy="1261800"/>
          </a:xfrm>
          <a:prstGeom prst="line">
            <a:avLst/>
          </a:prstGeom>
          <a:ln>
            <a:solidFill>
              <a:srgbClr val="000000"/>
            </a:solidFill>
            <a:tailEnd len="med" type="triangle" w="med"/>
          </a:ln>
        </p:spPr>
        <p:style>
          <a:lnRef idx="0"/>
          <a:fillRef idx="0"/>
          <a:effectRef idx="0"/>
          <a:fontRef idx="minor"/>
        </p:style>
      </p:sp>
      <p:graphicFrame>
        <p:nvGraphicFramePr>
          <p:cNvPr id="570" name="Table 5"/>
          <p:cNvGraphicFramePr/>
          <p:nvPr/>
        </p:nvGraphicFramePr>
        <p:xfrm>
          <a:off x="5040360" y="6794280"/>
          <a:ext cx="1943640" cy="347400"/>
        </p:xfrm>
        <a:graphic>
          <a:graphicData uri="http://schemas.openxmlformats.org/drawingml/2006/table">
            <a:tbl>
              <a:tblPr/>
              <a:tblGrid>
                <a:gridCol w="1944000"/>
              </a:tblGrid>
              <a:tr h="347760">
                <a:tc>
                  <a:txBody>
                    <a:bodyPr lIns="90000" rIns="90000"/>
                    <a:p>
                      <a:pPr>
                        <a:lnSpc>
                          <a:spcPct val="100000"/>
                        </a:lnSpc>
                      </a:pPr>
                      <a:r>
                        <a:rPr b="0" lang="en-IN" sz="1800" spc="-1" strike="noStrike">
                          <a:latin typeface="Arial"/>
                        </a:rPr>
                        <a:t>exit(any number)</a:t>
                      </a:r>
                      <a:endParaRPr b="0" lang="en-IN" sz="18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Tree>
  </p:cSld>
  <p:timing>
    <p:tnLst>
      <p:par>
        <p:cTn id="149" dur="indefinite" restart="never" nodeType="tmRoot">
          <p:childTnLst>
            <p:seq>
              <p:cTn id="150" dur="indefinite" nodeType="mainSeq"/>
              <p:prevCondLst>
                <p:cond delay="0" evt="onPrev">
                  <p:tgtEl>
                    <p:sldTgt/>
                  </p:tgtEl>
                </p:cond>
              </p:prevCondLst>
              <p:nextCondLst>
                <p:cond delay="0"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CustomShape 1"/>
          <p:cNvSpPr/>
          <p:nvPr/>
        </p:nvSpPr>
        <p:spPr>
          <a:xfrm>
            <a:off x="503640" y="70920"/>
            <a:ext cx="9055080" cy="637560"/>
          </a:xfrm>
          <a:prstGeom prst="rect">
            <a:avLst/>
          </a:prstGeom>
          <a:noFill/>
          <a:ln>
            <a:noFill/>
          </a:ln>
        </p:spPr>
        <p:style>
          <a:lnRef idx="0"/>
          <a:fillRef idx="0"/>
          <a:effectRef idx="0"/>
          <a:fontRef idx="minor"/>
        </p:style>
        <p:txBody>
          <a:bodyPr lIns="0" rIns="0" tIns="0" bIns="0" anchor="ctr"/>
          <a:p>
            <a:pPr algn="ctr">
              <a:lnSpc>
                <a:spcPct val="100000"/>
              </a:lnSpc>
            </a:pPr>
            <a:r>
              <a:rPr b="0" lang="en-IN" sz="4000" spc="-1" strike="noStrike">
                <a:solidFill>
                  <a:srgbClr val="a3238e"/>
                </a:solidFill>
                <a:latin typeface="Times New Roman"/>
                <a:ea typeface="DejaVu Sans"/>
              </a:rPr>
              <a:t>wait () &amp; waitpid ()</a:t>
            </a:r>
            <a:endParaRPr b="0" lang="en-IN" sz="4000" spc="-1" strike="noStrike">
              <a:latin typeface="Arial"/>
            </a:endParaRPr>
          </a:p>
        </p:txBody>
      </p:sp>
      <p:sp>
        <p:nvSpPr>
          <p:cNvPr id="572" name="CustomShape 2"/>
          <p:cNvSpPr/>
          <p:nvPr/>
        </p:nvSpPr>
        <p:spPr>
          <a:xfrm>
            <a:off x="143640" y="718920"/>
            <a:ext cx="9636480" cy="64695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2600" spc="-1" strike="noStrike" u="sng">
                <a:solidFill>
                  <a:srgbClr val="a3238e"/>
                </a:solidFill>
                <a:uFillTx/>
                <a:latin typeface="Times New Roman"/>
                <a:ea typeface="DejaVu Sans"/>
              </a:rPr>
              <a:t>NAME:</a:t>
            </a:r>
            <a:endParaRPr b="0" lang="en-IN" sz="2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600" spc="-1" strike="noStrike">
                <a:solidFill>
                  <a:srgbClr val="000000"/>
                </a:solidFill>
                <a:latin typeface="Times New Roman"/>
                <a:ea typeface="DejaVu Sans"/>
              </a:rPr>
              <a:t>wait, waitpid  - wait for process to change state</a:t>
            </a:r>
            <a:endParaRPr b="0" lang="en-IN" sz="26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600" spc="-1" strike="noStrike" u="sng">
                <a:solidFill>
                  <a:srgbClr val="a3238e"/>
                </a:solidFill>
                <a:uFillTx/>
                <a:latin typeface="Times New Roman"/>
                <a:ea typeface="DejaVu Sans"/>
              </a:rPr>
              <a:t>SYNOPSIS</a:t>
            </a:r>
            <a:r>
              <a:rPr b="0" lang="en-IN" sz="2600" spc="-1" strike="noStrike">
                <a:solidFill>
                  <a:srgbClr val="a3238e"/>
                </a:solidFill>
                <a:latin typeface="Times New Roman"/>
                <a:ea typeface="DejaVu Sans"/>
              </a:rPr>
              <a:t>:</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#include &lt;sys/types.h&gt;</a:t>
            </a:r>
            <a:endParaRPr b="0" lang="en-IN" sz="2600" spc="-1" strike="noStrike">
              <a:latin typeface="Arial"/>
            </a:endParaRPr>
          </a:p>
          <a:p>
            <a:pPr marL="432000" indent="-308160">
              <a:lnSpc>
                <a:spcPct val="100000"/>
              </a:lnSpc>
              <a:spcBef>
                <a:spcPts val="283"/>
              </a:spcBef>
              <a:buClr>
                <a:srgbClr val="000000"/>
              </a:buClr>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#include &lt;sys/wait.h&gt;</a:t>
            </a:r>
            <a:endParaRPr b="0" lang="en-IN" sz="2600" spc="-1" strike="noStrike">
              <a:latin typeface="Arial"/>
            </a:endParaRPr>
          </a:p>
          <a:p>
            <a:pPr marL="432000" indent="-308160">
              <a:lnSpc>
                <a:spcPct val="100000"/>
              </a:lnSpc>
              <a:spcBef>
                <a:spcPts val="283"/>
              </a:spcBef>
              <a:buClr>
                <a:srgbClr val="000000"/>
              </a:buClr>
              <a:buSzPct val="45000"/>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9900"/>
                </a:solidFill>
                <a:latin typeface="Times New Roman"/>
                <a:ea typeface="DejaVu Sans"/>
              </a:rPr>
              <a:t>  </a:t>
            </a:r>
            <a:r>
              <a:rPr b="0" lang="en-IN" sz="2600" spc="-1" strike="noStrike">
                <a:solidFill>
                  <a:srgbClr val="009900"/>
                </a:solidFill>
                <a:latin typeface="Times New Roman"/>
                <a:ea typeface="DejaVu Sans"/>
              </a:rPr>
              <a:t>pid_t</a:t>
            </a:r>
            <a:r>
              <a:rPr b="0" lang="en-IN" sz="2600" spc="-1" strike="noStrike">
                <a:solidFill>
                  <a:srgbClr val="000000"/>
                </a:solidFill>
                <a:latin typeface="Times New Roman"/>
                <a:ea typeface="DejaVu Sans"/>
              </a:rPr>
              <a:t> wait(</a:t>
            </a:r>
            <a:r>
              <a:rPr b="0" lang="en-IN" sz="2600" spc="-1" strike="noStrike">
                <a:solidFill>
                  <a:srgbClr val="009900"/>
                </a:solidFill>
                <a:latin typeface="Times New Roman"/>
                <a:ea typeface="DejaVu Sans"/>
              </a:rPr>
              <a:t>int</a:t>
            </a:r>
            <a:r>
              <a:rPr b="0" lang="en-IN" sz="2600" spc="-1" strike="noStrike">
                <a:solidFill>
                  <a:srgbClr val="000000"/>
                </a:solidFill>
                <a:latin typeface="Times New Roman"/>
                <a:ea typeface="DejaVu Sans"/>
              </a:rPr>
              <a:t> *status);</a:t>
            </a:r>
            <a:endParaRPr b="0" lang="en-IN" sz="2600" spc="-1" strike="noStrike">
              <a:latin typeface="Arial"/>
            </a:endParaRPr>
          </a:p>
          <a:p>
            <a:pPr marL="432000" indent="-308160">
              <a:lnSpc>
                <a:spcPct val="100000"/>
              </a:lnSpc>
              <a:spcBef>
                <a:spcPts val="283"/>
              </a:spcBef>
              <a:buClr>
                <a:srgbClr val="000000"/>
              </a:buClr>
              <a:buFont typeface="Wingdings" charset="2"/>
              <a:buChar char=""/>
            </a:pPr>
            <a:r>
              <a:rPr b="0" lang="en-IN" sz="2600" spc="-1" strike="noStrike">
                <a:solidFill>
                  <a:srgbClr val="000000"/>
                </a:solidFill>
                <a:latin typeface="Times New Roman"/>
                <a:ea typeface="DejaVu Sans"/>
              </a:rPr>
              <a:t>  </a:t>
            </a:r>
            <a:r>
              <a:rPr b="0" lang="en-IN" sz="2600" spc="-1" strike="noStrike">
                <a:solidFill>
                  <a:srgbClr val="009900"/>
                </a:solidFill>
                <a:latin typeface="Times New Roman"/>
                <a:ea typeface="DejaVu Sans"/>
              </a:rPr>
              <a:t> </a:t>
            </a:r>
            <a:r>
              <a:rPr b="0" lang="en-IN" sz="2600" spc="-1" strike="noStrike">
                <a:solidFill>
                  <a:srgbClr val="009900"/>
                </a:solidFill>
                <a:latin typeface="Times New Roman"/>
                <a:ea typeface="DejaVu Sans"/>
              </a:rPr>
              <a:t>pid_t </a:t>
            </a:r>
            <a:r>
              <a:rPr b="0" lang="en-IN" sz="2600" spc="-1" strike="noStrike">
                <a:solidFill>
                  <a:srgbClr val="000000"/>
                </a:solidFill>
                <a:latin typeface="Times New Roman"/>
                <a:ea typeface="DejaVu Sans"/>
              </a:rPr>
              <a:t>waitpid(</a:t>
            </a:r>
            <a:r>
              <a:rPr b="0" lang="en-IN" sz="2600" spc="-1" strike="noStrike">
                <a:solidFill>
                  <a:srgbClr val="009900"/>
                </a:solidFill>
                <a:latin typeface="Times New Roman"/>
                <a:ea typeface="DejaVu Sans"/>
              </a:rPr>
              <a:t>pid_t </a:t>
            </a:r>
            <a:r>
              <a:rPr b="0" lang="en-IN" sz="2600" spc="-1" strike="noStrike">
                <a:solidFill>
                  <a:srgbClr val="000000"/>
                </a:solidFill>
                <a:latin typeface="Times New Roman"/>
                <a:ea typeface="DejaVu Sans"/>
              </a:rPr>
              <a:t>pid, </a:t>
            </a:r>
            <a:r>
              <a:rPr b="0" lang="en-IN" sz="2600" spc="-1" strike="noStrike">
                <a:solidFill>
                  <a:srgbClr val="009900"/>
                </a:solidFill>
                <a:latin typeface="Times New Roman"/>
                <a:ea typeface="DejaVu Sans"/>
              </a:rPr>
              <a:t>int </a:t>
            </a:r>
            <a:r>
              <a:rPr b="0" lang="en-IN" sz="2600" spc="-1" strike="noStrike">
                <a:solidFill>
                  <a:srgbClr val="000000"/>
                </a:solidFill>
                <a:latin typeface="Times New Roman"/>
                <a:ea typeface="DejaVu Sans"/>
              </a:rPr>
              <a:t>*status, </a:t>
            </a:r>
            <a:r>
              <a:rPr b="0" lang="en-IN" sz="2600" spc="-1" strike="noStrike">
                <a:solidFill>
                  <a:srgbClr val="009900"/>
                </a:solidFill>
                <a:latin typeface="Times New Roman"/>
                <a:ea typeface="DejaVu Sans"/>
              </a:rPr>
              <a:t>int</a:t>
            </a:r>
            <a:r>
              <a:rPr b="0" lang="en-IN" sz="2600" spc="-1" strike="noStrike">
                <a:solidFill>
                  <a:srgbClr val="000000"/>
                </a:solidFill>
                <a:latin typeface="Times New Roman"/>
                <a:ea typeface="DejaVu Sans"/>
              </a:rPr>
              <a:t> options);</a:t>
            </a:r>
            <a:endParaRPr b="0" lang="en-IN" sz="2600" spc="-1" strike="noStrike">
              <a:latin typeface="Arial"/>
            </a:endParaRPr>
          </a:p>
          <a:p>
            <a:pPr>
              <a:lnSpc>
                <a:spcPct val="100000"/>
              </a:lnSpc>
              <a:spcBef>
                <a:spcPts val="283"/>
              </a:spcBef>
            </a:pPr>
            <a:r>
              <a:rPr b="0" lang="en-IN" sz="2600" spc="-1" strike="noStrike">
                <a:solidFill>
                  <a:srgbClr val="000000"/>
                </a:solidFill>
                <a:latin typeface="Times New Roman"/>
                <a:ea typeface="DejaVu Sans"/>
              </a:rPr>
              <a:t>     </a:t>
            </a:r>
            <a:r>
              <a:rPr b="0" lang="en-IN" sz="2600" spc="-1" strike="noStrike" u="sng">
                <a:solidFill>
                  <a:srgbClr val="a3238e"/>
                </a:solidFill>
                <a:uFillTx/>
                <a:latin typeface="Times New Roman"/>
                <a:ea typeface="DejaVu Sans"/>
              </a:rPr>
              <a:t>DESCRIPTION:</a:t>
            </a:r>
            <a:endParaRPr b="0" lang="en-IN" sz="2600" spc="-1" strike="noStrike">
              <a:latin typeface="Arial"/>
            </a:endParaRPr>
          </a:p>
          <a:p>
            <a:pPr>
              <a:lnSpc>
                <a:spcPct val="100000"/>
              </a:lnSpc>
              <a:spcBef>
                <a:spcPts val="283"/>
              </a:spcBef>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The  wait()  system  call  suspends  execution of the calling process          until one of its  children terminates.  </a:t>
            </a:r>
            <a:endParaRPr b="0" lang="en-IN" sz="2600" spc="-1" strike="noStrike">
              <a:latin typeface="Arial"/>
            </a:endParaRPr>
          </a:p>
          <a:p>
            <a:pPr>
              <a:lnSpc>
                <a:spcPct val="100000"/>
              </a:lnSpc>
              <a:spcBef>
                <a:spcPts val="283"/>
              </a:spcBef>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The call</a:t>
            </a:r>
            <a:r>
              <a:rPr b="0" lang="en-IN" sz="2600" spc="-1" strike="noStrike">
                <a:solidFill>
                  <a:srgbClr val="0000ff"/>
                </a:solidFill>
                <a:latin typeface="Times New Roman"/>
                <a:ea typeface="DejaVu Sans"/>
              </a:rPr>
              <a:t> wait(&amp;wstatus)</a:t>
            </a:r>
            <a:r>
              <a:rPr b="0" lang="en-IN" sz="2600" spc="-1" strike="noStrike">
                <a:solidFill>
                  <a:srgbClr val="000000"/>
                </a:solidFill>
                <a:latin typeface="Times New Roman"/>
                <a:ea typeface="DejaVu Sans"/>
              </a:rPr>
              <a:t> is equivalent to:     </a:t>
            </a:r>
            <a:r>
              <a:rPr b="0" lang="en-IN" sz="2600" spc="-1" strike="noStrike">
                <a:solidFill>
                  <a:srgbClr val="0000ff"/>
                </a:solidFill>
                <a:latin typeface="Times New Roman"/>
                <a:ea typeface="DejaVu Sans"/>
              </a:rPr>
              <a:t>waitpid(-1, &amp;wstatus, 0);</a:t>
            </a:r>
            <a:endParaRPr b="0" lang="en-IN" sz="2600" spc="-1" strike="noStrike">
              <a:latin typeface="Arial"/>
            </a:endParaRPr>
          </a:p>
          <a:p>
            <a:pPr>
              <a:lnSpc>
                <a:spcPct val="100000"/>
              </a:lnSpc>
              <a:spcBef>
                <a:spcPts val="283"/>
              </a:spcBef>
            </a:pPr>
            <a:r>
              <a:rPr b="0" lang="en-IN" sz="2600" spc="-1" strike="noStrike">
                <a:solidFill>
                  <a:srgbClr val="a3238e"/>
                </a:solidFill>
                <a:latin typeface="Times New Roman"/>
                <a:ea typeface="DejaVu Sans"/>
              </a:rPr>
              <a:t>    </a:t>
            </a:r>
            <a:r>
              <a:rPr b="0" lang="en-IN" sz="2600" spc="-1" strike="noStrike" u="sng">
                <a:solidFill>
                  <a:srgbClr val="a3238e"/>
                </a:solidFill>
                <a:uFillTx/>
                <a:latin typeface="Times New Roman"/>
                <a:ea typeface="DejaVu Sans"/>
              </a:rPr>
              <a:t>RETURN VALUE:</a:t>
            </a:r>
            <a:endParaRPr b="0" lang="en-IN" sz="2600" spc="-1" strike="noStrike">
              <a:latin typeface="Arial"/>
            </a:endParaRPr>
          </a:p>
          <a:p>
            <a:pPr>
              <a:lnSpc>
                <a:spcPct val="100000"/>
              </a:lnSpc>
              <a:spcBef>
                <a:spcPts val="283"/>
              </a:spcBef>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wait(): on success, returns the process ID of the terminated child; </a:t>
            </a:r>
            <a:endParaRPr b="0" lang="en-IN" sz="2600" spc="-1" strike="noStrike">
              <a:latin typeface="Arial"/>
            </a:endParaRPr>
          </a:p>
          <a:p>
            <a:pPr>
              <a:lnSpc>
                <a:spcPct val="100000"/>
              </a:lnSpc>
              <a:spcBef>
                <a:spcPts val="283"/>
              </a:spcBef>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on  error,  -1  is  returned.</a:t>
            </a:r>
            <a:endParaRPr b="0" lang="en-IN" sz="2600" spc="-1" strike="noStrike">
              <a:latin typeface="Arial"/>
            </a:endParaRPr>
          </a:p>
          <a:p>
            <a:pPr>
              <a:lnSpc>
                <a:spcPct val="100000"/>
              </a:lnSpc>
            </a:pPr>
            <a:endParaRPr b="0" lang="en-IN" sz="2600" spc="-1" strike="noStrike">
              <a:latin typeface="Arial"/>
            </a:endParaRPr>
          </a:p>
        </p:txBody>
      </p:sp>
    </p:spTree>
  </p:cSld>
  <p:timing>
    <p:tnLst>
      <p:par>
        <p:cTn id="151" dur="indefinite" restart="never" nodeType="tmRoot">
          <p:childTnLst>
            <p:seq>
              <p:cTn id="152" dur="indefinite" nodeType="mainSeq"/>
              <p:prevCondLst>
                <p:cond delay="0" evt="onPrev">
                  <p:tgtEl>
                    <p:sldTgt/>
                  </p:tgtEl>
                </p:cond>
              </p:prevCondLst>
              <p:nextCondLst>
                <p:cond delay="0"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CustomShape 1"/>
          <p:cNvSpPr/>
          <p:nvPr/>
        </p:nvSpPr>
        <p:spPr>
          <a:xfrm>
            <a:off x="172800" y="935280"/>
            <a:ext cx="9463320" cy="661356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#include&lt;stdlib.h&gt;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#include&lt;sys/types.h&gt;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#include&lt;sys/wait.h&gt;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if(fork()==0)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child pid = %d ppid = %d\n",getpid(),getppid());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sleep(10);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process has exited ..\n");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exit(0);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endParaRPr b="0" lang="en-IN" sz="2800" spc="-1" strike="noStrike">
              <a:latin typeface="Arial"/>
            </a:endParaRPr>
          </a:p>
        </p:txBody>
      </p:sp>
      <p:sp>
        <p:nvSpPr>
          <p:cNvPr id="574" name="CustomShape 2"/>
          <p:cNvSpPr/>
          <p:nvPr/>
        </p:nvSpPr>
        <p:spPr>
          <a:xfrm>
            <a:off x="508680" y="8892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Avoid zombie state using wait()</a:t>
            </a:r>
            <a:endParaRPr b="0" lang="en-IN" sz="3600" spc="-1" strike="noStrike">
              <a:latin typeface="Arial"/>
            </a:endParaRPr>
          </a:p>
        </p:txBody>
      </p:sp>
    </p:spTree>
  </p:cSld>
  <p:timing>
    <p:tnLst>
      <p:par>
        <p:cTn id="153" dur="indefinite" restart="never" nodeType="tmRoot">
          <p:childTnLst>
            <p:seq>
              <p:cTn id="154" dur="indefinite" nodeType="mainSeq"/>
              <p:prevCondLst>
                <p:cond delay="0" evt="onPrev">
                  <p:tgtEl>
                    <p:sldTgt/>
                  </p:tgtEl>
                </p:cond>
              </p:prevCondLst>
              <p:nextCondLst>
                <p:cond delay="0"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CustomShape 1"/>
          <p:cNvSpPr/>
          <p:nvPr/>
        </p:nvSpPr>
        <p:spPr>
          <a:xfrm>
            <a:off x="143640" y="719640"/>
            <a:ext cx="9780120" cy="654120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status,child_pid;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child_pid = wait(&amp;status);</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parent.., status = %d\n",status);</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if(status == 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process is success..., pid : %d\n",child_pid);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else</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printf("child process is failure..., pid : %d\n",child_pid);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printf("in parent pid = %d ppid = %d\n",getpid(),getppid());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sleep(20);</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printf("parent process has exited ..\n");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p:txBody>
      </p:sp>
      <p:sp>
        <p:nvSpPr>
          <p:cNvPr id="576" name="CustomShape 2"/>
          <p:cNvSpPr/>
          <p:nvPr/>
        </p:nvSpPr>
        <p:spPr>
          <a:xfrm>
            <a:off x="508680" y="70920"/>
            <a:ext cx="9055080" cy="63756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Avoid zombie state using wait()</a:t>
            </a:r>
            <a:endParaRPr b="0" lang="en-IN" sz="3600" spc="-1" strike="noStrike">
              <a:latin typeface="Arial"/>
            </a:endParaRPr>
          </a:p>
        </p:txBody>
      </p:sp>
    </p:spTree>
  </p:cSld>
  <p:timing>
    <p:tnLst>
      <p:par>
        <p:cTn id="155" dur="indefinite" restart="never" nodeType="tmRoot">
          <p:childTnLst>
            <p:seq>
              <p:cTn id="156" dur="indefinite" nodeType="mainSeq"/>
              <p:prevCondLst>
                <p:cond delay="0" evt="onPrev">
                  <p:tgtEl>
                    <p:sldTgt/>
                  </p:tgtEl>
                </p:cond>
              </p:prevCondLst>
              <p:nextCondLst>
                <p:cond delay="0"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CustomShape 1"/>
          <p:cNvSpPr/>
          <p:nvPr/>
        </p:nvSpPr>
        <p:spPr>
          <a:xfrm>
            <a:off x="581040" y="1764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Random Number Generation</a:t>
            </a:r>
            <a:endParaRPr b="0" lang="en-IN" sz="3600" spc="-1" strike="noStrike">
              <a:latin typeface="Arial"/>
            </a:endParaRPr>
          </a:p>
        </p:txBody>
      </p:sp>
      <p:sp>
        <p:nvSpPr>
          <p:cNvPr id="578" name="CustomShape 2"/>
          <p:cNvSpPr/>
          <p:nvPr/>
        </p:nvSpPr>
        <p:spPr>
          <a:xfrm>
            <a:off x="143640" y="791280"/>
            <a:ext cx="9780480" cy="642852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SYNOPSIS</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#include &lt;stdlib.h&gt;</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u="sng">
                <a:solidFill>
                  <a:srgbClr val="a3238e"/>
                </a:solidFill>
                <a:uFillTx/>
                <a:latin typeface="Times New Roman"/>
                <a:ea typeface="DejaVu Sans"/>
              </a:rPr>
              <a:t>prototype:</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9900"/>
                </a:solidFill>
                <a:latin typeface="Times New Roman"/>
                <a:ea typeface="DejaVu Sans"/>
              </a:rPr>
              <a:t> </a:t>
            </a:r>
            <a:r>
              <a:rPr b="0" lang="en-IN" sz="3200" spc="-1" strike="noStrike">
                <a:solidFill>
                  <a:srgbClr val="009900"/>
                </a:solidFill>
                <a:latin typeface="Times New Roman"/>
                <a:ea typeface="DejaVu Sans"/>
              </a:rPr>
              <a:t>int</a:t>
            </a:r>
            <a:r>
              <a:rPr b="0" lang="en-IN" sz="3200" spc="-1" strike="noStrike">
                <a:solidFill>
                  <a:srgbClr val="000000"/>
                </a:solidFill>
                <a:latin typeface="Times New Roman"/>
                <a:ea typeface="DejaVu Sans"/>
              </a:rPr>
              <a:t> rand(void);</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9900"/>
                </a:solidFill>
                <a:latin typeface="Times New Roman"/>
                <a:ea typeface="DejaVu Sans"/>
              </a:rPr>
              <a:t>void</a:t>
            </a:r>
            <a:r>
              <a:rPr b="0" lang="en-IN" sz="3200" spc="-1" strike="noStrike">
                <a:solidFill>
                  <a:srgbClr val="000000"/>
                </a:solidFill>
                <a:latin typeface="Times New Roman"/>
                <a:ea typeface="DejaVu Sans"/>
              </a:rPr>
              <a:t> srand(</a:t>
            </a:r>
            <a:r>
              <a:rPr b="0" lang="en-IN" sz="3200" spc="-1" strike="noStrike">
                <a:solidFill>
                  <a:srgbClr val="009900"/>
                </a:solidFill>
                <a:latin typeface="Times New Roman"/>
                <a:ea typeface="DejaVu Sans"/>
              </a:rPr>
              <a:t>unsigned int</a:t>
            </a:r>
            <a:r>
              <a:rPr b="0" lang="en-IN" sz="3200" spc="-1" strike="noStrike">
                <a:solidFill>
                  <a:srgbClr val="000000"/>
                </a:solidFill>
                <a:latin typeface="Times New Roman"/>
                <a:ea typeface="DejaVu Sans"/>
              </a:rPr>
              <a:t> seed);</a:t>
            </a: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The rand function returns a pseudo integer in the range 0 to RAND_MAX inclusive.</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RAND_MAX: 2147483647.</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The srand() function sets its argument as the seed for a  new  sequence of  pseudo-random  integers  to be returned by rand().  These sequences are repeatable by calling srand() with the same seed value.</a:t>
            </a:r>
            <a:endParaRPr b="0" lang="en-IN" sz="3200" spc="-1" strike="noStrike">
              <a:latin typeface="Arial"/>
            </a:endParaRPr>
          </a:p>
          <a:p>
            <a:pPr>
              <a:lnSpc>
                <a:spcPct val="100000"/>
              </a:lnSpc>
              <a:spcBef>
                <a:spcPts val="283"/>
              </a:spcBef>
            </a:pPr>
            <a:endParaRPr b="0" lang="en-IN" sz="3200" spc="-1" strike="noStrike">
              <a:latin typeface="Arial"/>
            </a:endParaRPr>
          </a:p>
          <a:p>
            <a:pPr marL="432000" indent="-308160">
              <a:lnSpc>
                <a:spcPct val="100000"/>
              </a:lnSpc>
              <a:buClr>
                <a:srgbClr val="000000"/>
              </a:buClr>
              <a:buSzPct val="45000"/>
              <a:buFont typeface="Wingdings" charset="2"/>
              <a:buChar char=""/>
            </a:pPr>
            <a:r>
              <a:rPr b="0" lang="en-IN" sz="3200" spc="-1" strike="noStrike">
                <a:solidFill>
                  <a:srgbClr val="000000"/>
                </a:solidFill>
                <a:latin typeface="Times New Roman"/>
                <a:ea typeface="DejaVu Sans"/>
              </a:rPr>
              <a:t>If no seed value is provided,  the  rand()  function  is  automatically seeded with a value of 1.</a:t>
            </a:r>
            <a:endParaRPr b="0" lang="en-IN" sz="3200" spc="-1" strike="noStrike">
              <a:latin typeface="Arial"/>
            </a:endParaRPr>
          </a:p>
          <a:p>
            <a:pPr>
              <a:lnSpc>
                <a:spcPct val="100000"/>
              </a:lnSpc>
            </a:pPr>
            <a:endParaRPr b="0" lang="en-IN" sz="3200" spc="-1" strike="noStrike">
              <a:latin typeface="Arial"/>
            </a:endParaRPr>
          </a:p>
        </p:txBody>
      </p:sp>
    </p:spTree>
  </p:cSld>
  <p:timing>
    <p:tnLst>
      <p:par>
        <p:cTn id="157" dur="indefinite" restart="never" nodeType="tmRoot">
          <p:childTnLst>
            <p:seq>
              <p:cTn id="158" dur="indefinite" nodeType="mainSeq"/>
              <p:prevCondLst>
                <p:cond delay="0" evt="onPrev">
                  <p:tgtEl>
                    <p:sldTgt/>
                  </p:tgtEl>
                </p:cond>
              </p:prevCondLst>
              <p:nextCondLst>
                <p:cond delay="0"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CustomShape 1"/>
          <p:cNvSpPr/>
          <p:nvPr/>
        </p:nvSpPr>
        <p:spPr>
          <a:xfrm>
            <a:off x="503640" y="1263960"/>
            <a:ext cx="4410720" cy="36154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1" lang="en-IN" sz="3200" spc="-1" strike="noStrike" u="sng">
                <a:solidFill>
                  <a:srgbClr val="ce181e"/>
                </a:solidFill>
                <a:uFillTx/>
                <a:latin typeface="Times New Roman"/>
                <a:ea typeface="DejaVu Sans"/>
              </a:rPr>
              <a:t>Ex1</a:t>
            </a:r>
            <a:r>
              <a:rPr b="1" lang="en-IN" sz="3200" spc="-1" strike="noStrike">
                <a:solidFill>
                  <a:srgbClr val="ce181e"/>
                </a:solidFill>
                <a:latin typeface="Times New Roman"/>
                <a:ea typeface="DejaVu Sans"/>
              </a:rPr>
              <a:t>:</a:t>
            </a:r>
            <a:endParaRPr b="0" lang="en-IN" sz="32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#include&lt;stdio.h&gt;</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main()</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srand(100);</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r;</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r=rand();</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printf(“r=%d\n”,r);</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Times New Roman"/>
                <a:ea typeface="DejaVu Sans"/>
              </a:rPr>
              <a:t>}</a:t>
            </a:r>
            <a:endParaRPr b="0" lang="en-IN" sz="2400" spc="-1" strike="noStrike">
              <a:latin typeface="Arial"/>
            </a:endParaRPr>
          </a:p>
          <a:p>
            <a:pPr marL="216000" indent="-207720">
              <a:lnSpc>
                <a:spcPct val="100000"/>
              </a:lnSpc>
              <a:spcBef>
                <a:spcPts val="283"/>
              </a:spcBef>
            </a:pPr>
            <a:r>
              <a:rPr b="0" lang="en-IN" sz="2400" spc="-1" strike="noStrike">
                <a:solidFill>
                  <a:srgbClr val="000000"/>
                </a:solidFill>
                <a:latin typeface="Arial"/>
                <a:ea typeface="DejaVu Sans"/>
              </a:rPr>
              <a:t> </a:t>
            </a:r>
            <a:endParaRPr b="0" lang="en-IN" sz="2400" spc="-1" strike="noStrike">
              <a:latin typeface="Arial"/>
            </a:endParaRPr>
          </a:p>
          <a:p>
            <a:pPr marL="216000" indent="-207720">
              <a:lnSpc>
                <a:spcPct val="100000"/>
              </a:lnSpc>
              <a:spcBef>
                <a:spcPts val="283"/>
              </a:spcBef>
            </a:pPr>
            <a:endParaRPr b="0" lang="en-IN" sz="2400" spc="-1" strike="noStrike">
              <a:latin typeface="Arial"/>
            </a:endParaRPr>
          </a:p>
        </p:txBody>
      </p:sp>
      <p:sp>
        <p:nvSpPr>
          <p:cNvPr id="580" name="CustomShape 2"/>
          <p:cNvSpPr/>
          <p:nvPr/>
        </p:nvSpPr>
        <p:spPr>
          <a:xfrm>
            <a:off x="5004720" y="1263960"/>
            <a:ext cx="4410720" cy="44157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283"/>
              </a:spcBef>
              <a:buClr>
                <a:srgbClr val="000000"/>
              </a:buClr>
              <a:buSzPct val="45000"/>
              <a:buFont typeface="Wingdings" charset="2"/>
              <a:buChar char=""/>
            </a:pPr>
            <a:r>
              <a:rPr b="1" lang="en-IN" sz="3200" spc="-1" strike="noStrike" u="sng">
                <a:solidFill>
                  <a:srgbClr val="ce181e"/>
                </a:solidFill>
                <a:uFillTx/>
                <a:latin typeface="Times New Roman"/>
                <a:ea typeface="DejaVu Sans"/>
              </a:rPr>
              <a:t>Ex2</a:t>
            </a:r>
            <a:r>
              <a:rPr b="1" lang="en-IN" sz="3200" spc="-1" strike="noStrike">
                <a:solidFill>
                  <a:srgbClr val="ce181e"/>
                </a:solidFill>
                <a:latin typeface="Times New Roman"/>
                <a:ea typeface="DejaVu Sans"/>
              </a:rPr>
              <a:t>:</a:t>
            </a:r>
            <a:endParaRPr b="0" lang="en-IN" sz="32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#include&lt;stdio.h&gt;</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#include&lt;stdlib.h&gt;</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#include&lt;unistd.h&gt;</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main()</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srand(getpid());</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r[5],i;</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for(i=0;i&lt;5;i++)</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r[i]=rand();</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for(i=0;i&lt;5;i++)</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printf(“%d\n”,r[i]);</a:t>
            </a:r>
            <a:endParaRPr b="0" lang="en-IN" sz="2400" spc="-1" strike="noStrike">
              <a:latin typeface="Arial"/>
            </a:endParaRPr>
          </a:p>
          <a:p>
            <a:pPr marL="432000" indent="-308160">
              <a:lnSpc>
                <a:spcPct val="100000"/>
              </a:lnSpc>
              <a:spcBef>
                <a:spcPts val="283"/>
              </a:spcBef>
            </a:pPr>
            <a:r>
              <a:rPr b="0" lang="en-IN" sz="2400" spc="-1" strike="noStrike">
                <a:solidFill>
                  <a:srgbClr val="000000"/>
                </a:solidFill>
                <a:latin typeface="Times New Roman"/>
                <a:ea typeface="DejaVu Sans"/>
              </a:rPr>
              <a:t>}</a:t>
            </a:r>
            <a:endParaRPr b="0" lang="en-IN" sz="2400" spc="-1" strike="noStrike">
              <a:latin typeface="Arial"/>
            </a:endParaRPr>
          </a:p>
        </p:txBody>
      </p:sp>
      <p:sp>
        <p:nvSpPr>
          <p:cNvPr id="581" name="CustomShape 3"/>
          <p:cNvSpPr/>
          <p:nvPr/>
        </p:nvSpPr>
        <p:spPr>
          <a:xfrm>
            <a:off x="360000" y="5052600"/>
            <a:ext cx="9055080" cy="2085120"/>
          </a:xfrm>
          <a:prstGeom prst="rect">
            <a:avLst/>
          </a:prstGeom>
          <a:noFill/>
          <a:ln>
            <a:noFill/>
          </a:ln>
        </p:spPr>
        <p:style>
          <a:lnRef idx="0"/>
          <a:fillRef idx="0"/>
          <a:effectRef idx="0"/>
          <a:fontRef idx="minor"/>
        </p:style>
        <p:txBody>
          <a:bodyPr lIns="0" rIns="0" tIns="0" bIns="0"/>
          <a:p>
            <a:pPr>
              <a:lnSpc>
                <a:spcPct val="100000"/>
              </a:lnSpc>
            </a:pPr>
            <a:endParaRPr b="0" lang="en-IN" sz="1800" spc="-1" strike="noStrike">
              <a:latin typeface="Arial"/>
            </a:endParaRPr>
          </a:p>
          <a:p>
            <a:pPr marL="216000" indent="-200160">
              <a:lnSpc>
                <a:spcPct val="100000"/>
              </a:lnSpc>
              <a:buClr>
                <a:srgbClr val="000000"/>
              </a:buClr>
              <a:buSzPct val="45000"/>
              <a:buFont typeface="Wingdings" charset="2"/>
              <a:buChar char=""/>
            </a:pPr>
            <a:r>
              <a:rPr b="0" lang="en-IN" sz="2600" spc="-1" strike="noStrike" u="sng">
                <a:solidFill>
                  <a:srgbClr val="ff0000"/>
                </a:solidFill>
                <a:uFillTx/>
                <a:latin typeface="Times New Roman"/>
                <a:ea typeface="DejaVu Sans"/>
              </a:rPr>
              <a:t>Note</a:t>
            </a:r>
            <a:r>
              <a:rPr b="0" lang="en-IN" sz="2600" spc="-1" strike="noStrike">
                <a:solidFill>
                  <a:srgbClr val="000000"/>
                </a:solidFill>
                <a:latin typeface="Times New Roman"/>
                <a:ea typeface="DejaVu Sans"/>
              </a:rPr>
              <a:t>: </a:t>
            </a:r>
            <a:br/>
            <a:r>
              <a:rPr b="0" lang="en-IN" sz="2600" spc="-1" strike="noStrike">
                <a:solidFill>
                  <a:srgbClr val="000000"/>
                </a:solidFill>
                <a:latin typeface="Times New Roman"/>
                <a:ea typeface="DejaVu Sans"/>
              </a:rPr>
              <a:t>     * same sequence of numbers will be generated untill we change the seed value.</a:t>
            </a:r>
            <a:br/>
            <a:r>
              <a:rPr b="0" lang="en-IN" sz="2800" spc="-1" strike="noStrike">
                <a:solidFill>
                  <a:srgbClr val="000000"/>
                </a:solidFill>
                <a:latin typeface="Arial"/>
                <a:ea typeface="DejaVu Sans"/>
              </a:rPr>
              <a:t>   </a:t>
            </a:r>
            <a:endParaRPr b="0" lang="en-IN" sz="2800" spc="-1" strike="noStrike">
              <a:latin typeface="Arial"/>
            </a:endParaRPr>
          </a:p>
        </p:txBody>
      </p:sp>
      <p:sp>
        <p:nvSpPr>
          <p:cNvPr id="582" name="CustomShape 4"/>
          <p:cNvSpPr/>
          <p:nvPr/>
        </p:nvSpPr>
        <p:spPr>
          <a:xfrm>
            <a:off x="581040" y="17640"/>
            <a:ext cx="9055080" cy="763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Random Number Generation</a:t>
            </a:r>
            <a:endParaRPr b="0" lang="en-IN" sz="3600" spc="-1" strike="noStrike">
              <a:latin typeface="Arial"/>
            </a:endParaRPr>
          </a:p>
        </p:txBody>
      </p:sp>
    </p:spTree>
  </p:cSld>
  <p:timing>
    <p:tnLst>
      <p:par>
        <p:cTn id="159" dur="indefinite" restart="never" nodeType="tmRoot">
          <p:childTnLst>
            <p:seq>
              <p:cTn id="160" dur="indefinite" nodeType="mainSeq"/>
              <p:prevCondLst>
                <p:cond delay="0" evt="onPrev">
                  <p:tgtEl>
                    <p:sldTgt/>
                  </p:tgtEl>
                </p:cond>
              </p:prevCondLst>
              <p:nextCondLst>
                <p:cond delay="0"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CustomShape 1"/>
          <p:cNvSpPr/>
          <p:nvPr/>
        </p:nvSpPr>
        <p:spPr>
          <a:xfrm>
            <a:off x="584640" y="41400"/>
            <a:ext cx="9055080" cy="1246320"/>
          </a:xfrm>
          <a:prstGeom prst="rect">
            <a:avLst/>
          </a:prstGeom>
          <a:noFill/>
          <a:ln>
            <a:noFill/>
          </a:ln>
        </p:spPr>
        <p:style>
          <a:lnRef idx="0"/>
          <a:fillRef idx="0"/>
          <a:effectRef idx="0"/>
          <a:fontRef idx="minor"/>
        </p:style>
        <p:txBody>
          <a:bodyPr lIns="0" rIns="0" tIns="0" bIns="0" anchor="ctr"/>
          <a:p>
            <a:pPr algn="ctr">
              <a:lnSpc>
                <a:spcPct val="100000"/>
              </a:lnSpc>
            </a:pPr>
            <a:r>
              <a:rPr b="0" lang="en-IN" sz="4800" spc="-1" strike="noStrike" baseline="33000">
                <a:solidFill>
                  <a:srgbClr val="ce181e"/>
                </a:solidFill>
                <a:latin typeface="Arial"/>
                <a:ea typeface="DejaVu Sans"/>
              </a:rPr>
              <a:t>Wap to create a random values in between 1 to 10</a:t>
            </a:r>
            <a:endParaRPr b="0" lang="en-IN" sz="4800" spc="-1" strike="noStrike">
              <a:latin typeface="Arial"/>
            </a:endParaRPr>
          </a:p>
        </p:txBody>
      </p:sp>
      <p:sp>
        <p:nvSpPr>
          <p:cNvPr id="584" name="CustomShape 2"/>
          <p:cNvSpPr/>
          <p:nvPr/>
        </p:nvSpPr>
        <p:spPr>
          <a:xfrm>
            <a:off x="288000" y="1221840"/>
            <a:ext cx="6471720" cy="559080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000000"/>
                </a:solidFill>
                <a:latin typeface="Times New Roman"/>
                <a:ea typeface="DejaVu Sans"/>
              </a:rPr>
              <a:t>#include&lt;stdio.h&gt;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#include&lt;unistd.h&gt;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#include&lt;stdlib.h&gt;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int main()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int i,a[5];</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srand(getpid());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for(i=0;i&lt;5;i++)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a[i] = rand()%10+1;</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for(i=0;i&lt;5;i++)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printf("%d  ",a[i]);</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        </a:t>
            </a:r>
            <a:r>
              <a:rPr b="0" lang="en-IN" sz="2800" spc="-1" strike="noStrike">
                <a:solidFill>
                  <a:srgbClr val="000000"/>
                </a:solidFill>
                <a:latin typeface="Times New Roman"/>
                <a:ea typeface="DejaVu Sans"/>
              </a:rPr>
              <a:t>printf("\n");</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a:t>
            </a:r>
            <a:endParaRPr b="0" lang="en-IN" sz="2800" spc="-1" strike="noStrike">
              <a:latin typeface="Arial"/>
            </a:endParaRPr>
          </a:p>
        </p:txBody>
      </p:sp>
    </p:spTree>
  </p:cSld>
  <p:timing>
    <p:tnLst>
      <p:par>
        <p:cTn id="161" dur="indefinite" restart="never" nodeType="tmRoot">
          <p:childTnLst>
            <p:seq>
              <p:cTn id="162" dur="indefinite" nodeType="mainSeq"/>
              <p:prevCondLst>
                <p:cond delay="0" evt="onPrev">
                  <p:tgtEl>
                    <p:sldTgt/>
                  </p:tgtEl>
                </p:cond>
              </p:prevCondLst>
              <p:nextCondLst>
                <p:cond delay="0"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CustomShape 1"/>
          <p:cNvSpPr/>
          <p:nvPr/>
        </p:nvSpPr>
        <p:spPr>
          <a:xfrm>
            <a:off x="72720" y="144000"/>
            <a:ext cx="4815720" cy="6300000"/>
          </a:xfrm>
          <a:prstGeom prst="rect">
            <a:avLst/>
          </a:prstGeom>
          <a:noFill/>
          <a:ln>
            <a:noFill/>
          </a:ln>
        </p:spPr>
        <p:style>
          <a:lnRef idx="0"/>
          <a:fillRef idx="0"/>
          <a:effectRef idx="0"/>
          <a:fontRef idx="minor"/>
        </p:style>
        <p:txBody>
          <a:bodyPr lIns="90000" rIns="90000" tIns="45000" bIns="45000"/>
          <a:p>
            <a:pPr>
              <a:lnSpc>
                <a:spcPct val="100000"/>
              </a:lnSpc>
            </a:pPr>
            <a:r>
              <a:rPr b="0" lang="en-IN" sz="2600" spc="-1" strike="noStrike">
                <a:solidFill>
                  <a:srgbClr val="ce181e"/>
                </a:solidFill>
                <a:latin typeface="Times New Roman"/>
                <a:ea typeface="DejaVu Sans"/>
              </a:rPr>
              <a:t>WAP to generate 5 random numbers in between 70 to 120.</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#include&lt;unistd.h&gt;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#include&lt;stdlib.h&gt;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i,a[5];</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srand(getpid());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for(i=0;i&lt;5;i++)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a[i] = rand()%70+50;</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for(i=0;i&lt;5;i++)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  ",a[i]);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p:txBody>
      </p:sp>
      <p:sp>
        <p:nvSpPr>
          <p:cNvPr id="586" name="CustomShape 2"/>
          <p:cNvSpPr/>
          <p:nvPr/>
        </p:nvSpPr>
        <p:spPr>
          <a:xfrm>
            <a:off x="4536000" y="72720"/>
            <a:ext cx="5751720" cy="7623720"/>
          </a:xfrm>
          <a:prstGeom prst="rect">
            <a:avLst/>
          </a:prstGeom>
          <a:noFill/>
          <a:ln>
            <a:noFill/>
          </a:ln>
        </p:spPr>
        <p:style>
          <a:lnRef idx="0"/>
          <a:fillRef idx="0"/>
          <a:effectRef idx="0"/>
          <a:fontRef idx="minor"/>
        </p:style>
        <p:txBody>
          <a:bodyPr lIns="90000" rIns="90000" tIns="45000" bIns="45000"/>
          <a:p>
            <a:pPr>
              <a:lnSpc>
                <a:spcPct val="100000"/>
              </a:lnSpc>
            </a:pPr>
            <a:r>
              <a:rPr b="0" lang="en-IN" sz="2600" spc="-1" strike="noStrike">
                <a:solidFill>
                  <a:srgbClr val="ce181e"/>
                </a:solidFill>
                <a:latin typeface="Times New Roman"/>
                <a:ea typeface="DejaVu Sans"/>
              </a:rPr>
              <a:t>WAP to generate 5 OTP numbers.</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#include&lt;unistd.h&gt;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#include&lt;stdlib.h&gt;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i,a[5],max,min;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printf("Enter the min &amp; max values\n");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scanf("%d%d",&amp;min,&amp;max);</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srand(getpid());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for(i=0;i&lt;5;i++)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a[i] = rand()%(max-min+1)+min;</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for(i=0;i&lt;5;i++)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  ",a[i]);</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endParaRPr b="0" lang="en-IN" sz="2600" spc="-1" strike="noStrike">
              <a:latin typeface="Arial"/>
            </a:endParaRPr>
          </a:p>
        </p:txBody>
      </p:sp>
    </p:spTree>
  </p:cSld>
  <p:timing>
    <p:tnLst>
      <p:par>
        <p:cTn id="163" dur="indefinite" restart="never" nodeType="tmRoot">
          <p:childTnLst>
            <p:seq>
              <p:cTn id="164" dur="indefinite" nodeType="mainSeq"/>
              <p:prevCondLst>
                <p:cond delay="0" evt="onPrev">
                  <p:tgtEl>
                    <p:sldTgt/>
                  </p:tgtEl>
                </p:cond>
              </p:prevCondLst>
              <p:nextCondLst>
                <p:cond delay="0"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CustomShape 1"/>
          <p:cNvSpPr/>
          <p:nvPr/>
        </p:nvSpPr>
        <p:spPr>
          <a:xfrm>
            <a:off x="503640" y="300240"/>
            <a:ext cx="9055080" cy="8348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Assignment</a:t>
            </a:r>
            <a:endParaRPr b="0" lang="en-IN" sz="3600" spc="-1" strike="noStrike">
              <a:latin typeface="Arial"/>
            </a:endParaRPr>
          </a:p>
        </p:txBody>
      </p:sp>
      <p:sp>
        <p:nvSpPr>
          <p:cNvPr id="588" name="CustomShape 2"/>
          <p:cNvSpPr/>
          <p:nvPr/>
        </p:nvSpPr>
        <p:spPr>
          <a:xfrm>
            <a:off x="503640" y="1439280"/>
            <a:ext cx="9055080" cy="5744880"/>
          </a:xfrm>
          <a:prstGeom prst="rect">
            <a:avLst/>
          </a:prstGeom>
          <a:noFill/>
          <a:ln>
            <a:noFill/>
          </a:ln>
        </p:spPr>
        <p:style>
          <a:lnRef idx="0"/>
          <a:fillRef idx="0"/>
          <a:effectRef idx="0"/>
          <a:fontRef idx="minor"/>
        </p:style>
        <p:txBody>
          <a:bodyPr lIns="0" rIns="0" tIns="0" bIns="0">
            <a:normAutofit/>
          </a:bodyPr>
          <a:p>
            <a:pPr>
              <a:lnSpc>
                <a:spcPct val="100000"/>
              </a:lnSpc>
              <a:spcBef>
                <a:spcPts val="1417"/>
              </a:spcBef>
            </a:pPr>
            <a:endParaRPr b="0" lang="en-IN" sz="1800" spc="-1" strike="noStrike">
              <a:latin typeface="Arial"/>
            </a:endParaRPr>
          </a:p>
          <a:p>
            <a:pPr>
              <a:lnSpc>
                <a:spcPct val="100000"/>
              </a:lnSpc>
              <a:spcBef>
                <a:spcPts val="1417"/>
              </a:spcBef>
            </a:pPr>
            <a:endParaRPr b="0" lang="en-IN" sz="18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WAP to create 3 child process from the same parent. Use the rand() function to generate the delay between 1 to 10sec. Design a parent process in such a way that it should wait for all child process termination and display which process is completed in the order.</a:t>
            </a:r>
            <a:endParaRPr b="0" lang="en-IN" sz="3200" spc="-1" strike="noStrike">
              <a:latin typeface="Arial"/>
            </a:endParaRPr>
          </a:p>
        </p:txBody>
      </p:sp>
    </p:spTree>
  </p:cSld>
  <p:timing>
    <p:tnLst>
      <p:par>
        <p:cTn id="165" dur="indefinite" restart="never" nodeType="tmRoot">
          <p:childTnLst>
            <p:seq>
              <p:cTn id="166" dur="indefinite" nodeType="mainSeq"/>
              <p:prevCondLst>
                <p:cond delay="0" evt="onPrev">
                  <p:tgtEl>
                    <p:sldTgt/>
                  </p:tgtEl>
                </p:cond>
              </p:prevCondLst>
              <p:nextCondLst>
                <p:cond delay="0"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CustomShape 1"/>
          <p:cNvSpPr/>
          <p:nvPr/>
        </p:nvSpPr>
        <p:spPr>
          <a:xfrm>
            <a:off x="116640" y="514080"/>
            <a:ext cx="9808920" cy="682092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#include&lt;sys/types.h&gt;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void child_fun(int);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if(fork()==0)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child_fun(1);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child_fun(2);</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child_fun(3);</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status;</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while(wait(&amp;status) != -1)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status = status &gt;&gt; 8;</a:t>
            </a:r>
            <a:endParaRPr b="0" lang="en-IN" sz="2400" spc="-1" strike="noStrike">
              <a:latin typeface="Arial"/>
            </a:endParaRPr>
          </a:p>
        </p:txBody>
      </p:sp>
      <p:sp>
        <p:nvSpPr>
          <p:cNvPr id="590" name="CustomShape 2"/>
          <p:cNvSpPr/>
          <p:nvPr/>
        </p:nvSpPr>
        <p:spPr>
          <a:xfrm>
            <a:off x="71640" y="71640"/>
            <a:ext cx="9925920" cy="566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Method-1 using wait() status value</a:t>
            </a:r>
            <a:endParaRPr b="0" lang="en-IN" sz="3600" spc="-1" strike="noStrike">
              <a:latin typeface="Arial"/>
            </a:endParaRPr>
          </a:p>
        </p:txBody>
      </p:sp>
    </p:spTree>
  </p:cSld>
  <p:timing>
    <p:tnLst>
      <p:par>
        <p:cTn id="167" dur="indefinite" restart="never" nodeType="tmRoot">
          <p:childTnLst>
            <p:seq>
              <p:cTn id="168" dur="indefinite" nodeType="mainSeq"/>
              <p:prevCondLst>
                <p:cond delay="0" evt="onPrev">
                  <p:tgtEl>
                    <p:sldTgt/>
                  </p:tgtEl>
                </p:cond>
              </p:prevCondLst>
              <p:nextCondLst>
                <p:cond delay="0"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CustomShape 1"/>
          <p:cNvSpPr/>
          <p:nvPr/>
        </p:nvSpPr>
        <p:spPr>
          <a:xfrm>
            <a:off x="143640" y="503280"/>
            <a:ext cx="9709920" cy="7058520"/>
          </a:xfrm>
          <a:prstGeom prst="rect">
            <a:avLst/>
          </a:prstGeom>
          <a:noFill/>
          <a:ln>
            <a:noFill/>
          </a:ln>
        </p:spPr>
        <p:style>
          <a:lnRef idx="0"/>
          <a:fillRef idx="0"/>
          <a:effectRef idx="0"/>
          <a:fontRef idx="minor"/>
        </p:style>
        <p:txBody>
          <a:bodyPr lIns="90000" rIns="90000" tIns="45000" bIns="45000"/>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if(status == 1)</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puts("child-1 has exited");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else if(status == 2)</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puts("child-2 has exited");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else    </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puts("child-3 has exited");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void child_fun(int 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delay;</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srand(getpid());</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delay = rand()%10+1;</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printf("child-%d delay : %d\n",n,delay);</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sleep(delay);</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exit(n);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endParaRPr b="0" lang="en-IN" sz="2600" spc="-1" strike="noStrike">
              <a:latin typeface="Arial"/>
            </a:endParaRPr>
          </a:p>
        </p:txBody>
      </p:sp>
      <p:sp>
        <p:nvSpPr>
          <p:cNvPr id="592" name="CustomShape 2"/>
          <p:cNvSpPr/>
          <p:nvPr/>
        </p:nvSpPr>
        <p:spPr>
          <a:xfrm>
            <a:off x="144720" y="71640"/>
            <a:ext cx="9925920" cy="566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Method-1 using wait() status value</a:t>
            </a:r>
            <a:endParaRPr b="0" lang="en-IN" sz="3600" spc="-1" strike="noStrike">
              <a:latin typeface="Arial"/>
            </a:endParaRPr>
          </a:p>
        </p:txBody>
      </p:sp>
    </p:spTree>
  </p:cSld>
  <p:timing>
    <p:tnLst>
      <p:par>
        <p:cTn id="169" dur="indefinite" restart="never" nodeType="tmRoot">
          <p:childTnLst>
            <p:seq>
              <p:cTn id="170" dur="indefinite" nodeType="mainSeq"/>
              <p:prevCondLst>
                <p:cond delay="0" evt="onPrev">
                  <p:tgtEl>
                    <p:sldTgt/>
                  </p:tgtEl>
                </p:cond>
              </p:prevCondLst>
              <p:nextCondLst>
                <p:cond delay="0"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CustomShape 1"/>
          <p:cNvSpPr/>
          <p:nvPr/>
        </p:nvSpPr>
        <p:spPr>
          <a:xfrm>
            <a:off x="215640" y="862920"/>
            <a:ext cx="9808920" cy="617292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Courier New"/>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#include&lt;sys/types.h&gt;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void child_fun(int n);</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int a[3];</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if((a[0]=fork())==0) </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child_fun(1);</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else if((a[1]=fork())==0)</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child_fun(2);</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else if((a[2]=fork())==0)</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child_fun(3);</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else {</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int pid;</a:t>
            </a:r>
            <a:endParaRPr b="0" lang="en-IN" sz="2400" spc="-1" strike="noStrike">
              <a:latin typeface="Arial"/>
            </a:endParaRPr>
          </a:p>
        </p:txBody>
      </p:sp>
      <p:sp>
        <p:nvSpPr>
          <p:cNvPr id="594" name="CustomShape 2"/>
          <p:cNvSpPr/>
          <p:nvPr/>
        </p:nvSpPr>
        <p:spPr>
          <a:xfrm>
            <a:off x="71640" y="71640"/>
            <a:ext cx="9925920" cy="566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Method-2 using wait() return value</a:t>
            </a:r>
            <a:endParaRPr b="0" lang="en-IN" sz="3600" spc="-1" strike="noStrike">
              <a:latin typeface="Arial"/>
            </a:endParaRPr>
          </a:p>
        </p:txBody>
      </p:sp>
    </p:spTree>
  </p:cSld>
  <p:timing>
    <p:tnLst>
      <p:par>
        <p:cTn id="171" dur="indefinite" restart="never" nodeType="tmRoot">
          <p:childTnLst>
            <p:seq>
              <p:cTn id="172" dur="indefinite" nodeType="mainSeq"/>
              <p:prevCondLst>
                <p:cond delay="0" evt="onPrev">
                  <p:tgtEl>
                    <p:sldTgt/>
                  </p:tgtEl>
                </p:cond>
              </p:prevCondLst>
              <p:nextCondLst>
                <p:cond delay="0"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CustomShape 1"/>
          <p:cNvSpPr/>
          <p:nvPr/>
        </p:nvSpPr>
        <p:spPr>
          <a:xfrm>
            <a:off x="188640" y="559800"/>
            <a:ext cx="9808920" cy="749484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while( (pid = wait(0)) != -1) </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if(pid == a[0])</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puts("child-1 has exited");</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else if(pid == a[1])</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puts("child-2 has exited");</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else</a:t>
            </a:r>
            <a:r>
              <a:rPr b="0" lang="en-IN" sz="2400" spc="-1" strike="noStrike">
                <a:solidFill>
                  <a:srgbClr val="000000"/>
                </a:solidFill>
                <a:latin typeface="Times New Roman"/>
                <a:ea typeface="Courier New"/>
              </a:rPr>
              <a:t>	</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puts("child-3 has exited");</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void child_fun(int n)</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int delay;</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srand(getpid());</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delay = rand()%10+1;</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printf("child-%d delay : %d\n",n,delay);</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	</a:t>
            </a:r>
            <a:r>
              <a:rPr b="0" lang="en-IN" sz="2400" spc="-1" strike="noStrike">
                <a:solidFill>
                  <a:srgbClr val="000000"/>
                </a:solidFill>
                <a:latin typeface="Times New Roman"/>
                <a:ea typeface="Courier New"/>
              </a:rPr>
              <a:t>sleep(delay);</a:t>
            </a:r>
            <a:endParaRPr b="0" lang="en-IN" sz="2400" spc="-1" strike="noStrike">
              <a:latin typeface="Arial"/>
            </a:endParaRPr>
          </a:p>
          <a:p>
            <a:pPr>
              <a:lnSpc>
                <a:spcPct val="100000"/>
              </a:lnSpc>
            </a:pPr>
            <a:r>
              <a:rPr b="0" lang="en-IN" sz="2400" spc="-1" strike="noStrike">
                <a:solidFill>
                  <a:srgbClr val="000000"/>
                </a:solidFill>
                <a:latin typeface="Times New Roman"/>
                <a:ea typeface="Courier New"/>
              </a:rPr>
              <a:t>}</a:t>
            </a:r>
            <a:endParaRPr b="0" lang="en-IN" sz="2400" spc="-1" strike="noStrike">
              <a:latin typeface="Arial"/>
            </a:endParaRPr>
          </a:p>
          <a:p>
            <a:pPr>
              <a:lnSpc>
                <a:spcPct val="100000"/>
              </a:lnSpc>
            </a:pPr>
            <a:endParaRPr b="0" lang="en-IN" sz="2400" spc="-1" strike="noStrike">
              <a:latin typeface="Arial"/>
            </a:endParaRPr>
          </a:p>
          <a:p>
            <a:pPr>
              <a:lnSpc>
                <a:spcPct val="100000"/>
              </a:lnSpc>
            </a:pPr>
            <a:endParaRPr b="0" lang="en-IN" sz="2400" spc="-1" strike="noStrike">
              <a:latin typeface="Arial"/>
            </a:endParaRPr>
          </a:p>
          <a:p>
            <a:pPr>
              <a:lnSpc>
                <a:spcPct val="100000"/>
              </a:lnSpc>
            </a:pPr>
            <a:endParaRPr b="0" lang="en-IN" sz="2400" spc="-1" strike="noStrike">
              <a:latin typeface="Arial"/>
            </a:endParaRPr>
          </a:p>
        </p:txBody>
      </p:sp>
      <p:sp>
        <p:nvSpPr>
          <p:cNvPr id="596" name="CustomShape 2"/>
          <p:cNvSpPr/>
          <p:nvPr/>
        </p:nvSpPr>
        <p:spPr>
          <a:xfrm>
            <a:off x="71640" y="71640"/>
            <a:ext cx="9925920" cy="566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Method-2 using wait() return value</a:t>
            </a:r>
            <a:endParaRPr b="0" lang="en-IN" sz="3600" spc="-1" strike="noStrike">
              <a:latin typeface="Arial"/>
            </a:endParaRPr>
          </a:p>
        </p:txBody>
      </p:sp>
    </p:spTree>
  </p:cSld>
  <p:timing>
    <p:tnLst>
      <p:par>
        <p:cTn id="173" dur="indefinite" restart="never" nodeType="tmRoot">
          <p:childTnLst>
            <p:seq>
              <p:cTn id="174" dur="indefinite" nodeType="mainSeq"/>
              <p:prevCondLst>
                <p:cond delay="0" evt="onPrev">
                  <p:tgtEl>
                    <p:sldTgt/>
                  </p:tgtEl>
                </p:cond>
              </p:prevCondLst>
              <p:nextCondLst>
                <p:cond delay="0"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CustomShape 1"/>
          <p:cNvSpPr/>
          <p:nvPr/>
        </p:nvSpPr>
        <p:spPr>
          <a:xfrm>
            <a:off x="503640" y="8928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Limitation of wait</a:t>
            </a:r>
            <a:endParaRPr b="0" lang="en-IN" sz="4400" spc="-1" strike="noStrike">
              <a:latin typeface="Arial"/>
            </a:endParaRPr>
          </a:p>
        </p:txBody>
      </p:sp>
      <p:sp>
        <p:nvSpPr>
          <p:cNvPr id="598" name="CustomShape 2"/>
          <p:cNvSpPr/>
          <p:nvPr/>
        </p:nvSpPr>
        <p:spPr>
          <a:xfrm>
            <a:off x="143640" y="791280"/>
            <a:ext cx="9708480" cy="63928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Times New Roman"/>
                <a:ea typeface="DejaVu Sans"/>
              </a:rPr>
              <a:t>NOTE</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Writing wait in parent process possible to collect the status of the child by parent.</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(so child will not become as “Zombie”)</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u="sng">
                <a:solidFill>
                  <a:srgbClr val="a3238e"/>
                </a:solidFill>
                <a:uFillTx/>
                <a:latin typeface="Times New Roman"/>
                <a:ea typeface="DejaVu Sans"/>
              </a:rPr>
              <a:t>Limitation Of Wait</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  writing wait in parent causes parent process gets blocked,because of this job con-currency is not possible to achive</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00"/>
                </a:solidFill>
                <a:latin typeface="Times New Roman"/>
                <a:ea typeface="DejaVu Sans"/>
              </a:rPr>
              <a:t>* the above point is one of the limitation of wait system call.</a:t>
            </a:r>
            <a:endParaRPr b="0" lang="en-IN" sz="3200" spc="-1" strike="noStrike">
              <a:latin typeface="Arial"/>
            </a:endParaRPr>
          </a:p>
        </p:txBody>
      </p:sp>
    </p:spTree>
  </p:cSld>
  <p:timing>
    <p:tnLst>
      <p:par>
        <p:cTn id="175" dur="indefinite" restart="never" nodeType="tmRoot">
          <p:childTnLst>
            <p:seq>
              <p:cTn id="176" dur="indefinite" nodeType="mainSeq"/>
              <p:prevCondLst>
                <p:cond delay="0" evt="onPrev">
                  <p:tgtEl>
                    <p:sldTgt/>
                  </p:tgtEl>
                </p:cond>
              </p:prevCondLst>
              <p:nextCondLst>
                <p:cond delay="0"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CustomShape 1"/>
          <p:cNvSpPr/>
          <p:nvPr/>
        </p:nvSpPr>
        <p:spPr>
          <a:xfrm>
            <a:off x="503640" y="300600"/>
            <a:ext cx="9055080" cy="82944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Process Termination - atexit()</a:t>
            </a:r>
            <a:endParaRPr b="0" lang="en-IN" sz="4400" spc="-1" strike="noStrike">
              <a:latin typeface="Arial"/>
            </a:endParaRPr>
          </a:p>
        </p:txBody>
      </p:sp>
      <p:sp>
        <p:nvSpPr>
          <p:cNvPr id="600" name="CustomShape 2"/>
          <p:cNvSpPr/>
          <p:nvPr/>
        </p:nvSpPr>
        <p:spPr>
          <a:xfrm>
            <a:off x="503640" y="1445400"/>
            <a:ext cx="9055080" cy="5717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a3238e"/>
                </a:solidFill>
                <a:latin typeface="Arial"/>
                <a:ea typeface="DejaVu Sans"/>
              </a:rPr>
              <a:t>atexit</a:t>
            </a:r>
            <a:r>
              <a:rPr b="0" lang="en-IN" sz="3200" spc="-1" strike="noStrike">
                <a:solidFill>
                  <a:srgbClr val="000000"/>
                </a:solidFill>
                <a:latin typeface="Arial"/>
                <a:ea typeface="DejaVu Sans"/>
              </a:rPr>
              <a:t> - register a function to be called at normal process termination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Arial"/>
                <a:ea typeface="DejaVu Sans"/>
              </a:rPr>
              <a:t>SYNOPSIS</a:t>
            </a:r>
            <a:r>
              <a:rPr b="0" lang="en-IN" sz="3200" spc="-1" strike="noStrike">
                <a:solidFill>
                  <a:srgbClr val="a3238e"/>
                </a:solidFill>
                <a:latin typeface="Arial"/>
                <a:ea typeface="DejaVu Sans"/>
              </a:rPr>
              <a:t>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#include &lt;stdlib.h&gt;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int atexit(void (*function)(void));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u="sng">
                <a:solidFill>
                  <a:srgbClr val="a3238e"/>
                </a:solidFill>
                <a:uFillTx/>
                <a:latin typeface="Arial"/>
                <a:ea typeface="DejaVu Sans"/>
              </a:rPr>
              <a:t>DESCRIPTION: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The atexit() function registers the given function to be called at normal process termination, either via exit(3) or via return from the program's main().  Functions so registered are called in the reverse order of their registration; no arguments are passed.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The same function may be registered multiple times: it is  called  once for each registration.</a:t>
            </a:r>
            <a:endParaRPr b="0" lang="en-IN" sz="3200" spc="-1" strike="noStrike">
              <a:latin typeface="Arial"/>
            </a:endParaRPr>
          </a:p>
        </p:txBody>
      </p:sp>
    </p:spTree>
  </p:cSld>
  <p:timing>
    <p:tnLst>
      <p:par>
        <p:cTn id="177" dur="indefinite" restart="never" nodeType="tmRoot">
          <p:childTnLst>
            <p:seq>
              <p:cTn id="178" dur="indefinite" nodeType="mainSeq"/>
              <p:prevCondLst>
                <p:cond delay="0" evt="onPrev">
                  <p:tgtEl>
                    <p:sldTgt/>
                  </p:tgtEl>
                </p:cond>
              </p:prevCondLst>
              <p:nextCondLst>
                <p:cond delay="0"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CustomShape 1"/>
          <p:cNvSpPr/>
          <p:nvPr/>
        </p:nvSpPr>
        <p:spPr>
          <a:xfrm>
            <a:off x="72000" y="288000"/>
            <a:ext cx="5104440" cy="7195320"/>
          </a:xfrm>
          <a:prstGeom prst="rect">
            <a:avLst/>
          </a:prstGeom>
          <a:noFill/>
          <a:ln>
            <a:noFill/>
          </a:ln>
        </p:spPr>
        <p:style>
          <a:lnRef idx="0"/>
          <a:fillRef idx="0"/>
          <a:effectRef idx="0"/>
          <a:fontRef idx="minor"/>
        </p:style>
        <p:txBody>
          <a:bodyPr lIns="90000" rIns="90000" tIns="45000" bIns="45000"/>
          <a:p>
            <a:pPr>
              <a:lnSpc>
                <a:spcPct val="100000"/>
              </a:lnSpc>
            </a:pPr>
            <a:r>
              <a:rPr b="0" lang="en-IN" sz="2000" spc="-1" strike="noStrike">
                <a:solidFill>
                  <a:srgbClr val="000000"/>
                </a:solidFill>
                <a:latin typeface="Times New Roman"/>
                <a:ea typeface="DejaVu Sans"/>
              </a:rPr>
              <a:t>#include&lt;stdio.h&gt;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#include&lt;stdlib.h&gt;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void fun1();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void fun2();</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int main()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printf("before function\n");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atexit(fun1);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printf("after fun1\n");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atexit(fun2);</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printf("main function exit...\n");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exit(0);</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void fun1()</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printf("in fun1 function...\n");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printf("Hello...\n");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void fun2()</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printf("in fun2 function...\n");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        </a:t>
            </a:r>
            <a:r>
              <a:rPr b="0" lang="en-IN" sz="2000" spc="-1" strike="noStrike">
                <a:solidFill>
                  <a:srgbClr val="000000"/>
                </a:solidFill>
                <a:latin typeface="Times New Roman"/>
                <a:ea typeface="DejaVu Sans"/>
              </a:rPr>
              <a:t>printf("hi...\n");</a:t>
            </a:r>
            <a:endParaRPr b="0" lang="en-IN" sz="2000" spc="-1" strike="noStrike">
              <a:latin typeface="Arial"/>
            </a:endParaRPr>
          </a:p>
          <a:p>
            <a:pPr>
              <a:lnSpc>
                <a:spcPct val="100000"/>
              </a:lnSpc>
            </a:pPr>
            <a:r>
              <a:rPr b="0" lang="en-IN" sz="2000" spc="-1" strike="noStrike">
                <a:solidFill>
                  <a:srgbClr val="000000"/>
                </a:solidFill>
                <a:latin typeface="Times New Roman"/>
                <a:ea typeface="DejaVu Sans"/>
              </a:rPr>
              <a:t>}</a:t>
            </a:r>
            <a:endParaRPr b="0" lang="en-IN" sz="2000" spc="-1" strike="noStrike">
              <a:latin typeface="Arial"/>
            </a:endParaRPr>
          </a:p>
        </p:txBody>
      </p:sp>
      <p:sp>
        <p:nvSpPr>
          <p:cNvPr id="602" name="CustomShape 2"/>
          <p:cNvSpPr/>
          <p:nvPr/>
        </p:nvSpPr>
        <p:spPr>
          <a:xfrm>
            <a:off x="144000" y="13680"/>
            <a:ext cx="2080440" cy="554760"/>
          </a:xfrm>
          <a:prstGeom prst="rect">
            <a:avLst/>
          </a:prstGeom>
          <a:noFill/>
          <a:ln>
            <a:noFill/>
          </a:ln>
        </p:spPr>
        <p:style>
          <a:lnRef idx="0"/>
          <a:fillRef idx="0"/>
          <a:effectRef idx="0"/>
          <a:fontRef idx="minor"/>
        </p:style>
        <p:txBody>
          <a:bodyPr lIns="90000" rIns="90000" tIns="45000" bIns="45000"/>
          <a:p>
            <a:pPr>
              <a:lnSpc>
                <a:spcPct val="100000"/>
              </a:lnSpc>
            </a:pPr>
            <a:r>
              <a:rPr b="1" lang="en-IN" sz="2200" spc="-1" strike="noStrike">
                <a:solidFill>
                  <a:srgbClr val="ce181e"/>
                </a:solidFill>
                <a:latin typeface="Arial"/>
                <a:ea typeface="DejaVu Sans"/>
              </a:rPr>
              <a:t>Program :</a:t>
            </a:r>
            <a:r>
              <a:rPr b="0" lang="en-IN" sz="1800" spc="-1" strike="noStrike">
                <a:solidFill>
                  <a:srgbClr val="ce181e"/>
                </a:solidFill>
                <a:latin typeface="Arial"/>
                <a:ea typeface="DejaVu Sans"/>
              </a:rPr>
              <a:t> </a:t>
            </a:r>
            <a:endParaRPr b="0" lang="en-IN" sz="1800" spc="-1" strike="noStrike">
              <a:latin typeface="Arial"/>
            </a:endParaRPr>
          </a:p>
        </p:txBody>
      </p:sp>
    </p:spTree>
  </p:cSld>
  <p:timing>
    <p:tnLst>
      <p:par>
        <p:cTn id="179" dur="indefinite" restart="never" nodeType="tmRoot">
          <p:childTnLst>
            <p:seq>
              <p:cTn id="180" dur="indefinite" nodeType="mainSeq"/>
              <p:prevCondLst>
                <p:cond delay="0" evt="onPrev">
                  <p:tgtEl>
                    <p:sldTgt/>
                  </p:tgtEl>
                </p:cond>
              </p:prevCondLst>
              <p:nextCondLst>
                <p:cond delay="0"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CustomShape 1"/>
          <p:cNvSpPr/>
          <p:nvPr/>
        </p:nvSpPr>
        <p:spPr>
          <a:xfrm>
            <a:off x="575640" y="1800"/>
            <a:ext cx="9055080" cy="70596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Difference Between exit() &amp; _exit()</a:t>
            </a:r>
            <a:endParaRPr b="0" lang="en-IN" sz="3600" spc="-1" strike="noStrike">
              <a:latin typeface="Arial"/>
            </a:endParaRPr>
          </a:p>
        </p:txBody>
      </p:sp>
      <p:sp>
        <p:nvSpPr>
          <p:cNvPr id="604" name="CustomShape 2"/>
          <p:cNvSpPr/>
          <p:nvPr/>
        </p:nvSpPr>
        <p:spPr>
          <a:xfrm>
            <a:off x="473760" y="864000"/>
            <a:ext cx="4410720" cy="37062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printf(“Hello..\n”);</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exit(0);</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a:t>
            </a:r>
            <a:endParaRPr b="0" lang="en-IN" sz="3200" spc="-1" strike="noStrike">
              <a:latin typeface="Arial"/>
            </a:endParaRPr>
          </a:p>
        </p:txBody>
      </p:sp>
      <p:sp>
        <p:nvSpPr>
          <p:cNvPr id="605" name="CustomShape 3"/>
          <p:cNvSpPr/>
          <p:nvPr/>
        </p:nvSpPr>
        <p:spPr>
          <a:xfrm>
            <a:off x="5255280" y="935280"/>
            <a:ext cx="4410720" cy="33706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pPr>
            <a:r>
              <a:rPr b="0" lang="en-IN" sz="3200" spc="-1" strike="noStrike">
                <a:solidFill>
                  <a:srgbClr val="000000"/>
                </a:solidFill>
                <a:latin typeface="Times New Roman"/>
                <a:ea typeface="DejaVu Sans"/>
              </a:rPr>
              <a:t>#include&lt;stdio.h&gt;</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int main()</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printf(“Hello..\n”);</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_exit(0);</a:t>
            </a:r>
            <a:endParaRPr b="0" lang="en-IN" sz="3200" spc="-1" strike="noStrike">
              <a:latin typeface="Arial"/>
            </a:endParaRPr>
          </a:p>
          <a:p>
            <a:pPr marL="432000" indent="-308160">
              <a:lnSpc>
                <a:spcPct val="100000"/>
              </a:lnSpc>
              <a:spcBef>
                <a:spcPts val="1417"/>
              </a:spcBef>
            </a:pPr>
            <a:r>
              <a:rPr b="0" lang="en-IN" sz="3200" spc="-1" strike="noStrike">
                <a:solidFill>
                  <a:srgbClr val="000000"/>
                </a:solidFill>
                <a:latin typeface="Times New Roman"/>
                <a:ea typeface="DejaVu Sans"/>
              </a:rPr>
              <a:t>}</a:t>
            </a:r>
            <a:endParaRPr b="0" lang="en-IN" sz="3200" spc="-1" strike="noStrike">
              <a:latin typeface="Arial"/>
            </a:endParaRPr>
          </a:p>
        </p:txBody>
      </p:sp>
      <p:sp>
        <p:nvSpPr>
          <p:cNvPr id="606" name="CustomShape 4"/>
          <p:cNvSpPr/>
          <p:nvPr/>
        </p:nvSpPr>
        <p:spPr>
          <a:xfrm>
            <a:off x="581040" y="4869000"/>
            <a:ext cx="9055080" cy="1887840"/>
          </a:xfrm>
          <a:prstGeom prst="rect">
            <a:avLst/>
          </a:prstGeom>
          <a:noFill/>
          <a:ln>
            <a:noFill/>
          </a:ln>
        </p:spPr>
        <p:style>
          <a:lnRef idx="0"/>
          <a:fillRef idx="0"/>
          <a:effectRef idx="0"/>
          <a:fontRef idx="minor"/>
        </p:style>
        <p:txBody>
          <a:bodyPr lIns="0" rIns="0" tIns="0" bIns="0"/>
          <a:p>
            <a:pPr>
              <a:lnSpc>
                <a:spcPct val="100000"/>
              </a:lnSpc>
            </a:pPr>
            <a:r>
              <a:rPr b="0" lang="en-IN" sz="3200" spc="-1" strike="noStrike" u="sng">
                <a:solidFill>
                  <a:srgbClr val="a3238e"/>
                </a:solidFill>
                <a:uFillTx/>
                <a:latin typeface="Times New Roman"/>
                <a:ea typeface="DejaVu Sans"/>
              </a:rPr>
              <a:t>Note</a:t>
            </a:r>
            <a:r>
              <a:rPr b="0" lang="en-IN" sz="3200" spc="-1" strike="noStrike">
                <a:solidFill>
                  <a:srgbClr val="a3238e"/>
                </a:solidFill>
                <a:latin typeface="Times New Roman"/>
                <a:ea typeface="DejaVu Sans"/>
              </a:rPr>
              <a:t>: </a:t>
            </a:r>
            <a:br/>
            <a:r>
              <a:rPr b="0" lang="en-IN" sz="3200" spc="-1" strike="noStrike">
                <a:solidFill>
                  <a:srgbClr val="800000"/>
                </a:solidFill>
                <a:latin typeface="Arial"/>
                <a:ea typeface="DejaVu Sans"/>
              </a:rPr>
              <a:t>      </a:t>
            </a:r>
            <a:r>
              <a:rPr b="0" lang="en-IN" sz="3200" spc="-1" strike="noStrike">
                <a:solidFill>
                  <a:srgbClr val="000000"/>
                </a:solidFill>
                <a:latin typeface="Times New Roman"/>
                <a:ea typeface="DejaVu Sans"/>
              </a:rPr>
              <a:t> exit() library function will clear the buffer (by flushing all the content) before communicating to the _exit() system call.</a:t>
            </a:r>
            <a:endParaRPr b="0" lang="en-IN" sz="3200" spc="-1" strike="noStrike">
              <a:latin typeface="Arial"/>
            </a:endParaRPr>
          </a:p>
          <a:p>
            <a:pPr>
              <a:lnSpc>
                <a:spcPct val="100000"/>
              </a:lnSpc>
            </a:pPr>
            <a:r>
              <a:rPr b="0" lang="en-IN" sz="3200" spc="-1" strike="noStrike">
                <a:solidFill>
                  <a:srgbClr val="000000"/>
                </a:solidFill>
                <a:latin typeface="Times New Roman"/>
                <a:ea typeface="DejaVu Sans"/>
              </a:rPr>
              <a:t>exit()  internally calls  _exit() to terminate a process. </a:t>
            </a:r>
            <a:endParaRPr b="0" lang="en-IN" sz="3200" spc="-1" strike="noStrike">
              <a:latin typeface="Arial"/>
            </a:endParaRPr>
          </a:p>
        </p:txBody>
      </p:sp>
    </p:spTree>
  </p:cSld>
  <p:timing>
    <p:tnLst>
      <p:par>
        <p:cTn id="181" dur="indefinite" restart="never" nodeType="tmRoot">
          <p:childTnLst>
            <p:seq>
              <p:cTn id="182" dur="indefinite" nodeType="mainSeq"/>
              <p:prevCondLst>
                <p:cond delay="0" evt="onPrev">
                  <p:tgtEl>
                    <p:sldTgt/>
                  </p:tgtEl>
                </p:cond>
              </p:prevCondLst>
              <p:nextCondLst>
                <p:cond delay="0" evt="onNext">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CustomShape 1"/>
          <p:cNvSpPr/>
          <p:nvPr/>
        </p:nvSpPr>
        <p:spPr>
          <a:xfrm>
            <a:off x="648000" y="227160"/>
            <a:ext cx="7984800" cy="917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exit()                  Vs                _exit()</a:t>
            </a:r>
            <a:endParaRPr b="0" lang="en-IN" sz="3600" spc="-1" strike="noStrike">
              <a:latin typeface="Arial"/>
            </a:endParaRPr>
          </a:p>
        </p:txBody>
      </p:sp>
      <p:sp>
        <p:nvSpPr>
          <p:cNvPr id="608" name="CustomShape 2"/>
          <p:cNvSpPr/>
          <p:nvPr/>
        </p:nvSpPr>
        <p:spPr>
          <a:xfrm>
            <a:off x="215640" y="1499400"/>
            <a:ext cx="4698720" cy="49406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Its a library function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Causes normal Process Termination.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All the Buffers/streams which are attached with each process are flushed out before termination of the process.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All the functions which are registered with atexit() are called in the reverse order of their registration.</a:t>
            </a:r>
            <a:endParaRPr b="0" lang="en-IN" sz="3200" spc="-1" strike="noStrike">
              <a:latin typeface="Arial"/>
            </a:endParaRPr>
          </a:p>
        </p:txBody>
      </p:sp>
      <p:sp>
        <p:nvSpPr>
          <p:cNvPr id="609" name="CustomShape 3"/>
          <p:cNvSpPr/>
          <p:nvPr/>
        </p:nvSpPr>
        <p:spPr>
          <a:xfrm>
            <a:off x="5151960" y="1497960"/>
            <a:ext cx="4772160" cy="48524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it’s a system call.</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Causes normal immediate Process Termination.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All the Buffers/streams are not flushed out but process termination immediately.</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Functions which are registered with atexit() are not called during process termination.</a:t>
            </a:r>
            <a:endParaRPr b="0" lang="en-IN" sz="3200" spc="-1" strike="noStrike">
              <a:latin typeface="Arial"/>
            </a:endParaRPr>
          </a:p>
        </p:txBody>
      </p:sp>
    </p:spTree>
  </p:cSld>
  <p:timing>
    <p:tnLst>
      <p:par>
        <p:cTn id="183" dur="indefinite" restart="never" nodeType="tmRoot">
          <p:childTnLst>
            <p:seq>
              <p:cTn id="184" dur="indefinite" nodeType="mainSeq"/>
              <p:prevCondLst>
                <p:cond delay="0" evt="onPrev">
                  <p:tgtEl>
                    <p:sldTgt/>
                  </p:tgtEl>
                </p:cond>
              </p:prevCondLst>
              <p:nextCondLst>
                <p:cond delay="0" evt="onNext">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CustomShape 1"/>
          <p:cNvSpPr/>
          <p:nvPr/>
        </p:nvSpPr>
        <p:spPr>
          <a:xfrm>
            <a:off x="575640" y="360"/>
            <a:ext cx="9055080" cy="72864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Wait pid() function</a:t>
            </a:r>
            <a:endParaRPr b="0" lang="en-IN" sz="3600" spc="-1" strike="noStrike">
              <a:latin typeface="Arial"/>
            </a:endParaRPr>
          </a:p>
        </p:txBody>
      </p:sp>
      <p:sp>
        <p:nvSpPr>
          <p:cNvPr id="611" name="CustomShape 2"/>
          <p:cNvSpPr/>
          <p:nvPr/>
        </p:nvSpPr>
        <p:spPr>
          <a:xfrm>
            <a:off x="143640" y="739080"/>
            <a:ext cx="9708480" cy="63792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pPr>
            <a:r>
              <a:rPr b="0" lang="en-IN" sz="3200" spc="-1" strike="noStrike" u="sng">
                <a:solidFill>
                  <a:srgbClr val="a3238e"/>
                </a:solidFill>
                <a:uFillTx/>
                <a:latin typeface="Times New Roman"/>
                <a:ea typeface="DejaVu Sans"/>
              </a:rPr>
              <a:t>Syntax</a:t>
            </a:r>
            <a:r>
              <a:rPr b="0" lang="en-IN" sz="3200" spc="-1" strike="noStrike">
                <a:solidFill>
                  <a:srgbClr val="a3238e"/>
                </a:solidFill>
                <a:latin typeface="Times New Roman"/>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#include &lt;sys/types.h&gt;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#include &lt;sys/wait.h&gt;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   </a:t>
            </a:r>
            <a:r>
              <a:rPr b="0" lang="en-IN" sz="3200" spc="-1" strike="noStrike">
                <a:solidFill>
                  <a:srgbClr val="0000cc"/>
                </a:solidFill>
                <a:latin typeface="Times New Roman"/>
                <a:ea typeface="DejaVu Sans"/>
              </a:rPr>
              <a:t>pid_t waitpid(pid_t pid, int *status, int options);</a:t>
            </a:r>
            <a:endParaRPr b="0" lang="en-IN" sz="3200" spc="-1" strike="noStrike">
              <a:latin typeface="Arial"/>
            </a:endParaRPr>
          </a:p>
          <a:p>
            <a:pPr>
              <a:lnSpc>
                <a:spcPct val="100000"/>
              </a:lnSpc>
              <a:spcBef>
                <a:spcPts val="1417"/>
              </a:spcBef>
            </a:pPr>
            <a:r>
              <a:rPr b="0" lang="en-IN" sz="3200" spc="-1" strike="noStrike">
                <a:solidFill>
                  <a:srgbClr val="a3238e"/>
                </a:solidFill>
                <a:latin typeface="Times New Roman"/>
                <a:ea typeface="DejaVu Sans"/>
              </a:rPr>
              <a:t>DESCRIPTION:</a:t>
            </a:r>
            <a:endParaRPr b="0" lang="en-IN" sz="3200" spc="-1" strike="noStrike">
              <a:latin typeface="Arial"/>
            </a:endParaRPr>
          </a:p>
          <a:p>
            <a:pPr>
              <a:lnSpc>
                <a:spcPct val="100000"/>
              </a:lnSpc>
              <a:spcBef>
                <a:spcPts val="1417"/>
              </a:spcBef>
            </a:pPr>
            <a:r>
              <a:rPr b="0" lang="en-IN" sz="3200" spc="-1" strike="noStrike">
                <a:solidFill>
                  <a:srgbClr val="0000cc"/>
                </a:solidFill>
                <a:latin typeface="Times New Roman"/>
                <a:ea typeface="DejaVu Sans"/>
              </a:rPr>
              <a:t>          </a:t>
            </a:r>
            <a:r>
              <a:rPr b="0" lang="en-IN" sz="3200" spc="-1" strike="noStrike">
                <a:solidFill>
                  <a:srgbClr val="000000"/>
                </a:solidFill>
                <a:latin typeface="Times New Roman"/>
                <a:ea typeface="DejaVu Sans"/>
              </a:rPr>
              <a:t>The waitpid() system call suspends execution of the  calling  process  until  a  child specified  by  pid  argument  has changed state.</a:t>
            </a:r>
            <a:endParaRPr b="0" lang="en-IN" sz="3200" spc="-1" strike="noStrike">
              <a:latin typeface="Arial"/>
            </a:endParaRPr>
          </a:p>
          <a:p>
            <a:pPr>
              <a:lnSpc>
                <a:spcPct val="100000"/>
              </a:lnSpc>
              <a:spcBef>
                <a:spcPts val="1417"/>
              </a:spcBef>
            </a:pPr>
            <a:r>
              <a:rPr b="0" lang="en-IN" sz="3200" spc="-1" strike="noStrike">
                <a:solidFill>
                  <a:srgbClr val="a3238e"/>
                </a:solidFill>
                <a:latin typeface="Times New Roman"/>
                <a:ea typeface="DejaVu Sans"/>
              </a:rPr>
              <a:t>RETURN VALUE:</a:t>
            </a:r>
            <a:endParaRPr b="0" lang="en-IN" sz="3200" spc="-1" strike="noStrike">
              <a:latin typeface="Arial"/>
            </a:endParaRPr>
          </a:p>
          <a:p>
            <a:pPr>
              <a:lnSpc>
                <a:spcPct val="100000"/>
              </a:lnSpc>
              <a:spcBef>
                <a:spcPts val="1417"/>
              </a:spcBef>
            </a:pPr>
            <a:r>
              <a:rPr b="0" lang="en-IN" sz="3200" spc="-1" strike="noStrike">
                <a:solidFill>
                  <a:srgbClr val="000000"/>
                </a:solidFill>
                <a:latin typeface="Times New Roman"/>
                <a:ea typeface="DejaVu Sans"/>
              </a:rPr>
              <a:t>waitpid(): on success, returns the process ID of the child whose state has changed; if WNOHANG was specified and one or more child(ren) specified by pid exist, but have  not yet changed state, then 0 is returned.  On error, -1 is returned.</a:t>
            </a:r>
            <a:endParaRPr b="0" lang="en-IN" sz="3200" spc="-1" strike="noStrike">
              <a:latin typeface="Arial"/>
            </a:endParaRPr>
          </a:p>
        </p:txBody>
      </p:sp>
    </p:spTree>
  </p:cSld>
  <p:timing>
    <p:tnLst>
      <p:par>
        <p:cTn id="185" dur="indefinite" restart="never" nodeType="tmRoot">
          <p:childTnLst>
            <p:seq>
              <p:cTn id="186" dur="indefinite" nodeType="mainSeq"/>
              <p:prevCondLst>
                <p:cond delay="0" evt="onPrev">
                  <p:tgtEl>
                    <p:sldTgt/>
                  </p:tgtEl>
                </p:cond>
              </p:prevCondLst>
              <p:nextCondLst>
                <p:cond delay="0"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CustomShape 1"/>
          <p:cNvSpPr/>
          <p:nvPr/>
        </p:nvSpPr>
        <p:spPr>
          <a:xfrm>
            <a:off x="72360" y="0"/>
            <a:ext cx="9352080" cy="740232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void child_process(int 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a[3];</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if((a[0] = 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child_process(1);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if((a[1] = 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child_process(2);</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 if((a[2] = 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child_process(3);</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status,pid;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printf("parent pid : %d ppid : %d\n",getpid(),getppid());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pid = waitpid(a[1],&amp;status,0);</a:t>
            </a:r>
            <a:endParaRPr b="0" lang="en-IN" sz="2400" spc="-1" strike="noStrike">
              <a:latin typeface="Arial"/>
            </a:endParaRPr>
          </a:p>
          <a:p>
            <a:pPr>
              <a:lnSpc>
                <a:spcPct val="100000"/>
              </a:lnSpc>
            </a:pPr>
            <a:endParaRPr b="0" lang="en-IN" sz="2400" spc="-1" strike="noStrike">
              <a:latin typeface="Arial"/>
            </a:endParaRPr>
          </a:p>
        </p:txBody>
      </p:sp>
      <p:sp>
        <p:nvSpPr>
          <p:cNvPr id="613" name="CustomShape 2"/>
          <p:cNvSpPr/>
          <p:nvPr/>
        </p:nvSpPr>
        <p:spPr>
          <a:xfrm>
            <a:off x="3600000" y="589680"/>
            <a:ext cx="6373080" cy="985320"/>
          </a:xfrm>
          <a:prstGeom prst="rect">
            <a:avLst/>
          </a:prstGeom>
          <a:noFill/>
          <a:ln>
            <a:noFill/>
          </a:ln>
        </p:spPr>
        <p:style>
          <a:lnRef idx="0"/>
          <a:fillRef idx="0"/>
          <a:effectRef idx="0"/>
          <a:fontRef idx="minor"/>
        </p:style>
        <p:txBody>
          <a:bodyPr lIns="90000" rIns="90000" tIns="45000" bIns="45000"/>
          <a:p>
            <a:pPr>
              <a:lnSpc>
                <a:spcPct val="100000"/>
              </a:lnSpc>
            </a:pPr>
            <a:r>
              <a:rPr b="1" lang="en-IN" sz="3200" spc="-1" strike="noStrike">
                <a:solidFill>
                  <a:srgbClr val="ce181e"/>
                </a:solidFill>
                <a:latin typeface="Times New Roman"/>
                <a:ea typeface="DejaVu Sans"/>
              </a:rPr>
              <a:t>Program to make a parent process</a:t>
            </a:r>
            <a:endParaRPr b="0" lang="en-IN" sz="3200" spc="-1" strike="noStrike">
              <a:latin typeface="Arial"/>
            </a:endParaRPr>
          </a:p>
          <a:p>
            <a:pPr>
              <a:lnSpc>
                <a:spcPct val="100000"/>
              </a:lnSpc>
            </a:pPr>
            <a:r>
              <a:rPr b="1" lang="en-IN" sz="3200" spc="-1" strike="noStrike">
                <a:solidFill>
                  <a:srgbClr val="ce181e"/>
                </a:solidFill>
                <a:latin typeface="Times New Roman"/>
                <a:ea typeface="DejaVu Sans"/>
              </a:rPr>
              <a:t>to wait for a perticular child</a:t>
            </a:r>
            <a:r>
              <a:rPr b="0" lang="en-IN" sz="3200" spc="-1" strike="noStrike">
                <a:solidFill>
                  <a:srgbClr val="ce181e"/>
                </a:solidFill>
                <a:latin typeface="Times New Roman"/>
                <a:ea typeface="DejaVu Sans"/>
              </a:rPr>
              <a:t>.</a:t>
            </a:r>
            <a:endParaRPr b="0" lang="en-IN" sz="3200" spc="-1" strike="noStrike">
              <a:latin typeface="Arial"/>
            </a:endParaRPr>
          </a:p>
        </p:txBody>
      </p:sp>
    </p:spTree>
  </p:cSld>
  <p:timing>
    <p:tnLst>
      <p:par>
        <p:cTn id="187" dur="indefinite" restart="never" nodeType="tmRoot">
          <p:childTnLst>
            <p:seq>
              <p:cTn id="188" dur="indefinite" nodeType="mainSeq"/>
              <p:prevCondLst>
                <p:cond delay="0" evt="onPrev">
                  <p:tgtEl>
                    <p:sldTgt/>
                  </p:tgtEl>
                </p:cond>
              </p:prevCondLst>
              <p:nextCondLst>
                <p:cond delay="0" evt="onNext">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CustomShape 1"/>
          <p:cNvSpPr/>
          <p:nvPr/>
        </p:nvSpPr>
        <p:spPr>
          <a:xfrm>
            <a:off x="144000" y="370440"/>
            <a:ext cx="9712080" cy="646200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00"/>
                </a:solidFill>
                <a:latin typeface="Arial"/>
                <a:ea typeface="DejaVu Sans"/>
              </a:rPr>
              <a:t> </a:t>
            </a: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status = status&gt;&gt;8;</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parent, The child - %d status collected\n",status);</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printf("collected child, pid : %d\n",pid);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void child_process(int 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//printf("child-%d, pid : %d ppid : %d\n",n,getpid(),getppid());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srand(getpid());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ret = rand()%10+1;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printf("The child - %d running with %d delay\n",n,ret);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sleep(ret);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printf("The child - %d has exited\n",n);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exit(n);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p:txBody>
      </p:sp>
    </p:spTree>
  </p:cSld>
  <p:timing>
    <p:tnLst>
      <p:par>
        <p:cTn id="189" dur="indefinite" restart="never" nodeType="tmRoot">
          <p:childTnLst>
            <p:seq>
              <p:cTn id="190" dur="indefinite" nodeType="mainSeq"/>
              <p:prevCondLst>
                <p:cond delay="0" evt="onPrev">
                  <p:tgtEl>
                    <p:sldTgt/>
                  </p:tgtEl>
                </p:cond>
              </p:prevCondLst>
              <p:nextCondLst>
                <p:cond delay="0" evt="onNext">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CustomShape 1"/>
          <p:cNvSpPr/>
          <p:nvPr/>
        </p:nvSpPr>
        <p:spPr>
          <a:xfrm>
            <a:off x="288000" y="532080"/>
            <a:ext cx="8695080" cy="3133080"/>
          </a:xfrm>
          <a:prstGeom prst="rect">
            <a:avLst/>
          </a:prstGeom>
          <a:noFill/>
          <a:ln>
            <a:noFill/>
          </a:ln>
        </p:spPr>
        <p:style>
          <a:lnRef idx="0"/>
          <a:fillRef idx="0"/>
          <a:effectRef idx="0"/>
          <a:fontRef idx="minor"/>
        </p:style>
        <p:txBody>
          <a:bodyPr lIns="90000" rIns="90000" tIns="45000" bIns="45000"/>
          <a:p>
            <a:pPr>
              <a:lnSpc>
                <a:spcPct val="100000"/>
              </a:lnSpc>
            </a:pPr>
            <a:r>
              <a:rPr b="0" lang="en-IN" sz="2800" spc="-1" strike="noStrike">
                <a:solidFill>
                  <a:srgbClr val="a3238e"/>
                </a:solidFill>
                <a:latin typeface="Times New Roman"/>
                <a:ea typeface="DejaVu Sans"/>
              </a:rPr>
              <a:t>WNOHANG</a:t>
            </a:r>
            <a:r>
              <a:rPr b="0" lang="en-IN" sz="2800" spc="-1" strike="noStrike">
                <a:solidFill>
                  <a:srgbClr val="000000"/>
                </a:solidFill>
                <a:latin typeface="Times New Roman"/>
                <a:ea typeface="DejaVu Sans"/>
              </a:rPr>
              <a:t>   return immediately if no child has exited.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(that means, don’t make the parent process to wait even child process doesn’t exited. In that case, it is possible to achive the job-concurrancy.)</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WUNTRACED</a:t>
            </a:r>
            <a:r>
              <a:rPr b="0" lang="en-IN" sz="2800" spc="-1" strike="noStrike">
                <a:solidFill>
                  <a:srgbClr val="000000"/>
                </a:solidFill>
                <a:latin typeface="Times New Roman"/>
                <a:ea typeface="DejaVu Sans"/>
              </a:rPr>
              <a:t>   also return if a child has  stopped.</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(that means, don’t make the parent process to wait, when child gets suspension state). (here return means, parent coming out blocking state because of child suspend). </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solidFill>
                  <a:srgbClr val="a3238e"/>
                </a:solidFill>
                <a:latin typeface="Times New Roman"/>
                <a:ea typeface="DejaVu Sans"/>
              </a:rPr>
              <a:t>WCONTINUED</a:t>
            </a:r>
            <a:r>
              <a:rPr b="0" lang="en-IN" sz="2800" spc="-1" strike="noStrike">
                <a:solidFill>
                  <a:srgbClr val="000000"/>
                </a:solidFill>
                <a:latin typeface="Times New Roman"/>
                <a:ea typeface="DejaVu Sans"/>
              </a:rPr>
              <a:t> also return if a stopped child has been resumed by delivery of SIGCONT.</a:t>
            </a:r>
            <a:endParaRPr b="0" lang="en-IN" sz="2800" spc="-1" strike="noStrike">
              <a:latin typeface="Arial"/>
            </a:endParaRPr>
          </a:p>
          <a:p>
            <a:pPr>
              <a:lnSpc>
                <a:spcPct val="100000"/>
              </a:lnSpc>
            </a:pPr>
            <a:r>
              <a:rPr b="0" lang="en-IN" sz="2800" spc="-1" strike="noStrike">
                <a:solidFill>
                  <a:srgbClr val="000000"/>
                </a:solidFill>
                <a:latin typeface="Times New Roman"/>
                <a:ea typeface="DejaVu Sans"/>
              </a:rPr>
              <a:t>(that means, don’t make the parent process to wait, when child gets resume from suspend).(here, parent coming out blocking state because of child resume from suspend state).</a:t>
            </a:r>
            <a:endParaRPr b="0" lang="en-IN" sz="2800" spc="-1" strike="noStrike">
              <a:latin typeface="Arial"/>
            </a:endParaRPr>
          </a:p>
        </p:txBody>
      </p:sp>
      <p:sp>
        <p:nvSpPr>
          <p:cNvPr id="616" name="CustomShape 2"/>
          <p:cNvSpPr/>
          <p:nvPr/>
        </p:nvSpPr>
        <p:spPr>
          <a:xfrm>
            <a:off x="215280" y="43920"/>
            <a:ext cx="4025880" cy="885240"/>
          </a:xfrm>
          <a:prstGeom prst="rect">
            <a:avLst/>
          </a:prstGeom>
          <a:noFill/>
          <a:ln>
            <a:noFill/>
          </a:ln>
        </p:spPr>
        <p:style>
          <a:lnRef idx="0"/>
          <a:fillRef idx="0"/>
          <a:effectRef idx="0"/>
          <a:fontRef idx="minor"/>
        </p:style>
        <p:txBody>
          <a:bodyPr lIns="90000" rIns="90000" tIns="45000" bIns="45000"/>
          <a:p>
            <a:pPr>
              <a:lnSpc>
                <a:spcPct val="100000"/>
              </a:lnSpc>
            </a:pPr>
            <a:r>
              <a:rPr b="1" lang="en-IN" sz="2800" spc="-1" strike="noStrike">
                <a:solidFill>
                  <a:srgbClr val="ed1c24"/>
                </a:solidFill>
                <a:latin typeface="Times New Roman"/>
                <a:ea typeface="DejaVu Sans"/>
              </a:rPr>
              <a:t>Waitpid() 3</a:t>
            </a:r>
            <a:r>
              <a:rPr b="1" lang="en-IN" sz="2800" spc="-1" strike="noStrike" baseline="101000">
                <a:solidFill>
                  <a:srgbClr val="ed1c24"/>
                </a:solidFill>
                <a:latin typeface="Times New Roman"/>
                <a:ea typeface="DejaVu Sans"/>
              </a:rPr>
              <a:t>rd</a:t>
            </a:r>
            <a:r>
              <a:rPr b="1" lang="en-IN" sz="2800" spc="-1" strike="noStrike">
                <a:solidFill>
                  <a:srgbClr val="ed1c24"/>
                </a:solidFill>
                <a:latin typeface="Times New Roman"/>
                <a:ea typeface="DejaVu Sans"/>
              </a:rPr>
              <a:t> argument :</a:t>
            </a:r>
            <a:r>
              <a:rPr b="0" lang="en-IN" sz="2800" spc="-1" strike="noStrike">
                <a:solidFill>
                  <a:srgbClr val="ed1c24"/>
                </a:solidFill>
                <a:latin typeface="Times New Roman"/>
                <a:ea typeface="DejaVu Sans"/>
              </a:rPr>
              <a:t> </a:t>
            </a:r>
            <a:endParaRPr b="0" lang="en-IN" sz="2800" spc="-1" strike="noStrike">
              <a:latin typeface="Arial"/>
            </a:endParaRPr>
          </a:p>
        </p:txBody>
      </p:sp>
    </p:spTree>
  </p:cSld>
  <p:timing>
    <p:tnLst>
      <p:par>
        <p:cTn id="191" dur="indefinite" restart="never" nodeType="tmRoot">
          <p:childTnLst>
            <p:seq>
              <p:cTn id="192" dur="indefinite" nodeType="mainSeq"/>
              <p:prevCondLst>
                <p:cond delay="0" evt="onPrev">
                  <p:tgtEl>
                    <p:sldTgt/>
                  </p:tgtEl>
                </p:cond>
              </p:prevCondLst>
              <p:nextCondLst>
                <p:cond delay="0" evt="onNext">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CustomShape 1"/>
          <p:cNvSpPr/>
          <p:nvPr/>
        </p:nvSpPr>
        <p:spPr>
          <a:xfrm>
            <a:off x="223920" y="936000"/>
            <a:ext cx="9849960" cy="5299560"/>
          </a:xfrm>
          <a:prstGeom prst="rect">
            <a:avLst/>
          </a:prstGeom>
          <a:noFill/>
          <a:ln>
            <a:noFill/>
          </a:ln>
        </p:spPr>
        <p:style>
          <a:lnRef idx="0"/>
          <a:fillRef idx="0"/>
          <a:effectRef idx="0"/>
          <a:fontRef idx="minor"/>
        </p:style>
        <p:txBody>
          <a:bodyPr lIns="90000" rIns="90000" tIns="45000" bIns="45000"/>
          <a:p>
            <a:pPr>
              <a:lnSpc>
                <a:spcPct val="100000"/>
              </a:lnSpc>
            </a:pPr>
            <a:r>
              <a:rPr b="0" lang="en-IN" sz="1800" spc="-1" strike="noStrike">
                <a:solidFill>
                  <a:srgbClr val="000000"/>
                </a:solidFill>
                <a:latin typeface="Arial"/>
                <a:ea typeface="DejaVu Sans"/>
              </a:rPr>
              <a:t> </a:t>
            </a:r>
            <a:r>
              <a:rPr b="0" lang="en-IN" sz="2600" spc="-1" strike="noStrike">
                <a:solidFill>
                  <a:srgbClr val="000000"/>
                </a:solidFill>
                <a:latin typeface="Times New Roman"/>
                <a:ea typeface="DejaVu Sans"/>
              </a:rPr>
              <a:t>#include&lt;stdio.h&gt;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#include&lt;sys/wait.h&gt;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int main()</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printf("%d\n",WNOHANG);   //1</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printf("%d\n",WUNTRACED); //2</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printf("%d\n",WCONTINUED);//8           </a:t>
            </a: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solidFill>
                  <a:srgbClr val="000000"/>
                </a:solidFill>
                <a:latin typeface="Times New Roman"/>
                <a:ea typeface="DejaVu Sans"/>
              </a:rPr>
              <a:t> </a:t>
            </a:r>
            <a:r>
              <a:rPr b="0" lang="en-IN" sz="2600" spc="-1" strike="noStrike">
                <a:solidFill>
                  <a:srgbClr val="000000"/>
                </a:solidFill>
                <a:latin typeface="Times New Roman"/>
                <a:ea typeface="DejaVu Sans"/>
              </a:rPr>
              <a:t>these are pre-defined macros.</a:t>
            </a:r>
            <a:endParaRPr b="0" lang="en-IN" sz="2600" spc="-1" strike="noStrike">
              <a:latin typeface="Arial"/>
            </a:endParaRPr>
          </a:p>
        </p:txBody>
      </p:sp>
    </p:spTree>
  </p:cSld>
  <p:timing>
    <p:tnLst>
      <p:par>
        <p:cTn id="193" dur="indefinite" restart="never" nodeType="tmRoot">
          <p:childTnLst>
            <p:seq>
              <p:cTn id="194" dur="indefinite" nodeType="mainSeq"/>
              <p:prevCondLst>
                <p:cond delay="0" evt="onPrev">
                  <p:tgtEl>
                    <p:sldTgt/>
                  </p:tgtEl>
                </p:cond>
              </p:prevCondLst>
              <p:nextCondLst>
                <p:cond delay="0" evt="onNext">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CustomShape 1"/>
          <p:cNvSpPr/>
          <p:nvPr/>
        </p:nvSpPr>
        <p:spPr>
          <a:xfrm>
            <a:off x="503640" y="0"/>
            <a:ext cx="9055080" cy="691200"/>
          </a:xfrm>
          <a:prstGeom prst="rect">
            <a:avLst/>
          </a:prstGeom>
          <a:noFill/>
          <a:ln>
            <a:noFill/>
          </a:ln>
        </p:spPr>
        <p:style>
          <a:lnRef idx="0"/>
          <a:fillRef idx="0"/>
          <a:effectRef idx="0"/>
          <a:fontRef idx="minor"/>
        </p:style>
        <p:txBody>
          <a:bodyPr lIns="0" rIns="0" tIns="0" bIns="0" anchor="ctr"/>
          <a:p>
            <a:pPr algn="ctr">
              <a:lnSpc>
                <a:spcPct val="100000"/>
              </a:lnSpc>
            </a:pPr>
            <a:r>
              <a:rPr b="0" lang="en-IN" sz="3600" spc="-1" strike="noStrike">
                <a:solidFill>
                  <a:srgbClr val="a3238e"/>
                </a:solidFill>
                <a:latin typeface="Times New Roman"/>
                <a:ea typeface="DejaVu Sans"/>
              </a:rPr>
              <a:t>JOB CONCURRENCY</a:t>
            </a:r>
            <a:endParaRPr b="0" lang="en-IN" sz="3600" spc="-1" strike="noStrike">
              <a:latin typeface="Arial"/>
            </a:endParaRPr>
          </a:p>
        </p:txBody>
      </p:sp>
      <p:sp>
        <p:nvSpPr>
          <p:cNvPr id="619" name="CustomShape 2"/>
          <p:cNvSpPr/>
          <p:nvPr/>
        </p:nvSpPr>
        <p:spPr>
          <a:xfrm>
            <a:off x="82440" y="288720"/>
            <a:ext cx="9342720" cy="7048440"/>
          </a:xfrm>
          <a:prstGeom prst="rect">
            <a:avLst/>
          </a:prstGeom>
          <a:noFill/>
          <a:ln>
            <a:noFill/>
          </a:ln>
        </p:spPr>
        <p:style>
          <a:lnRef idx="0"/>
          <a:fillRef idx="0"/>
          <a:effectRef idx="0"/>
          <a:fontRef idx="minor"/>
        </p:style>
        <p:txBody>
          <a:bodyPr lIns="0" rIns="0" tIns="0" bIns="0">
            <a:normAutofit/>
          </a:bodyPr>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#include&lt;stdio.h&gt;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#include&lt;stdlib.h&gt;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#include&lt;unistd.h&gt;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#include&lt;sys/wait.h&gt;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int main()</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if(fork()==0)</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printf("in child, 5seconds delay\n");</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sleep(5);</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printf("child is exit..\n");</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exit(0);</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else</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int stat;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//waitpid(-1,&amp;stat,0);</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waitpid(-1,&amp;stat,</a:t>
            </a:r>
            <a:r>
              <a:rPr b="0" lang="en-IN" sz="4000" spc="-1" strike="noStrike">
                <a:solidFill>
                  <a:srgbClr val="a3238e"/>
                </a:solidFill>
                <a:latin typeface="Times New Roman"/>
                <a:ea typeface="DejaVu Sans"/>
              </a:rPr>
              <a:t>WNOHANG</a:t>
            </a:r>
            <a:r>
              <a:rPr b="0" lang="en-IN" sz="4000" spc="-1" strike="noStrike">
                <a:solidFill>
                  <a:srgbClr val="000000"/>
                </a:solidFill>
                <a:latin typeface="Times New Roman"/>
                <a:ea typeface="DejaVu Sans"/>
              </a:rPr>
              <a:t>); //parent never blocks</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printf("in parent, stat = %d\n",stat);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r>
              <a:rPr b="0" lang="en-IN" sz="4000" spc="-1" strike="noStrike">
                <a:solidFill>
                  <a:srgbClr val="000000"/>
                </a:solidFill>
                <a:latin typeface="Times New Roman"/>
                <a:ea typeface="DejaVu Sans"/>
              </a:rPr>
              <a:t>  </a:t>
            </a:r>
            <a:r>
              <a:rPr b="0" lang="en-IN" sz="4000" spc="-1" strike="noStrike">
                <a:solidFill>
                  <a:srgbClr val="000000"/>
                </a:solidFill>
                <a:latin typeface="Times New Roman"/>
                <a:ea typeface="DejaVu Sans"/>
              </a:rPr>
              <a:t>}</a:t>
            </a:r>
            <a:endParaRPr b="0" lang="en-IN" sz="4000" spc="-1" strike="noStrike">
              <a:latin typeface="Arial"/>
            </a:endParaRPr>
          </a:p>
          <a:p>
            <a:pPr marL="432000" indent="-308160">
              <a:lnSpc>
                <a:spcPct val="100000"/>
              </a:lnSpc>
            </a:pPr>
            <a:endParaRPr b="0" lang="en-IN" sz="4000" spc="-1" strike="noStrike">
              <a:latin typeface="Arial"/>
            </a:endParaRPr>
          </a:p>
        </p:txBody>
      </p:sp>
    </p:spTree>
  </p:cSld>
  <p:timing>
    <p:tnLst>
      <p:par>
        <p:cTn id="195" dur="indefinite" restart="never" nodeType="tmRoot">
          <p:childTnLst>
            <p:seq>
              <p:cTn id="196" dur="indefinite" nodeType="mainSeq"/>
              <p:prevCondLst>
                <p:cond delay="0" evt="onPrev">
                  <p:tgtEl>
                    <p:sldTgt/>
                  </p:tgtEl>
                </p:cond>
              </p:prevCondLst>
              <p:nextCondLst>
                <p:cond delay="0" evt="onNext">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CustomShape 1"/>
          <p:cNvSpPr/>
          <p:nvPr/>
        </p:nvSpPr>
        <p:spPr>
          <a:xfrm>
            <a:off x="-84600" y="56160"/>
            <a:ext cx="9353160" cy="749664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if(fork()==0)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printf("child pid : %d\n",getpid());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child, 10seconds delay\n");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sleep(10);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printf("child is exit..\n");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exit(0);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stat;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//waitpid(-1,&amp;stat,0);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waitpid(-1,&amp;stat,</a:t>
            </a:r>
            <a:r>
              <a:rPr b="0" lang="en-IN" sz="2400" spc="-1" strike="noStrike">
                <a:solidFill>
                  <a:srgbClr val="a3238e"/>
                </a:solidFill>
                <a:latin typeface="Times New Roman"/>
                <a:ea typeface="DejaVu Sans"/>
              </a:rPr>
              <a:t>WUNTRACED);  //parent is blocked untill child is </a:t>
            </a:r>
            <a:endParaRPr b="0" lang="en-IN" sz="2400" spc="-1" strike="noStrike">
              <a:latin typeface="Arial"/>
            </a:endParaRPr>
          </a:p>
          <a:p>
            <a:pPr>
              <a:lnSpc>
                <a:spcPct val="100000"/>
              </a:lnSpc>
            </a:pPr>
            <a:r>
              <a:rPr b="0" lang="en-IN" sz="2400" spc="-1" strike="noStrike">
                <a:solidFill>
                  <a:srgbClr val="a3238e"/>
                </a:solidFill>
                <a:latin typeface="Times New Roman"/>
                <a:ea typeface="DejaVu Sans"/>
              </a:rPr>
              <a:t> </a:t>
            </a: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parent, stat = %d\n",stat); //suspend or terminate.</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p:txBody>
      </p:sp>
    </p:spTree>
  </p:cSld>
  <p:timing>
    <p:tnLst>
      <p:par>
        <p:cTn id="197" dur="indefinite" restart="never" nodeType="tmRoot">
          <p:childTnLst>
            <p:seq>
              <p:cTn id="198" dur="indefinite" nodeType="mainSeq"/>
              <p:prevCondLst>
                <p:cond delay="0" evt="onPrev">
                  <p:tgtEl>
                    <p:sldTgt/>
                  </p:tgtEl>
                </p:cond>
              </p:prevCondLst>
              <p:nextCondLst>
                <p:cond delay="0" evt="onNext">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CustomShape 1"/>
          <p:cNvSpPr/>
          <p:nvPr/>
        </p:nvSpPr>
        <p:spPr>
          <a:xfrm>
            <a:off x="-72000" y="56160"/>
            <a:ext cx="10001160" cy="783360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 #include&lt;stdio.h&gt;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2 #include&lt;stdlib.h&gt;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3 #include&lt;unistd.h&gt;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4 #include&lt;sys/wait.h&gt;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5 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6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7    if(fork()==0)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8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9       printf("child pid : %d\n",getpid());</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10       printf("in child, 10seconds delay\n");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11       sleep(10);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12       printf("child is exit..\n");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13       exit(0);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14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15   else</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16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17     int stat;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18     //waitpid(-1,&amp;stat,0);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19     waitpid(-1,&amp;stat,</a:t>
            </a:r>
            <a:r>
              <a:rPr b="0" lang="en-IN" sz="2400" spc="-1" strike="noStrike">
                <a:solidFill>
                  <a:srgbClr val="a3238e"/>
                </a:solidFill>
                <a:latin typeface="Times New Roman"/>
                <a:ea typeface="DejaVu Sans"/>
              </a:rPr>
              <a:t>WCONTINUED);  //parent is blocked untill, child is </a:t>
            </a:r>
            <a:endParaRPr b="0" lang="en-IN" sz="2400" spc="-1" strike="noStrike">
              <a:latin typeface="Arial"/>
            </a:endParaRPr>
          </a:p>
          <a:p>
            <a:pPr>
              <a:lnSpc>
                <a:spcPct val="100000"/>
              </a:lnSpc>
            </a:pPr>
            <a:r>
              <a:rPr b="0" lang="en-IN" sz="2400" spc="-1" strike="noStrike">
                <a:solidFill>
                  <a:srgbClr val="a3238e"/>
                </a:solidFill>
                <a:latin typeface="Times New Roman"/>
                <a:ea typeface="DejaVu Sans"/>
              </a:rPr>
              <a:t> </a:t>
            </a:r>
            <a:r>
              <a:rPr b="0" lang="en-IN" sz="2400" spc="-1" strike="noStrike">
                <a:solidFill>
                  <a:srgbClr val="a3238e"/>
                </a:solidFill>
                <a:latin typeface="Times New Roman"/>
                <a:ea typeface="DejaVu Sans"/>
              </a:rPr>
              <a:t>20     printf("in parent, stat = %d\n",stat);  //resume from suspend or terminate.</a:t>
            </a:r>
            <a:endParaRPr b="0" lang="en-IN" sz="2400" spc="-1" strike="noStrike">
              <a:latin typeface="Arial"/>
            </a:endParaRPr>
          </a:p>
          <a:p>
            <a:pPr>
              <a:lnSpc>
                <a:spcPct val="100000"/>
              </a:lnSpc>
            </a:pPr>
            <a:r>
              <a:rPr b="0" lang="en-IN" sz="2400" spc="-1" strike="noStrike">
                <a:solidFill>
                  <a:srgbClr val="a3238e"/>
                </a:solidFill>
                <a:latin typeface="Times New Roman"/>
                <a:ea typeface="DejaVu Sans"/>
              </a:rPr>
              <a:t> </a:t>
            </a:r>
            <a:r>
              <a:rPr b="0" lang="en-IN" sz="2400" spc="-1" strike="noStrike">
                <a:solidFill>
                  <a:srgbClr val="a3238e"/>
                </a:solidFill>
                <a:latin typeface="Times New Roman"/>
                <a:ea typeface="DejaVu Sans"/>
              </a:rPr>
              <a:t>21   }</a:t>
            </a:r>
            <a:endParaRPr b="0" lang="en-IN" sz="2400" spc="-1" strike="noStrike">
              <a:latin typeface="Arial"/>
            </a:endParaRPr>
          </a:p>
          <a:p>
            <a:pPr>
              <a:lnSpc>
                <a:spcPct val="100000"/>
              </a:lnSpc>
            </a:pPr>
            <a:r>
              <a:rPr b="0" lang="en-IN" sz="2400" spc="-1" strike="noStrike">
                <a:solidFill>
                  <a:srgbClr val="a3238e"/>
                </a:solidFill>
                <a:latin typeface="Times New Roman"/>
                <a:ea typeface="DejaVu Sans"/>
              </a:rPr>
              <a:t> </a:t>
            </a:r>
            <a:r>
              <a:rPr b="0" lang="en-IN" sz="2400" spc="-1" strike="noStrike">
                <a:solidFill>
                  <a:srgbClr val="a3238e"/>
                </a:solidFill>
                <a:latin typeface="Times New Roman"/>
                <a:ea typeface="DejaVu Sans"/>
              </a:rPr>
              <a:t>22 }</a:t>
            </a:r>
            <a:endParaRPr b="0" lang="en-IN" sz="2400" spc="-1" strike="noStrike">
              <a:latin typeface="Arial"/>
            </a:endParaRPr>
          </a:p>
        </p:txBody>
      </p:sp>
    </p:spTree>
  </p:cSld>
  <p:timing>
    <p:tnLst>
      <p:par>
        <p:cTn id="199" dur="indefinite" restart="never" nodeType="tmRoot">
          <p:childTnLst>
            <p:seq>
              <p:cTn id="200" dur="indefinite" nodeType="mainSeq"/>
              <p:prevCondLst>
                <p:cond delay="0" evt="onPrev">
                  <p:tgtEl>
                    <p:sldTgt/>
                  </p:tgtEl>
                </p:cond>
              </p:prevCondLst>
              <p:nextCondLst>
                <p:cond delay="0" evt="onNext">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CustomShape 1"/>
          <p:cNvSpPr/>
          <p:nvPr/>
        </p:nvSpPr>
        <p:spPr>
          <a:xfrm>
            <a:off x="513720" y="144000"/>
            <a:ext cx="9055080" cy="6706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wait()       Vs     waitpid() </a:t>
            </a:r>
            <a:endParaRPr b="0" lang="en-IN" sz="4400" spc="-1" strike="noStrike">
              <a:latin typeface="Arial"/>
            </a:endParaRPr>
          </a:p>
        </p:txBody>
      </p:sp>
      <p:sp>
        <p:nvSpPr>
          <p:cNvPr id="623" name="CustomShape 2"/>
          <p:cNvSpPr/>
          <p:nvPr/>
        </p:nvSpPr>
        <p:spPr>
          <a:xfrm>
            <a:off x="190080" y="1224000"/>
            <a:ext cx="4410720" cy="58932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Wait() have 1 argument.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pid_t wait(int *status);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Using wait() system call</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Times New Roman"/>
                <a:ea typeface="DejaVu Sans"/>
              </a:rPr>
              <a:t>collecting specific child status is not possible.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By default, wait() will collect only terminated child status (suspended &amp; resume status is not possible).</a:t>
            </a:r>
            <a:endParaRPr b="0" lang="en-IN" sz="3200" spc="-1" strike="noStrike">
              <a:latin typeface="Arial"/>
            </a:endParaRPr>
          </a:p>
        </p:txBody>
      </p:sp>
      <p:sp>
        <p:nvSpPr>
          <p:cNvPr id="624" name="CustomShape 3"/>
          <p:cNvSpPr/>
          <p:nvPr/>
        </p:nvSpPr>
        <p:spPr>
          <a:xfrm>
            <a:off x="4824000" y="1287360"/>
            <a:ext cx="5104800" cy="585828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Waitpid() have 3 arguments.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pid_t waitpid(pid_t pid, int *stat, int options);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Using Waitpid() 1</a:t>
            </a:r>
            <a:r>
              <a:rPr b="0" lang="en-IN" sz="3200" spc="-1" strike="noStrike" baseline="101000">
                <a:solidFill>
                  <a:srgbClr val="000000"/>
                </a:solidFill>
                <a:latin typeface="Times New Roman"/>
                <a:ea typeface="DejaVu Sans"/>
              </a:rPr>
              <a:t>st</a:t>
            </a:r>
            <a:r>
              <a:rPr b="0" lang="en-IN" sz="3200" spc="-1" strike="noStrike">
                <a:solidFill>
                  <a:srgbClr val="000000"/>
                </a:solidFill>
                <a:latin typeface="Times New Roman"/>
                <a:ea typeface="DejaVu Sans"/>
              </a:rPr>
              <a:t> argument, it is possible to collect the specific child status.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Times New Roman"/>
                <a:ea typeface="DejaVu Sans"/>
              </a:rPr>
              <a:t>Using waitpid() not only terminated child status, but also suspended and resumed child status possible to collect using 3</a:t>
            </a:r>
            <a:r>
              <a:rPr b="0" lang="en-IN" sz="3200" spc="-1" strike="noStrike" baseline="101000">
                <a:solidFill>
                  <a:srgbClr val="000000"/>
                </a:solidFill>
                <a:latin typeface="Times New Roman"/>
                <a:ea typeface="DejaVu Sans"/>
              </a:rPr>
              <a:t>rd</a:t>
            </a:r>
            <a:r>
              <a:rPr b="0" lang="en-IN" sz="3200" spc="-1" strike="noStrike">
                <a:solidFill>
                  <a:srgbClr val="000000"/>
                </a:solidFill>
                <a:latin typeface="Times New Roman"/>
                <a:ea typeface="DejaVu Sans"/>
              </a:rPr>
              <a:t> argument.</a:t>
            </a:r>
            <a:endParaRPr b="0" lang="en-IN" sz="3200" spc="-1" strike="noStrike">
              <a:latin typeface="Arial"/>
            </a:endParaRPr>
          </a:p>
        </p:txBody>
      </p:sp>
    </p:spTree>
  </p:cSld>
  <p:timing>
    <p:tnLst>
      <p:par>
        <p:cTn id="201" dur="indefinite" restart="never" nodeType="tmRoot">
          <p:childTnLst>
            <p:seq>
              <p:cTn id="202" dur="indefinite" nodeType="mainSeq"/>
              <p:prevCondLst>
                <p:cond delay="0" evt="onPrev">
                  <p:tgtEl>
                    <p:sldTgt/>
                  </p:tgtEl>
                </p:cond>
              </p:prevCondLst>
              <p:nextCondLst>
                <p:cond delay="0" evt="onNext">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CustomShape 1"/>
          <p:cNvSpPr/>
          <p:nvPr/>
        </p:nvSpPr>
        <p:spPr>
          <a:xfrm>
            <a:off x="503640" y="300600"/>
            <a:ext cx="9055080" cy="124632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fork() </a:t>
            </a:r>
            <a:r>
              <a:rPr b="0" lang="en-IN" sz="4400" spc="-1" strike="noStrike">
                <a:solidFill>
                  <a:srgbClr val="ce181e"/>
                </a:solidFill>
                <a:latin typeface="Arial"/>
                <a:ea typeface="DejaVu Sans"/>
              </a:rPr>
              <a:t>     </a:t>
            </a:r>
            <a:r>
              <a:rPr b="0" lang="en-IN" sz="4400" spc="-1" strike="noStrike">
                <a:solidFill>
                  <a:srgbClr val="a3238e"/>
                </a:solidFill>
                <a:latin typeface="Arial"/>
                <a:ea typeface="DejaVu Sans"/>
              </a:rPr>
              <a:t>vs</a:t>
            </a:r>
            <a:r>
              <a:rPr b="0" lang="en-IN" sz="4400" spc="-1" strike="noStrike">
                <a:solidFill>
                  <a:srgbClr val="ce181e"/>
                </a:solidFill>
                <a:latin typeface="Arial"/>
                <a:ea typeface="DejaVu Sans"/>
              </a:rPr>
              <a:t>      </a:t>
            </a:r>
            <a:r>
              <a:rPr b="0" lang="en-IN" sz="4400" spc="-1" strike="noStrike">
                <a:solidFill>
                  <a:srgbClr val="a3238e"/>
                </a:solidFill>
                <a:latin typeface="Arial"/>
                <a:ea typeface="DejaVu Sans"/>
              </a:rPr>
              <a:t>vfork()</a:t>
            </a:r>
            <a:endParaRPr b="0" lang="en-IN" sz="4400" spc="-1" strike="noStrike">
              <a:latin typeface="Arial"/>
            </a:endParaRPr>
          </a:p>
        </p:txBody>
      </p:sp>
      <p:sp>
        <p:nvSpPr>
          <p:cNvPr id="626" name="CustomShape 2"/>
          <p:cNvSpPr/>
          <p:nvPr/>
        </p:nvSpPr>
        <p:spPr>
          <a:xfrm>
            <a:off x="144000" y="1418040"/>
            <a:ext cx="4770360" cy="569916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Child process and parent process has seperate address space.</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Arial"/>
                <a:ea typeface="DejaVu Sans"/>
              </a:rPr>
              <a:t>Parent and child process execute simultaneously.</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Arial"/>
                <a:ea typeface="DejaVu Sans"/>
              </a:rPr>
              <a:t>If the child process alters any page in the address space.it’s invisible to parent process. Address space is seperate. (cow mechanism )</a:t>
            </a:r>
            <a:endParaRPr b="0" lang="en-IN" sz="3200" spc="-1" strike="noStrike">
              <a:latin typeface="Arial"/>
            </a:endParaRPr>
          </a:p>
        </p:txBody>
      </p:sp>
      <p:sp>
        <p:nvSpPr>
          <p:cNvPr id="627" name="CustomShape 3"/>
          <p:cNvSpPr/>
          <p:nvPr/>
        </p:nvSpPr>
        <p:spPr>
          <a:xfrm>
            <a:off x="5151960" y="1492920"/>
            <a:ext cx="4849200" cy="56246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Child process &amp; parent process shares the same address space.</a:t>
            </a:r>
            <a:endParaRPr b="0" lang="en-IN" sz="3200" spc="-1" strike="noStrike">
              <a:latin typeface="Arial"/>
            </a:endParaRPr>
          </a:p>
          <a:p>
            <a:pPr marL="432000" indent="-308160">
              <a:lnSpc>
                <a:spcPct val="100000"/>
              </a:lnSpc>
              <a:spcBef>
                <a:spcPts val="567"/>
              </a:spcBef>
              <a:buClr>
                <a:srgbClr val="000000"/>
              </a:buClr>
              <a:buSzPct val="45000"/>
              <a:buFont typeface="Wingdings" charset="2"/>
              <a:buChar char=""/>
            </a:pPr>
            <a:r>
              <a:rPr b="0" lang="en-IN" sz="3200" spc="-1" strike="noStrike">
                <a:solidFill>
                  <a:srgbClr val="000000"/>
                </a:solidFill>
                <a:latin typeface="Arial"/>
                <a:ea typeface="DejaVu Sans"/>
              </a:rPr>
              <a:t>Parent process remains suspend till the child completing its execution.</a:t>
            </a:r>
            <a:endParaRPr b="0" lang="en-IN" sz="3200" spc="-1" strike="noStrike">
              <a:latin typeface="Arial"/>
            </a:endParaRPr>
          </a:p>
          <a:p>
            <a:pPr marL="432000" indent="-308160">
              <a:lnSpc>
                <a:spcPct val="100000"/>
              </a:lnSpc>
              <a:spcBef>
                <a:spcPts val="850"/>
              </a:spcBef>
              <a:buClr>
                <a:srgbClr val="000000"/>
              </a:buClr>
              <a:buSzPct val="45000"/>
              <a:buFont typeface="Wingdings" charset="2"/>
              <a:buChar char=""/>
            </a:pPr>
            <a:r>
              <a:rPr b="0" lang="en-IN" sz="3200" spc="-1" strike="noStrike">
                <a:solidFill>
                  <a:srgbClr val="000000"/>
                </a:solidFill>
                <a:latin typeface="Arial"/>
                <a:ea typeface="DejaVu Sans"/>
              </a:rPr>
              <a:t>If the child process alters any page in the address space, it’s visible to parent process. Because they share same address space. (no cow mechanism)</a:t>
            </a:r>
            <a:endParaRPr b="0" lang="en-IN" sz="3200" spc="-1" strike="noStrike">
              <a:latin typeface="Arial"/>
            </a:endParaRPr>
          </a:p>
        </p:txBody>
      </p:sp>
    </p:spTree>
  </p:cSld>
  <p:timing>
    <p:tnLst>
      <p:par>
        <p:cTn id="203" dur="indefinite" restart="never" nodeType="tmRoot">
          <p:childTnLst>
            <p:seq>
              <p:cTn id="204" dur="indefinite" nodeType="mainSeq"/>
              <p:prevCondLst>
                <p:cond delay="0" evt="onPrev">
                  <p:tgtEl>
                    <p:sldTgt/>
                  </p:tgtEl>
                </p:cond>
              </p:prevCondLst>
              <p:nextCondLst>
                <p:cond delay="0" evt="onNext">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CustomShape 1"/>
          <p:cNvSpPr/>
          <p:nvPr/>
        </p:nvSpPr>
        <p:spPr>
          <a:xfrm>
            <a:off x="-72000" y="-37080"/>
            <a:ext cx="8225640" cy="715968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#include&lt;sys/wait.h&gt;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if(vfork()==0)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child, 5seconds delay\n");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sleep(5);</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printf("child is exit..\n");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else</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stat;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printf("in parent, 3seconds delay\n");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sleep(3);</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printf("parent is exit..\n");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exit(0);</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p:txBody>
      </p:sp>
    </p:spTree>
  </p:cSld>
  <p:timing>
    <p:tnLst>
      <p:par>
        <p:cTn id="205" dur="indefinite" restart="never" nodeType="tmRoot">
          <p:childTnLst>
            <p:seq>
              <p:cTn id="206" dur="indefinite" nodeType="mainSeq"/>
              <p:prevCondLst>
                <p:cond delay="0" evt="onPrev">
                  <p:tgtEl>
                    <p:sldTgt/>
                  </p:tgtEl>
                </p:cond>
              </p:prevCondLst>
              <p:nextCondLst>
                <p:cond delay="0" evt="onNext">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CustomShape 1"/>
          <p:cNvSpPr/>
          <p:nvPr/>
        </p:nvSpPr>
        <p:spPr>
          <a:xfrm>
            <a:off x="503640" y="300600"/>
            <a:ext cx="9055080" cy="71532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exec() family Functions</a:t>
            </a:r>
            <a:endParaRPr b="0" lang="en-IN" sz="4400" spc="-1" strike="noStrike">
              <a:latin typeface="Arial"/>
            </a:endParaRPr>
          </a:p>
        </p:txBody>
      </p:sp>
      <p:pic>
        <p:nvPicPr>
          <p:cNvPr id="630" name="" descr=""/>
          <p:cNvPicPr/>
          <p:nvPr/>
        </p:nvPicPr>
        <p:blipFill>
          <a:blip r:embed="rId1"/>
          <a:stretch/>
        </p:blipFill>
        <p:spPr>
          <a:xfrm>
            <a:off x="151560" y="2579760"/>
            <a:ext cx="9600120" cy="3495960"/>
          </a:xfrm>
          <a:prstGeom prst="rect">
            <a:avLst/>
          </a:prstGeom>
          <a:ln>
            <a:noFill/>
          </a:ln>
        </p:spPr>
      </p:pic>
    </p:spTree>
  </p:cSld>
  <p:timing>
    <p:tnLst>
      <p:par>
        <p:cTn id="207" dur="indefinite" restart="never" nodeType="tmRoot">
          <p:childTnLst>
            <p:seq>
              <p:cTn id="208" dur="indefinite" nodeType="mainSeq"/>
              <p:prevCondLst>
                <p:cond delay="0" evt="onPrev">
                  <p:tgtEl>
                    <p:sldTgt/>
                  </p:tgtEl>
                </p:cond>
              </p:prevCondLst>
              <p:nextCondLst>
                <p:cond delay="0" evt="onNext">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CustomShape 1"/>
          <p:cNvSpPr/>
          <p:nvPr/>
        </p:nvSpPr>
        <p:spPr>
          <a:xfrm>
            <a:off x="503640" y="353160"/>
            <a:ext cx="9055080" cy="73116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exec() family Functions</a:t>
            </a:r>
            <a:endParaRPr b="0" lang="en-IN" sz="4400" spc="-1" strike="noStrike">
              <a:latin typeface="Arial"/>
            </a:endParaRPr>
          </a:p>
        </p:txBody>
      </p:sp>
      <p:sp>
        <p:nvSpPr>
          <p:cNvPr id="632" name="CustomShape 2"/>
          <p:cNvSpPr/>
          <p:nvPr/>
        </p:nvSpPr>
        <p:spPr>
          <a:xfrm>
            <a:off x="503640" y="1175760"/>
            <a:ext cx="9055080" cy="605484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1" lang="en-IN" sz="3200" spc="-1" strike="noStrike" u="sng">
                <a:solidFill>
                  <a:srgbClr val="a3238e"/>
                </a:solidFill>
                <a:uFillTx/>
                <a:latin typeface="Arial"/>
                <a:ea typeface="DejaVu Sans"/>
              </a:rPr>
              <a:t>NAME</a:t>
            </a:r>
            <a:r>
              <a:rPr b="1" lang="en-IN" sz="3200" spc="-1" strike="noStrike">
                <a:solidFill>
                  <a:srgbClr val="a3238e"/>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execl, execlp, execle, execv, execvp, execvpe - execute a file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1" lang="en-IN" sz="3200" spc="-1" strike="noStrike" u="sng">
                <a:solidFill>
                  <a:srgbClr val="a3238e"/>
                </a:solidFill>
                <a:uFillTx/>
                <a:latin typeface="Arial"/>
                <a:ea typeface="DejaVu Sans"/>
              </a:rPr>
              <a:t>SYNOPSIS</a:t>
            </a:r>
            <a:r>
              <a:rPr b="1" lang="en-IN" sz="3200" spc="-1" strike="noStrike">
                <a:solidFill>
                  <a:srgbClr val="a3238e"/>
                </a:solidFill>
                <a:latin typeface="Arial"/>
                <a:ea typeface="DejaVu Sans"/>
              </a:rPr>
              <a:t>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#include &lt;unistd.h&gt;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extern char **environ;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int execl(const char *path, const char *arg,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(char  *) NULL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int execlp(const char *file, const char *arg,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(char  *) NULL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int execle(const char *path, const char *arg,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 (char *) NULL, char * const envp[] */);</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int execv(const char *path, char *const argv[]);</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int execvp(const char *file, char *const argv[]);</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int execvpe(const char *file, char *const argv[],char *const envp[]);</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209" dur="indefinite" restart="never" nodeType="tmRoot">
          <p:childTnLst>
            <p:seq>
              <p:cTn id="210" dur="indefinite" nodeType="mainSeq"/>
              <p:prevCondLst>
                <p:cond delay="0" evt="onPrev">
                  <p:tgtEl>
                    <p:sldTgt/>
                  </p:tgtEl>
                </p:cond>
              </p:prevCondLst>
              <p:nextCondLst>
                <p:cond delay="0" evt="onNext">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CustomShape 1"/>
          <p:cNvSpPr/>
          <p:nvPr/>
        </p:nvSpPr>
        <p:spPr>
          <a:xfrm>
            <a:off x="503640" y="300600"/>
            <a:ext cx="9055080" cy="6724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exec() family Functions</a:t>
            </a:r>
            <a:endParaRPr b="0" lang="en-IN" sz="4400" spc="-1" strike="noStrike">
              <a:latin typeface="Arial"/>
            </a:endParaRPr>
          </a:p>
        </p:txBody>
      </p:sp>
      <p:sp>
        <p:nvSpPr>
          <p:cNvPr id="634" name="CustomShape 2"/>
          <p:cNvSpPr/>
          <p:nvPr/>
        </p:nvSpPr>
        <p:spPr>
          <a:xfrm>
            <a:off x="503640" y="1306800"/>
            <a:ext cx="9055080" cy="57744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1" lang="en-IN" sz="3200" spc="-1" strike="noStrike" u="sng">
                <a:solidFill>
                  <a:srgbClr val="a3238e"/>
                </a:solidFill>
                <a:uFillTx/>
                <a:latin typeface="Arial"/>
                <a:ea typeface="DejaVu Sans"/>
              </a:rPr>
              <a:t>DESCRIPTION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800000"/>
                </a:solidFill>
                <a:latin typeface="Arial"/>
                <a:ea typeface="DejaVu Sans"/>
              </a:rPr>
              <a:t>      </a:t>
            </a:r>
            <a:r>
              <a:rPr b="0" lang="en-IN" sz="3200" spc="-1" strike="noStrike">
                <a:solidFill>
                  <a:srgbClr val="000000"/>
                </a:solidFill>
                <a:latin typeface="Arial"/>
                <a:ea typeface="DejaVu Sans"/>
              </a:rPr>
              <a:t> </a:t>
            </a:r>
            <a:r>
              <a:rPr b="0" lang="en-IN" sz="3200" spc="-1" strike="noStrike">
                <a:solidFill>
                  <a:srgbClr val="000000"/>
                </a:solidFill>
                <a:latin typeface="Arial"/>
                <a:ea typeface="DejaVu Sans"/>
              </a:rPr>
              <a:t>The  exec() family of functions replaces the current process image with a new process image.</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The initial argument for these functions is the name of a file that is to be executed.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r>
              <a:rPr b="0" lang="en-IN" sz="3200" spc="-1" strike="noStrike">
                <a:solidFill>
                  <a:srgbClr val="000000"/>
                </a:solidFill>
                <a:latin typeface="Arial"/>
                <a:ea typeface="DejaVu Sans"/>
              </a:rPr>
              <a:t>ls” command path--&gt; /bin/ls.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ps -el  -all jobs under the terminal with longlist.</a:t>
            </a:r>
            <a:endParaRPr b="0" lang="en-IN" sz="3200" spc="-1" strike="noStrike">
              <a:latin typeface="Arial"/>
            </a:endParaRPr>
          </a:p>
        </p:txBody>
      </p:sp>
    </p:spTree>
  </p:cSld>
  <p:timing>
    <p:tnLst>
      <p:par>
        <p:cTn id="211" dur="indefinite" restart="never" nodeType="tmRoot">
          <p:childTnLst>
            <p:seq>
              <p:cTn id="212" dur="indefinite" nodeType="mainSeq"/>
              <p:prevCondLst>
                <p:cond delay="0" evt="onPrev">
                  <p:tgtEl>
                    <p:sldTgt/>
                  </p:tgtEl>
                </p:cond>
              </p:prevCondLst>
              <p:nextCondLst>
                <p:cond delay="0" evt="onNext">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CustomShape 1"/>
          <p:cNvSpPr/>
          <p:nvPr/>
        </p:nvSpPr>
        <p:spPr>
          <a:xfrm>
            <a:off x="503640" y="300600"/>
            <a:ext cx="9055080" cy="74736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Arial"/>
                <a:ea typeface="DejaVu Sans"/>
              </a:rPr>
              <a:t>exec() family Functions</a:t>
            </a:r>
            <a:endParaRPr b="0" lang="en-IN" sz="4400" spc="-1" strike="noStrike">
              <a:latin typeface="Arial"/>
            </a:endParaRPr>
          </a:p>
        </p:txBody>
      </p:sp>
      <p:sp>
        <p:nvSpPr>
          <p:cNvPr id="636" name="CustomShape 2"/>
          <p:cNvSpPr/>
          <p:nvPr/>
        </p:nvSpPr>
        <p:spPr>
          <a:xfrm>
            <a:off x="503640" y="1268640"/>
            <a:ext cx="4410720" cy="58860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#include&lt;stdio.h&gt;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int main()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printf(“hi..\n”);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system(“ls”);</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printf(“Hello..\n”);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1" lang="en-IN" sz="3200" spc="-1" strike="noStrike" u="sng">
                <a:solidFill>
                  <a:srgbClr val="800000"/>
                </a:solidFill>
                <a:uFillTx/>
                <a:latin typeface="Arial"/>
                <a:ea typeface="DejaVu Sans"/>
              </a:rPr>
              <a:t>o/p</a:t>
            </a:r>
            <a:r>
              <a:rPr b="0" lang="en-IN" sz="3200" spc="-1" strike="noStrike">
                <a:solidFill>
                  <a:srgbClr val="8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21409a"/>
                </a:solidFill>
                <a:latin typeface="Arial"/>
                <a:ea typeface="DejaVu Sans"/>
              </a:rPr>
              <a:t>hi</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21409a"/>
                </a:solidFill>
                <a:latin typeface="Arial"/>
                <a:ea typeface="DejaVu Sans"/>
              </a:rPr>
              <a:t>“</a:t>
            </a:r>
            <a:r>
              <a:rPr b="0" lang="en-IN" sz="3200" spc="-1" strike="noStrike">
                <a:solidFill>
                  <a:srgbClr val="21409a"/>
                </a:solidFill>
                <a:latin typeface="Arial"/>
                <a:ea typeface="DejaVu Sans"/>
              </a:rPr>
              <a:t>ls” command executed</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21409a"/>
                </a:solidFill>
                <a:latin typeface="Arial"/>
                <a:ea typeface="DejaVu Sans"/>
              </a:rPr>
              <a:t>Hello</a:t>
            </a:r>
            <a:endParaRPr b="0" lang="en-IN" sz="3200" spc="-1" strike="noStrike">
              <a:latin typeface="Arial"/>
            </a:endParaRPr>
          </a:p>
        </p:txBody>
      </p:sp>
      <p:sp>
        <p:nvSpPr>
          <p:cNvPr id="637" name="CustomShape 3"/>
          <p:cNvSpPr/>
          <p:nvPr/>
        </p:nvSpPr>
        <p:spPr>
          <a:xfrm>
            <a:off x="4855320" y="1306800"/>
            <a:ext cx="4707720" cy="5774400"/>
          </a:xfrm>
          <a:prstGeom prst="rect">
            <a:avLst/>
          </a:prstGeom>
          <a:noFill/>
          <a:ln>
            <a:noFill/>
          </a:ln>
        </p:spPr>
        <p:style>
          <a:lnRef idx="0"/>
          <a:fillRef idx="0"/>
          <a:effectRef idx="0"/>
          <a:fontRef idx="minor"/>
        </p:style>
        <p:txBody>
          <a:bodyPr lIns="0" rIns="0" tIns="0" bIns="0">
            <a:normAutofit/>
          </a:bodyPr>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#include&lt;stdio.h&gt;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int main()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printf(“hi..\n”);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2800" spc="-1" strike="noStrike">
                <a:solidFill>
                  <a:srgbClr val="000000"/>
                </a:solidFill>
                <a:latin typeface="Arial"/>
                <a:ea typeface="DejaVu Sans"/>
              </a:rPr>
              <a:t>execl(“/bin/ls”,”ls”,NULL</a:t>
            </a: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printf(“Hello..\n”);</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1" lang="en-IN" sz="3200" spc="-1" strike="noStrike" u="sng">
                <a:solidFill>
                  <a:srgbClr val="800000"/>
                </a:solidFill>
                <a:uFillTx/>
                <a:latin typeface="Arial"/>
                <a:ea typeface="DejaVu Sans"/>
              </a:rPr>
              <a:t>o/p</a:t>
            </a:r>
            <a:r>
              <a:rPr b="1" lang="en-IN" sz="3200" spc="-1" strike="noStrike">
                <a:solidFill>
                  <a:srgbClr val="000000"/>
                </a:solidFill>
                <a:latin typeface="Arial"/>
                <a:ea typeface="DejaVu Sans"/>
              </a:rPr>
              <a:t>:</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21409a"/>
                </a:solidFill>
                <a:latin typeface="Arial"/>
                <a:ea typeface="DejaVu Sans"/>
              </a:rPr>
              <a:t>hi</a:t>
            </a:r>
            <a:endParaRPr b="0" lang="en-IN" sz="3200" spc="-1" strike="noStrike">
              <a:latin typeface="Arial"/>
            </a:endParaRPr>
          </a:p>
          <a:p>
            <a:pPr marL="432000" indent="-308160">
              <a:lnSpc>
                <a:spcPct val="100000"/>
              </a:lnSpc>
              <a:spcBef>
                <a:spcPts val="1417"/>
              </a:spcBef>
              <a:buClr>
                <a:srgbClr val="000000"/>
              </a:buClr>
              <a:buSzPct val="45000"/>
              <a:buFont typeface="Wingdings" charset="2"/>
              <a:buChar char=""/>
            </a:pPr>
            <a:r>
              <a:rPr b="0" lang="en-IN" sz="3200" spc="-1" strike="noStrike">
                <a:solidFill>
                  <a:srgbClr val="21409a"/>
                </a:solidFill>
                <a:latin typeface="Arial"/>
                <a:ea typeface="DejaVu Sans"/>
              </a:rPr>
              <a:t>“</a:t>
            </a:r>
            <a:r>
              <a:rPr b="0" lang="en-IN" sz="3200" spc="-1" strike="noStrike">
                <a:solidFill>
                  <a:srgbClr val="21409a"/>
                </a:solidFill>
                <a:latin typeface="Arial"/>
                <a:ea typeface="DejaVu Sans"/>
              </a:rPr>
              <a:t>ls” command executed</a:t>
            </a:r>
            <a:endParaRPr b="0" lang="en-IN" sz="3200" spc="-1" strike="noStrike">
              <a:latin typeface="Arial"/>
            </a:endParaRPr>
          </a:p>
          <a:p>
            <a:pPr>
              <a:lnSpc>
                <a:spcPct val="100000"/>
              </a:lnSpc>
              <a:spcBef>
                <a:spcPts val="1417"/>
              </a:spcBef>
            </a:pPr>
            <a:endParaRPr b="0" lang="en-IN" sz="3200" spc="-1" strike="noStrike">
              <a:latin typeface="Arial"/>
            </a:endParaRPr>
          </a:p>
        </p:txBody>
      </p:sp>
    </p:spTree>
  </p:cSld>
  <p:timing>
    <p:tnLst>
      <p:par>
        <p:cTn id="213" dur="indefinite" restart="never" nodeType="tmRoot">
          <p:childTnLst>
            <p:seq>
              <p:cTn id="214" dur="indefinite" nodeType="mainSeq"/>
              <p:prevCondLst>
                <p:cond delay="0" evt="onPrev">
                  <p:tgtEl>
                    <p:sldTgt/>
                  </p:tgtEl>
                </p:cond>
              </p:prevCondLst>
              <p:nextCondLst>
                <p:cond delay="0" evt="onNext">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CustomShape 1"/>
          <p:cNvSpPr/>
          <p:nvPr/>
        </p:nvSpPr>
        <p:spPr>
          <a:xfrm>
            <a:off x="1800" y="39600"/>
            <a:ext cx="9496800" cy="683172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printf("hi..\n");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//system("ls");</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//execl("/bin/ls","ls",NULL);</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//system("ls -l");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//execl("/bin/ls","ls","-l",NULL);</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//system("cal");</a:t>
            </a:r>
            <a:r>
              <a:rPr b="0" lang="en-IN" sz="2400" spc="-1" strike="noStrike">
                <a:solidFill>
                  <a:srgbClr val="000000"/>
                </a:solidFill>
                <a:latin typeface="Times New Roman"/>
                <a:ea typeface="DejaVu Sans"/>
              </a:rPr>
              <a:t>	</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//execl("/usr/bin/cal","cal",NULL);</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//system("cal Aug 1947");</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//execl("/usr/bin/cal","cal","Aug","1947",NULL);</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printf("Hello..\n");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p:txBody>
      </p:sp>
      <p:sp>
        <p:nvSpPr>
          <p:cNvPr id="639" name="CustomShape 2"/>
          <p:cNvSpPr/>
          <p:nvPr/>
        </p:nvSpPr>
        <p:spPr>
          <a:xfrm>
            <a:off x="511200" y="39600"/>
            <a:ext cx="9055080" cy="6706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execl( )</a:t>
            </a:r>
            <a:endParaRPr b="0" lang="en-IN" sz="4400" spc="-1" strike="noStrike">
              <a:latin typeface="Arial"/>
            </a:endParaRPr>
          </a:p>
        </p:txBody>
      </p:sp>
      <p:sp>
        <p:nvSpPr>
          <p:cNvPr id="640" name="CustomShape 3"/>
          <p:cNvSpPr/>
          <p:nvPr/>
        </p:nvSpPr>
        <p:spPr>
          <a:xfrm>
            <a:off x="2879640" y="791280"/>
            <a:ext cx="7191000" cy="85536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cc"/>
                </a:solidFill>
                <a:latin typeface="Times New Roman"/>
                <a:ea typeface="DejaVu Sans"/>
              </a:rPr>
              <a:t>int</a:t>
            </a:r>
            <a:r>
              <a:rPr b="1" lang="en-IN" sz="2400" spc="-1" strike="noStrike">
                <a:solidFill>
                  <a:srgbClr val="1c052e"/>
                </a:solidFill>
                <a:latin typeface="Times New Roman"/>
                <a:ea typeface="DejaVu Sans"/>
              </a:rPr>
              <a:t> execl(</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path, </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arg, ... </a:t>
            </a:r>
            <a:endParaRPr b="0" lang="en-IN" sz="2400" spc="-1" strike="noStrike">
              <a:latin typeface="Arial"/>
            </a:endParaRPr>
          </a:p>
          <a:p>
            <a:pPr>
              <a:lnSpc>
                <a:spcPct val="100000"/>
              </a:lnSpc>
            </a:pPr>
            <a:r>
              <a:rPr b="1" lang="en-IN" sz="2400" spc="-1" strike="noStrike">
                <a:solidFill>
                  <a:srgbClr val="1c052e"/>
                </a:solidFill>
                <a:latin typeface="Times New Roman"/>
                <a:ea typeface="DejaVu Sans"/>
              </a:rPr>
              <a:t>                                                  </a:t>
            </a:r>
            <a:r>
              <a:rPr b="1" lang="en-IN" sz="2400" spc="-1" strike="noStrike">
                <a:solidFill>
                  <a:srgbClr val="1c052e"/>
                </a:solidFill>
                <a:latin typeface="Times New Roman"/>
                <a:ea typeface="DejaVu Sans"/>
              </a:rPr>
              <a:t>/* (char  *) NULL */ );</a:t>
            </a:r>
            <a:endParaRPr b="0" lang="en-IN" sz="2400" spc="-1" strike="noStrike">
              <a:latin typeface="Arial"/>
            </a:endParaRPr>
          </a:p>
        </p:txBody>
      </p:sp>
    </p:spTree>
  </p:cSld>
  <p:timing>
    <p:tnLst>
      <p:par>
        <p:cTn id="215" dur="indefinite" restart="never" nodeType="tmRoot">
          <p:childTnLst>
            <p:seq>
              <p:cTn id="216" dur="indefinite" nodeType="mainSeq"/>
              <p:prevCondLst>
                <p:cond delay="0" evt="onPrev">
                  <p:tgtEl>
                    <p:sldTgt/>
                  </p:tgtEl>
                </p:cond>
              </p:prevCondLst>
              <p:nextCondLst>
                <p:cond delay="0" evt="onNext">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CustomShape 1"/>
          <p:cNvSpPr/>
          <p:nvPr/>
        </p:nvSpPr>
        <p:spPr>
          <a:xfrm>
            <a:off x="285480" y="1942920"/>
            <a:ext cx="9496800" cy="481536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printf("hi..\n");</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//execlp("ls","ls",NULL);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//execlp("ls","ls","-l",NULL);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//execlp("cal","cal",NULL);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execlp("cal","cal","Aug","1947",NULL);</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printf("Hello..\n");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p:txBody>
      </p:sp>
      <p:sp>
        <p:nvSpPr>
          <p:cNvPr id="642" name="CustomShape 2"/>
          <p:cNvSpPr/>
          <p:nvPr/>
        </p:nvSpPr>
        <p:spPr>
          <a:xfrm>
            <a:off x="511200" y="39600"/>
            <a:ext cx="9055080" cy="6706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execlp( )</a:t>
            </a:r>
            <a:endParaRPr b="0" lang="en-IN" sz="4400" spc="-1" strike="noStrike">
              <a:latin typeface="Arial"/>
            </a:endParaRPr>
          </a:p>
        </p:txBody>
      </p:sp>
      <p:sp>
        <p:nvSpPr>
          <p:cNvPr id="643" name="CustomShape 3"/>
          <p:cNvSpPr/>
          <p:nvPr/>
        </p:nvSpPr>
        <p:spPr>
          <a:xfrm>
            <a:off x="359640" y="791280"/>
            <a:ext cx="7191000" cy="85536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cc"/>
                </a:solidFill>
                <a:latin typeface="Times New Roman"/>
                <a:ea typeface="DejaVu Sans"/>
              </a:rPr>
              <a:t>int</a:t>
            </a:r>
            <a:r>
              <a:rPr b="1" lang="en-IN" sz="2400" spc="-1" strike="noStrike">
                <a:solidFill>
                  <a:srgbClr val="1c052e"/>
                </a:solidFill>
                <a:latin typeface="Times New Roman"/>
                <a:ea typeface="DejaVu Sans"/>
              </a:rPr>
              <a:t> execlp(</a:t>
            </a:r>
            <a:r>
              <a:rPr b="1" lang="en-IN" sz="2400" spc="-1" strike="noStrike">
                <a:solidFill>
                  <a:srgbClr val="0000cc"/>
                </a:solidFill>
                <a:latin typeface="Times New Roman"/>
                <a:ea typeface="DejaVu Sans"/>
              </a:rPr>
              <a:t>const char *</a:t>
            </a:r>
            <a:r>
              <a:rPr b="1" lang="en-IN" sz="2400" spc="-1" strike="noStrike">
                <a:solidFill>
                  <a:srgbClr val="000000"/>
                </a:solidFill>
                <a:latin typeface="Times New Roman"/>
                <a:ea typeface="DejaVu Sans"/>
              </a:rPr>
              <a:t>file</a:t>
            </a:r>
            <a:r>
              <a:rPr b="1" lang="en-IN" sz="2400" spc="-1" strike="noStrike">
                <a:solidFill>
                  <a:srgbClr val="1c052e"/>
                </a:solidFill>
                <a:latin typeface="Times New Roman"/>
                <a:ea typeface="DejaVu Sans"/>
              </a:rPr>
              <a:t>, </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arg, ... </a:t>
            </a:r>
            <a:endParaRPr b="0" lang="en-IN" sz="2400" spc="-1" strike="noStrike">
              <a:latin typeface="Arial"/>
            </a:endParaRPr>
          </a:p>
          <a:p>
            <a:pPr>
              <a:lnSpc>
                <a:spcPct val="100000"/>
              </a:lnSpc>
            </a:pPr>
            <a:r>
              <a:rPr b="1" lang="en-IN" sz="2400" spc="-1" strike="noStrike">
                <a:solidFill>
                  <a:srgbClr val="1c052e"/>
                </a:solidFill>
                <a:latin typeface="Times New Roman"/>
                <a:ea typeface="DejaVu Sans"/>
              </a:rPr>
              <a:t>                                                  </a:t>
            </a:r>
            <a:r>
              <a:rPr b="1" lang="en-IN" sz="2400" spc="-1" strike="noStrike">
                <a:solidFill>
                  <a:srgbClr val="1c052e"/>
                </a:solidFill>
                <a:latin typeface="Times New Roman"/>
                <a:ea typeface="DejaVu Sans"/>
              </a:rPr>
              <a:t>/* (char  *) NULL */ );</a:t>
            </a:r>
            <a:endParaRPr b="0" lang="en-IN" sz="2400" spc="-1" strike="noStrike">
              <a:latin typeface="Arial"/>
            </a:endParaRPr>
          </a:p>
        </p:txBody>
      </p:sp>
    </p:spTree>
  </p:cSld>
  <p:timing>
    <p:tnLst>
      <p:par>
        <p:cTn id="217" dur="indefinite" restart="never" nodeType="tmRoot">
          <p:childTnLst>
            <p:seq>
              <p:cTn id="218" dur="indefinite" nodeType="mainSeq"/>
              <p:prevCondLst>
                <p:cond delay="0" evt="onPrev">
                  <p:tgtEl>
                    <p:sldTgt/>
                  </p:tgtEl>
                </p:cond>
              </p:prevCondLst>
              <p:nextCondLst>
                <p:cond delay="0" evt="onNext">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CustomShape 1"/>
          <p:cNvSpPr/>
          <p:nvPr/>
        </p:nvSpPr>
        <p:spPr>
          <a:xfrm>
            <a:off x="0" y="-12600"/>
            <a:ext cx="9496800" cy="749520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#include&lt;stdlib.h&gt;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printf("hi..\n");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*ap[] = {"ls",NULL};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//execv("/bin/ls",ap);</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*ap[] = {"ls","-l",NULL};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//execv("/bin/ls",ap);</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*ap[] = {"cal",NULL};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//execv("/usr/bin/cal",ap);</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*ap[] = {"cal","Aug","1947",NULL};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execv("/usr/bin/cal",ap);</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printf("Hello..\n");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endParaRPr b="0" lang="en-IN" sz="2400" spc="-1" strike="noStrike">
              <a:latin typeface="Arial"/>
            </a:endParaRPr>
          </a:p>
        </p:txBody>
      </p:sp>
      <p:sp>
        <p:nvSpPr>
          <p:cNvPr id="645" name="CustomShape 2"/>
          <p:cNvSpPr/>
          <p:nvPr/>
        </p:nvSpPr>
        <p:spPr>
          <a:xfrm>
            <a:off x="511200" y="0"/>
            <a:ext cx="9055080" cy="6706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execv( )</a:t>
            </a:r>
            <a:endParaRPr b="0" lang="en-IN" sz="4400" spc="-1" strike="noStrike">
              <a:latin typeface="Arial"/>
            </a:endParaRPr>
          </a:p>
        </p:txBody>
      </p:sp>
      <p:sp>
        <p:nvSpPr>
          <p:cNvPr id="646" name="CustomShape 3"/>
          <p:cNvSpPr/>
          <p:nvPr/>
        </p:nvSpPr>
        <p:spPr>
          <a:xfrm>
            <a:off x="3311640" y="791280"/>
            <a:ext cx="7191000" cy="85536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cc"/>
                </a:solidFill>
                <a:latin typeface="Times New Roman"/>
                <a:ea typeface="DejaVu Sans"/>
              </a:rPr>
              <a:t> </a:t>
            </a:r>
            <a:r>
              <a:rPr b="1" lang="en-IN" sz="2400" spc="-1" strike="noStrike">
                <a:solidFill>
                  <a:srgbClr val="0000cc"/>
                </a:solidFill>
                <a:latin typeface="Times New Roman"/>
                <a:ea typeface="DejaVu Sans"/>
              </a:rPr>
              <a:t>int</a:t>
            </a:r>
            <a:r>
              <a:rPr b="1" lang="en-IN" sz="2400" spc="-1" strike="noStrike">
                <a:solidFill>
                  <a:srgbClr val="1c052e"/>
                </a:solidFill>
                <a:latin typeface="Times New Roman"/>
                <a:ea typeface="DejaVu Sans"/>
              </a:rPr>
              <a:t> execv(</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path, </a:t>
            </a:r>
            <a:r>
              <a:rPr b="1" lang="en-IN" sz="2400" spc="-1" strike="noStrike">
                <a:solidFill>
                  <a:srgbClr val="0000cc"/>
                </a:solidFill>
                <a:latin typeface="Times New Roman"/>
                <a:ea typeface="DejaVu Sans"/>
              </a:rPr>
              <a:t>char *const</a:t>
            </a:r>
            <a:r>
              <a:rPr b="1" lang="en-IN" sz="2400" spc="-1" strike="noStrike">
                <a:solidFill>
                  <a:srgbClr val="1c052e"/>
                </a:solidFill>
                <a:latin typeface="Times New Roman"/>
                <a:ea typeface="DejaVu Sans"/>
              </a:rPr>
              <a:t> argv[]);</a:t>
            </a:r>
            <a:endParaRPr b="0" lang="en-IN" sz="2400" spc="-1" strike="noStrike">
              <a:latin typeface="Arial"/>
            </a:endParaRPr>
          </a:p>
        </p:txBody>
      </p:sp>
    </p:spTree>
  </p:cSld>
  <p:timing>
    <p:tnLst>
      <p:par>
        <p:cTn id="219" dur="indefinite" restart="never" nodeType="tmRoot">
          <p:childTnLst>
            <p:seq>
              <p:cTn id="220" dur="indefinite" nodeType="mainSeq"/>
              <p:prevCondLst>
                <p:cond delay="0" evt="onPrev">
                  <p:tgtEl>
                    <p:sldTgt/>
                  </p:tgtEl>
                </p:cond>
              </p:prevCondLst>
              <p:nextCondLst>
                <p:cond delay="0" evt="onNext">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CustomShape 1"/>
          <p:cNvSpPr/>
          <p:nvPr/>
        </p:nvSpPr>
        <p:spPr>
          <a:xfrm>
            <a:off x="213480" y="1655280"/>
            <a:ext cx="9496800" cy="5810400"/>
          </a:xfrm>
          <a:prstGeom prst="rect">
            <a:avLst/>
          </a:prstGeom>
          <a:noFill/>
          <a:ln>
            <a:noFill/>
          </a:ln>
        </p:spPr>
        <p:style>
          <a:lnRef idx="0"/>
          <a:fillRef idx="0"/>
          <a:effectRef idx="0"/>
          <a:fontRef idx="minor"/>
        </p:style>
        <p:txBody>
          <a:bodyPr lIns="90000" rIns="90000" tIns="45000" bIns="45000"/>
          <a:p>
            <a:pPr>
              <a:lnSpc>
                <a:spcPct val="100000"/>
              </a:lnSpc>
            </a:pPr>
            <a:r>
              <a:rPr b="0" lang="en-IN" sz="2400" spc="-1" strike="noStrike">
                <a:solidFill>
                  <a:srgbClr val="000000"/>
                </a:solidFill>
                <a:latin typeface="Times New Roman"/>
                <a:ea typeface="DejaVu Sans"/>
              </a:rPr>
              <a:t>#include&lt;stdio.h&gt;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#include&lt;unistd.h&gt;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int main(int argc,char *argv[],char *env[])</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int i;</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printf("Before Replacement\n");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for(i=0;env[i];i++)</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printf("%s\n",env[i]);</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sleep(1);</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char *en[] = {"User = xxxx","Home = /home/yyyy",NULL};</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printf("After Replacement\n");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        </a:t>
            </a:r>
            <a:r>
              <a:rPr b="0" lang="en-IN" sz="2400" spc="-1" strike="noStrike">
                <a:solidFill>
                  <a:srgbClr val="000000"/>
                </a:solidFill>
                <a:latin typeface="Times New Roman"/>
                <a:ea typeface="DejaVu Sans"/>
              </a:rPr>
              <a:t>execle("./p1","p1",NULL,en);</a:t>
            </a:r>
            <a:endParaRPr b="0" lang="en-IN" sz="2400" spc="-1" strike="noStrike">
              <a:latin typeface="Arial"/>
            </a:endParaRPr>
          </a:p>
          <a:p>
            <a:pPr>
              <a:lnSpc>
                <a:spcPct val="100000"/>
              </a:lnSpc>
            </a:pPr>
            <a:r>
              <a:rPr b="0" lang="en-IN" sz="2400" spc="-1" strike="noStrike">
                <a:solidFill>
                  <a:srgbClr val="000000"/>
                </a:solidFill>
                <a:latin typeface="Times New Roman"/>
                <a:ea typeface="DejaVu Sans"/>
              </a:rPr>
              <a:t>}</a:t>
            </a:r>
            <a:endParaRPr b="0" lang="en-IN" sz="2400" spc="-1" strike="noStrike">
              <a:latin typeface="Arial"/>
            </a:endParaRPr>
          </a:p>
          <a:p>
            <a:pPr>
              <a:lnSpc>
                <a:spcPct val="100000"/>
              </a:lnSpc>
            </a:pPr>
            <a:endParaRPr b="0" lang="en-IN" sz="2400" spc="-1" strike="noStrike">
              <a:latin typeface="Arial"/>
            </a:endParaRPr>
          </a:p>
        </p:txBody>
      </p:sp>
      <p:sp>
        <p:nvSpPr>
          <p:cNvPr id="648" name="CustomShape 2"/>
          <p:cNvSpPr/>
          <p:nvPr/>
        </p:nvSpPr>
        <p:spPr>
          <a:xfrm>
            <a:off x="511200" y="0"/>
            <a:ext cx="9055080" cy="670680"/>
          </a:xfrm>
          <a:prstGeom prst="rect">
            <a:avLst/>
          </a:prstGeom>
          <a:noFill/>
          <a:ln>
            <a:noFill/>
          </a:ln>
        </p:spPr>
        <p:style>
          <a:lnRef idx="0"/>
          <a:fillRef idx="0"/>
          <a:effectRef idx="0"/>
          <a:fontRef idx="minor"/>
        </p:style>
        <p:txBody>
          <a:bodyPr lIns="0" rIns="0" tIns="0" bIns="0" anchor="ctr"/>
          <a:p>
            <a:pPr algn="ctr">
              <a:lnSpc>
                <a:spcPct val="100000"/>
              </a:lnSpc>
            </a:pPr>
            <a:r>
              <a:rPr b="0" lang="en-IN" sz="4400" spc="-1" strike="noStrike">
                <a:solidFill>
                  <a:srgbClr val="a3238e"/>
                </a:solidFill>
                <a:latin typeface="Times New Roman"/>
                <a:ea typeface="DejaVu Sans"/>
              </a:rPr>
              <a:t>execle( )</a:t>
            </a:r>
            <a:endParaRPr b="0" lang="en-IN" sz="4400" spc="-1" strike="noStrike">
              <a:latin typeface="Arial"/>
            </a:endParaRPr>
          </a:p>
        </p:txBody>
      </p:sp>
      <p:sp>
        <p:nvSpPr>
          <p:cNvPr id="649" name="CustomShape 3"/>
          <p:cNvSpPr/>
          <p:nvPr/>
        </p:nvSpPr>
        <p:spPr>
          <a:xfrm>
            <a:off x="287640" y="863280"/>
            <a:ext cx="8414640" cy="756000"/>
          </a:xfrm>
          <a:prstGeom prst="rect">
            <a:avLst/>
          </a:prstGeom>
          <a:noFill/>
          <a:ln>
            <a:noFill/>
          </a:ln>
        </p:spPr>
        <p:style>
          <a:lnRef idx="0"/>
          <a:fillRef idx="0"/>
          <a:effectRef idx="0"/>
          <a:fontRef idx="minor"/>
        </p:style>
        <p:txBody>
          <a:bodyPr lIns="90000" rIns="90000" tIns="45000" bIns="45000"/>
          <a:p>
            <a:pPr>
              <a:lnSpc>
                <a:spcPct val="100000"/>
              </a:lnSpc>
            </a:pPr>
            <a:r>
              <a:rPr b="1" lang="en-IN" sz="2400" spc="-1" strike="noStrike">
                <a:solidFill>
                  <a:srgbClr val="0000cc"/>
                </a:solidFill>
                <a:latin typeface="Times New Roman"/>
                <a:ea typeface="DejaVu Sans"/>
              </a:rPr>
              <a:t>int</a:t>
            </a:r>
            <a:r>
              <a:rPr b="1" lang="en-IN" sz="2400" spc="-1" strike="noStrike">
                <a:solidFill>
                  <a:srgbClr val="1c052e"/>
                </a:solidFill>
                <a:latin typeface="Times New Roman"/>
                <a:ea typeface="DejaVu Sans"/>
              </a:rPr>
              <a:t> execle(</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path, </a:t>
            </a:r>
            <a:r>
              <a:rPr b="1" lang="en-IN" sz="2400" spc="-1" strike="noStrike">
                <a:solidFill>
                  <a:srgbClr val="0000cc"/>
                </a:solidFill>
                <a:latin typeface="Times New Roman"/>
                <a:ea typeface="DejaVu Sans"/>
              </a:rPr>
              <a:t>const char *</a:t>
            </a:r>
            <a:r>
              <a:rPr b="1" lang="en-IN" sz="2400" spc="-1" strike="noStrike">
                <a:solidFill>
                  <a:srgbClr val="1c052e"/>
                </a:solidFill>
                <a:latin typeface="Times New Roman"/>
                <a:ea typeface="DejaVu Sans"/>
              </a:rPr>
              <a:t>arg, ...</a:t>
            </a:r>
            <a:endParaRPr b="0" lang="en-IN" sz="2400" spc="-1" strike="noStrike">
              <a:latin typeface="Arial"/>
            </a:endParaRPr>
          </a:p>
          <a:p>
            <a:pPr>
              <a:lnSpc>
                <a:spcPct val="100000"/>
              </a:lnSpc>
            </a:pPr>
            <a:r>
              <a:rPr b="1" lang="en-IN" sz="2400" spc="-1" strike="noStrike">
                <a:solidFill>
                  <a:srgbClr val="1c052e"/>
                </a:solidFill>
                <a:latin typeface="Times New Roman"/>
                <a:ea typeface="DejaVu Sans"/>
              </a:rPr>
              <a:t>                       </a:t>
            </a:r>
            <a:r>
              <a:rPr b="1" lang="en-IN" sz="2400" spc="-1" strike="noStrike">
                <a:solidFill>
                  <a:srgbClr val="1c052e"/>
                </a:solidFill>
                <a:latin typeface="Times New Roman"/>
                <a:ea typeface="DejaVu Sans"/>
              </a:rPr>
              <a:t>/*, (char *) NULL, char * const envp[] */);</a:t>
            </a:r>
            <a:endParaRPr b="0" lang="en-IN" sz="2400" spc="-1" strike="noStrike">
              <a:latin typeface="Arial"/>
            </a:endParaRPr>
          </a:p>
        </p:txBody>
      </p:sp>
      <p:sp>
        <p:nvSpPr>
          <p:cNvPr id="650" name="CustomShape 4"/>
          <p:cNvSpPr/>
          <p:nvPr/>
        </p:nvSpPr>
        <p:spPr>
          <a:xfrm>
            <a:off x="5831280" y="2375280"/>
            <a:ext cx="4095000" cy="2943360"/>
          </a:xfrm>
          <a:prstGeom prst="rect">
            <a:avLst/>
          </a:prstGeom>
          <a:solidFill>
            <a:srgbClr val="ffffff"/>
          </a:solidFill>
          <a:ln>
            <a:solidFill>
              <a:srgbClr val="3465a4"/>
            </a:solidFill>
          </a:ln>
        </p:spPr>
        <p:style>
          <a:lnRef idx="0"/>
          <a:fillRef idx="0"/>
          <a:effectRef idx="0"/>
          <a:fontRef idx="minor"/>
        </p:style>
        <p:txBody>
          <a:bodyPr wrap="none" lIns="90000" rIns="90000" tIns="45000" bIns="45000" anchor="ctr"/>
          <a:p>
            <a:pPr>
              <a:lnSpc>
                <a:spcPct val="100000"/>
              </a:lnSpc>
            </a:pPr>
            <a:r>
              <a:rPr b="0" lang="en-IN" sz="1800" spc="-1" strike="noStrike">
                <a:solidFill>
                  <a:srgbClr val="000000"/>
                </a:solidFill>
                <a:latin typeface="Times New Roman"/>
                <a:ea typeface="DejaVu Sans"/>
              </a:rPr>
              <a:t>#include&lt;stdio.h&gt;</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#include&lt;unistd.h&gt;</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int main(int argc,char *argv[],char *env[])</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int i;</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for(i=0;env[i];i++)</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printf("%s\n",env[i]);</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sleep(1);</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        </a:t>
            </a:r>
            <a:r>
              <a:rPr b="0" lang="en-IN" sz="1800" spc="-1" strike="noStrike">
                <a:solidFill>
                  <a:srgbClr val="000000"/>
                </a:solidFill>
                <a:latin typeface="Times New Roman"/>
                <a:ea typeface="DejaVu Sans"/>
              </a:rPr>
              <a:t>}</a:t>
            </a:r>
            <a:endParaRPr b="0" lang="en-IN" sz="1800" spc="-1" strike="noStrike">
              <a:latin typeface="Arial"/>
            </a:endParaRPr>
          </a:p>
          <a:p>
            <a:pPr>
              <a:lnSpc>
                <a:spcPct val="100000"/>
              </a:lnSpc>
            </a:pPr>
            <a:r>
              <a:rPr b="0" lang="en-IN" sz="1800" spc="-1" strike="noStrike">
                <a:solidFill>
                  <a:srgbClr val="000000"/>
                </a:solidFill>
                <a:latin typeface="Times New Roman"/>
                <a:ea typeface="DejaVu Sans"/>
              </a:rPr>
              <a:t>}</a:t>
            </a:r>
            <a:endParaRPr b="0" lang="en-IN" sz="1800" spc="-1" strike="noStrike">
              <a:latin typeface="Arial"/>
            </a:endParaRPr>
          </a:p>
        </p:txBody>
      </p:sp>
      <p:sp>
        <p:nvSpPr>
          <p:cNvPr id="651" name="CustomShape 5"/>
          <p:cNvSpPr/>
          <p:nvPr/>
        </p:nvSpPr>
        <p:spPr>
          <a:xfrm>
            <a:off x="6624000" y="2028600"/>
            <a:ext cx="1862640" cy="337680"/>
          </a:xfrm>
          <a:prstGeom prst="rect">
            <a:avLst/>
          </a:prstGeom>
          <a:noFill/>
          <a:ln>
            <a:noFill/>
          </a:ln>
        </p:spPr>
        <p:style>
          <a:lnRef idx="0"/>
          <a:fillRef idx="0"/>
          <a:effectRef idx="0"/>
          <a:fontRef idx="minor"/>
        </p:style>
        <p:txBody>
          <a:bodyPr lIns="90000" rIns="90000" tIns="45000" bIns="45000"/>
          <a:p>
            <a:pPr>
              <a:lnSpc>
                <a:spcPct val="100000"/>
              </a:lnSpc>
            </a:pPr>
            <a:r>
              <a:rPr b="1" lang="en-IN" sz="1800" spc="-1" strike="noStrike">
                <a:solidFill>
                  <a:srgbClr val="a3238e"/>
                </a:solidFill>
                <a:latin typeface="Arial"/>
                <a:ea typeface="DejaVu Sans"/>
              </a:rPr>
              <a:t>P1 Process</a:t>
            </a:r>
            <a:endParaRPr b="0" lang="en-IN" sz="1800" spc="-1" strike="noStrike">
              <a:latin typeface="Arial"/>
            </a:endParaRPr>
          </a:p>
        </p:txBody>
      </p:sp>
    </p:spTree>
  </p:cSld>
  <p:timing>
    <p:tnLst>
      <p:par>
        <p:cTn id="221" dur="indefinite" restart="never" nodeType="tmRoot">
          <p:childTnLst>
            <p:seq>
              <p:cTn id="22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4315</TotalTime>
  <Application>LibreOffice/6.0.7.3$Linux_X86_64 LibreOffice_project/00m0$Build-3</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2020-03-20T19:20:42Z</dcterms:created>
  <dc:creator/>
  <dc:description/>
  <dc:language>en-IN</dc:language>
  <cp:lastModifiedBy/>
  <dcterms:modified xsi:type="dcterms:W3CDTF">2025-12-01T11:29:47Z</dcterms:modified>
  <cp:revision>670</cp:revision>
  <dc:subject/>
  <dc:title/>
</cp:coreProperties>
</file>